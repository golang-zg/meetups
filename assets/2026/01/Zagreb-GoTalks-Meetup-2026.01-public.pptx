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Proxima Nova"/>
      <p:regular r:id="rId40"/>
      <p:bold r:id="rId41"/>
      <p:italic r:id="rId42"/>
      <p:boldItalic r:id="rId43"/>
    </p:embeddedFont>
    <p:embeddedFont>
      <p:font typeface="Inconsolata"/>
      <p:regular r:id="rId44"/>
      <p:bold r:id="rId45"/>
    </p:embeddedFont>
    <p:embeddedFont>
      <p:font typeface="Inter"/>
      <p:regular r:id="rId46"/>
      <p:bold r:id="rId47"/>
      <p:italic r:id="rId48"/>
      <p:boldItalic r:id="rId49"/>
    </p:embeddedFont>
    <p:embeddedFont>
      <p:font typeface="Anybody SemiBold"/>
      <p:regular r:id="rId50"/>
      <p:bold r:id="rId51"/>
      <p:italic r:id="rId52"/>
      <p:boldItalic r:id="rId53"/>
    </p:embeddedFont>
    <p:embeddedFont>
      <p:font typeface="Anybody Medium"/>
      <p:regular r:id="rId54"/>
      <p:bold r:id="rId55"/>
      <p:italic r:id="rId56"/>
      <p:boldItalic r:id="rId57"/>
    </p:embeddedFont>
    <p:embeddedFont>
      <p:font typeface="Comfortaa Medium"/>
      <p:regular r:id="rId58"/>
      <p:bold r:id="rId59"/>
    </p:embeddedFont>
    <p:embeddedFont>
      <p:font typeface="Anybody"/>
      <p:regular r:id="rId60"/>
      <p:bold r:id="rId61"/>
      <p:italic r:id="rId62"/>
      <p:boldItalic r:id="rId63"/>
    </p:embeddedFont>
    <p:embeddedFont>
      <p:font typeface="Rubik Medium"/>
      <p:regular r:id="rId64"/>
      <p:bold r:id="rId65"/>
      <p:italic r:id="rId66"/>
      <p:boldItalic r:id="rId67"/>
    </p:embeddedFont>
    <p:embeddedFont>
      <p:font typeface="Open Sans Medium"/>
      <p:regular r:id="rId68"/>
      <p:bold r:id="rId69"/>
      <p:italic r:id="rId70"/>
      <p:boldItalic r:id="rId71"/>
    </p:embeddedFont>
    <p:embeddedFont>
      <p:font typeface="Rubik"/>
      <p:regular r:id="rId72"/>
      <p:bold r:id="rId73"/>
      <p:italic r:id="rId74"/>
      <p:boldItalic r:id="rId75"/>
    </p:embeddedFont>
    <p:embeddedFont>
      <p:font typeface="Comfortaa"/>
      <p:regular r:id="rId76"/>
      <p:bold r:id="rId77"/>
    </p:embeddedFont>
    <p:embeddedFont>
      <p:font typeface="Open Sans"/>
      <p:regular r:id="rId78"/>
      <p:bold r:id="rId79"/>
      <p:italic r:id="rId80"/>
      <p:boldItalic r:id="rId8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44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E40E71-FC8C-44BB-AB10-640B23D4AB3A}">
  <a:tblStyle styleId="{4DE40E71-FC8C-44BB-AB10-640B23D4AB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4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roximaNova-regular.fntdata"/><Relationship Id="rId42" Type="http://schemas.openxmlformats.org/officeDocument/2006/relationships/font" Target="fonts/ProximaNova-italic.fntdata"/><Relationship Id="rId41" Type="http://schemas.openxmlformats.org/officeDocument/2006/relationships/font" Target="fonts/ProximaNova-bold.fntdata"/><Relationship Id="rId44" Type="http://schemas.openxmlformats.org/officeDocument/2006/relationships/font" Target="fonts/Inconsolata-regular.fntdata"/><Relationship Id="rId43" Type="http://schemas.openxmlformats.org/officeDocument/2006/relationships/font" Target="fonts/ProximaNova-boldItalic.fntdata"/><Relationship Id="rId46" Type="http://schemas.openxmlformats.org/officeDocument/2006/relationships/font" Target="fonts/Inter-regular.fntdata"/><Relationship Id="rId45" Type="http://schemas.openxmlformats.org/officeDocument/2006/relationships/font" Target="fonts/Inconsolata-bold.fntdata"/><Relationship Id="rId80" Type="http://schemas.openxmlformats.org/officeDocument/2006/relationships/font" Target="fonts/OpenSans-italic.fntdata"/><Relationship Id="rId81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Inter-italic.fntdata"/><Relationship Id="rId47" Type="http://schemas.openxmlformats.org/officeDocument/2006/relationships/font" Target="fonts/Inter-bold.fntdata"/><Relationship Id="rId49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ubik-bold.fntdata"/><Relationship Id="rId72" Type="http://schemas.openxmlformats.org/officeDocument/2006/relationships/font" Target="fonts/Rubik-regular.fntdata"/><Relationship Id="rId31" Type="http://schemas.openxmlformats.org/officeDocument/2006/relationships/slide" Target="slides/slide25.xml"/><Relationship Id="rId75" Type="http://schemas.openxmlformats.org/officeDocument/2006/relationships/font" Target="fonts/Rubik-boldItalic.fntdata"/><Relationship Id="rId30" Type="http://schemas.openxmlformats.org/officeDocument/2006/relationships/slide" Target="slides/slide24.xml"/><Relationship Id="rId74" Type="http://schemas.openxmlformats.org/officeDocument/2006/relationships/font" Target="fonts/Rubik-italic.fntdata"/><Relationship Id="rId33" Type="http://schemas.openxmlformats.org/officeDocument/2006/relationships/slide" Target="slides/slide27.xml"/><Relationship Id="rId77" Type="http://schemas.openxmlformats.org/officeDocument/2006/relationships/font" Target="fonts/Comfortaa-bold.fntdata"/><Relationship Id="rId32" Type="http://schemas.openxmlformats.org/officeDocument/2006/relationships/slide" Target="slides/slide26.xml"/><Relationship Id="rId76" Type="http://schemas.openxmlformats.org/officeDocument/2006/relationships/font" Target="fonts/Comfortaa-regular.fntdata"/><Relationship Id="rId35" Type="http://schemas.openxmlformats.org/officeDocument/2006/relationships/slide" Target="slides/slide29.xml"/><Relationship Id="rId79" Type="http://schemas.openxmlformats.org/officeDocument/2006/relationships/font" Target="fonts/OpenSans-bold.fntdata"/><Relationship Id="rId34" Type="http://schemas.openxmlformats.org/officeDocument/2006/relationships/slide" Target="slides/slide28.xml"/><Relationship Id="rId78" Type="http://schemas.openxmlformats.org/officeDocument/2006/relationships/font" Target="fonts/OpenSans-regular.fntdata"/><Relationship Id="rId71" Type="http://schemas.openxmlformats.org/officeDocument/2006/relationships/font" Target="fonts/OpenSansMedium-boldItalic.fntdata"/><Relationship Id="rId70" Type="http://schemas.openxmlformats.org/officeDocument/2006/relationships/font" Target="fonts/OpenSansMedium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Anybody-italic.fntdata"/><Relationship Id="rId61" Type="http://schemas.openxmlformats.org/officeDocument/2006/relationships/font" Target="fonts/Anybody-bold.fntdata"/><Relationship Id="rId20" Type="http://schemas.openxmlformats.org/officeDocument/2006/relationships/slide" Target="slides/slide14.xml"/><Relationship Id="rId64" Type="http://schemas.openxmlformats.org/officeDocument/2006/relationships/font" Target="fonts/RubikMedium-regular.fntdata"/><Relationship Id="rId63" Type="http://schemas.openxmlformats.org/officeDocument/2006/relationships/font" Target="fonts/Anybody-boldItalic.fntdata"/><Relationship Id="rId22" Type="http://schemas.openxmlformats.org/officeDocument/2006/relationships/slide" Target="slides/slide16.xml"/><Relationship Id="rId66" Type="http://schemas.openxmlformats.org/officeDocument/2006/relationships/font" Target="fonts/RubikMedium-italic.fntdata"/><Relationship Id="rId21" Type="http://schemas.openxmlformats.org/officeDocument/2006/relationships/slide" Target="slides/slide15.xml"/><Relationship Id="rId65" Type="http://schemas.openxmlformats.org/officeDocument/2006/relationships/font" Target="fonts/RubikMedium-bold.fntdata"/><Relationship Id="rId24" Type="http://schemas.openxmlformats.org/officeDocument/2006/relationships/slide" Target="slides/slide18.xml"/><Relationship Id="rId68" Type="http://schemas.openxmlformats.org/officeDocument/2006/relationships/font" Target="fonts/OpenSansMedium-regular.fntdata"/><Relationship Id="rId23" Type="http://schemas.openxmlformats.org/officeDocument/2006/relationships/slide" Target="slides/slide17.xml"/><Relationship Id="rId67" Type="http://schemas.openxmlformats.org/officeDocument/2006/relationships/font" Target="fonts/RubikMedium-boldItalic.fntdata"/><Relationship Id="rId60" Type="http://schemas.openxmlformats.org/officeDocument/2006/relationships/font" Target="fonts/Anybody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OpenSansMedium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AnybodySemiBold-bold.fntdata"/><Relationship Id="rId50" Type="http://schemas.openxmlformats.org/officeDocument/2006/relationships/font" Target="fonts/AnybodySemiBold-regular.fntdata"/><Relationship Id="rId53" Type="http://schemas.openxmlformats.org/officeDocument/2006/relationships/font" Target="fonts/AnybodySemiBold-boldItalic.fntdata"/><Relationship Id="rId52" Type="http://schemas.openxmlformats.org/officeDocument/2006/relationships/font" Target="fonts/AnybodySemiBold-italic.fntdata"/><Relationship Id="rId11" Type="http://schemas.openxmlformats.org/officeDocument/2006/relationships/slide" Target="slides/slide5.xml"/><Relationship Id="rId55" Type="http://schemas.openxmlformats.org/officeDocument/2006/relationships/font" Target="fonts/AnybodyMedium-bold.fntdata"/><Relationship Id="rId10" Type="http://schemas.openxmlformats.org/officeDocument/2006/relationships/slide" Target="slides/slide4.xml"/><Relationship Id="rId54" Type="http://schemas.openxmlformats.org/officeDocument/2006/relationships/font" Target="fonts/AnybodyMedium-regular.fntdata"/><Relationship Id="rId13" Type="http://schemas.openxmlformats.org/officeDocument/2006/relationships/slide" Target="slides/slide7.xml"/><Relationship Id="rId57" Type="http://schemas.openxmlformats.org/officeDocument/2006/relationships/font" Target="fonts/AnybodyMedium-boldItalic.fntdata"/><Relationship Id="rId12" Type="http://schemas.openxmlformats.org/officeDocument/2006/relationships/slide" Target="slides/slide6.xml"/><Relationship Id="rId56" Type="http://schemas.openxmlformats.org/officeDocument/2006/relationships/font" Target="fonts/AnybodyMedium-italic.fntdata"/><Relationship Id="rId15" Type="http://schemas.openxmlformats.org/officeDocument/2006/relationships/slide" Target="slides/slide9.xml"/><Relationship Id="rId59" Type="http://schemas.openxmlformats.org/officeDocument/2006/relationships/font" Target="fonts/ComfortaaMedium-bold.fntdata"/><Relationship Id="rId14" Type="http://schemas.openxmlformats.org/officeDocument/2006/relationships/slide" Target="slides/slide8.xml"/><Relationship Id="rId58" Type="http://schemas.openxmlformats.org/officeDocument/2006/relationships/font" Target="fonts/ComfortaaMedium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b86f4ac50b_0_2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b86f4ac50b_0_2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b86f4ac5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b86f4ac5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b86f4ac50b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g3b86f4ac50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b86f4ac50b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4" name="Google Shape;804;g3b86f4ac50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b86f4ac50b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6" name="Google Shape;816;g3b86f4ac50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b86f4ac50b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g3b86f4ac50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Complexity of each layer is </a:t>
            </a:r>
            <a:r>
              <a:rPr b="1" lang="en"/>
              <a:t>reduced and limited</a:t>
            </a:r>
            <a:r>
              <a:rPr lang="en"/>
              <a:t> to the specific problem they are solving!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b86f4ac50b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g3b86f4ac50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!!!!!!!!</a:t>
            </a:r>
            <a:r>
              <a:rPr b="1" lang="en" sz="1500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Drift is extremely expensive!!!!!!!!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b8b926ffc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" name="Google Shape;850;g3b8b926ff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rgbClr val="0C2534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“DRY is the worst paradigm that happened to our industry, except maybe ORMs”</a:t>
            </a:r>
            <a:endParaRPr i="1" sz="1300">
              <a:solidFill>
                <a:srgbClr val="0C2534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rgbClr val="0C2534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Tomas Espeleta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b86f4ac50b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g3b86f4ac50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Source of Truth: </a:t>
            </a:r>
            <a:r>
              <a:rPr lang="en">
                <a:solidFill>
                  <a:schemeClr val="dk1"/>
                </a:solidFill>
              </a:rPr>
              <a:t>Edited by humans (not always developers), Reviewed, Approved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Artifacts: </a:t>
            </a:r>
            <a:r>
              <a:rPr lang="en">
                <a:solidFill>
                  <a:schemeClr val="dk1"/>
                </a:solidFill>
              </a:rPr>
              <a:t>Generated, Disposable, Re-creatable, Optimized for machines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b86f4ac50b_0_32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4" name="Google Shape;884;g3b86f4ac50b_0_3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At Fonoa, </a:t>
            </a:r>
            <a:r>
              <a:rPr b="1" lang="en">
                <a:solidFill>
                  <a:schemeClr val="dk1"/>
                </a:solidFill>
              </a:rPr>
              <a:t>OpenAPI is an artifact</a:t>
            </a:r>
            <a:r>
              <a:rPr lang="en">
                <a:solidFill>
                  <a:schemeClr val="dk1"/>
                </a:solidFill>
              </a:rPr>
              <a:t>, not a source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b8b926ffcc_0_30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g3b8b926ffcc_0_3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b921722eda_1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4" name="Google Shape;904;g3b921722eda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We decided to use custom YAML because it’s EXPRESSIVE and COMPLETE.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YAML file defines the schema </a:t>
            </a:r>
            <a:r>
              <a:rPr b="1" lang="en">
                <a:solidFill>
                  <a:schemeClr val="dk1"/>
                </a:solidFill>
              </a:rPr>
              <a:t>and</a:t>
            </a:r>
            <a:r>
              <a:rPr lang="en">
                <a:solidFill>
                  <a:schemeClr val="dk1"/>
                </a:solidFill>
              </a:rPr>
              <a:t> the business rules (we’ll see this later).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 embed Go expressions directly inside the YAML for complex cross-field validation.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 use protobuf types because we’ll end up mapping to them and use them internally. MORE EXPRESSIVE.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b921722eda_1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" name="Google Shape;914;g3b921722ed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b921722eda_1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g3b921722eda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b86f4ac50b_0_1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g3b86f4ac50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We embed Go expressions directly inside the YAML for complex cross-field validation.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b86f4ac50b_0_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4" name="Google Shape;944;g3b86f4ac50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b86f4ac50b_0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4" name="Google Shape;954;g3b86f4ac50b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b86f4ac50b_0_1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5" name="Google Shape;965;g3b86f4ac50b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OpenAPI is optmised for documentation generation.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We realised that OpenAPI was requested by customers AND there is a massive ecosystem, beautiful templates. We can create standard and compelling API documentation.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b921722eda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3b921722eda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try to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b8b926ffcc_0_7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7" name="Google Shape;987;g3b8b926ffcc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</a:t>
            </a:r>
            <a:r>
              <a:rPr lang="en"/>
              <a:t>philosophy</a:t>
            </a:r>
            <a:r>
              <a:rPr lang="en"/>
              <a:t> is: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try to automate most of the conversions,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let customers create custom expressions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provide many functions for data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b921722eda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8" name="Google Shape;998;g3b921722ed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b8b926ffcc_0_30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6" name="Google Shape;1006;g3b8b926ffcc_0_3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b8b926ffcc_0_3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4" name="Google Shape;1024;g3b8b926ffcc_0_3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b8b926ffcc_0_3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" name="Google Shape;1031;g3b8b926ffcc_0_3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b8b926ffcc_0_3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2" name="Google Shape;1042;g3b8b926ffcc_0_3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Challenge:</a:t>
            </a:r>
            <a:r>
              <a:rPr lang="en">
                <a:solidFill>
                  <a:schemeClr val="dk1"/>
                </a:solidFill>
              </a:rPr>
              <a:t> The visual editor needs JSON to render the UI.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Conflict:</a:t>
            </a:r>
            <a:r>
              <a:rPr lang="en">
                <a:solidFill>
                  <a:schemeClr val="dk1"/>
                </a:solidFill>
              </a:rPr>
              <a:t> We want the logic stored as Go (for PR reviews, versioning, and execution).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Solution:</a:t>
            </a:r>
            <a:r>
              <a:rPr lang="en">
                <a:solidFill>
                  <a:schemeClr val="dk1"/>
                </a:solidFill>
              </a:rPr>
              <a:t> Use the Go Parser to read Go code and turn it </a:t>
            </a:r>
            <a:r>
              <a:rPr i="1" lang="en">
                <a:solidFill>
                  <a:schemeClr val="dk1"/>
                </a:solidFill>
              </a:rPr>
              <a:t>back</a:t>
            </a:r>
            <a:r>
              <a:rPr lang="en">
                <a:solidFill>
                  <a:schemeClr val="dk1"/>
                </a:solidFill>
              </a:rPr>
              <a:t> into JSON for the editor.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Why?</a:t>
            </a:r>
            <a:r>
              <a:rPr lang="en">
                <a:solidFill>
                  <a:schemeClr val="dk1"/>
                </a:solidFill>
              </a:rPr>
              <a:t> Go code is easier for a human to approve in a PR than a massive JSON execution tree.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b8b926ffcc_0_31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7" name="Google Shape;1057;g3b8b926ffcc_0_3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b8b926ffcc_0_31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7" name="Google Shape;1067;g3b8b926ffcc_0_3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b8b926ffcc_0_31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7" name="Google Shape;1077;g3b8b926ffcc_0_3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b8db05468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7" name="Google Shape;1087;g3b8db0546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92c3bc3a0b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8" name="Google Shape;1098;g392c3bc3a0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b8db05468c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3b8db05468c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b8db05468c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2" name="Google Shape;1122;g3b8db05468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C2534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b8f38c59d6_3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9" name="Google Shape;1129;g3b8f38c59d6_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jp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jpg"/><Relationship Id="rId3" Type="http://schemas.openxmlformats.org/officeDocument/2006/relationships/image" Target="../media/image3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g"/><Relationship Id="rId3" Type="http://schemas.openxmlformats.org/officeDocument/2006/relationships/image" Target="../media/image3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jpg"/><Relationship Id="rId3" Type="http://schemas.openxmlformats.org/officeDocument/2006/relationships/image" Target="../media/image3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jpg"/><Relationship Id="rId3" Type="http://schemas.openxmlformats.org/officeDocument/2006/relationships/image" Target="../media/image4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jpg"/><Relationship Id="rId3" Type="http://schemas.openxmlformats.org/officeDocument/2006/relationships/image" Target="../media/image4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jpg"/><Relationship Id="rId3" Type="http://schemas.openxmlformats.org/officeDocument/2006/relationships/image" Target="../media/image4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jpg"/><Relationship Id="rId3" Type="http://schemas.openxmlformats.org/officeDocument/2006/relationships/image" Target="../media/image4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jpg"/><Relationship Id="rId3" Type="http://schemas.openxmlformats.org/officeDocument/2006/relationships/image" Target="../media/image4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jpg"/><Relationship Id="rId3" Type="http://schemas.openxmlformats.org/officeDocument/2006/relationships/image" Target="../media/image4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jpg"/><Relationship Id="rId3" Type="http://schemas.openxmlformats.org/officeDocument/2006/relationships/image" Target="../media/image5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jpg"/><Relationship Id="rId3" Type="http://schemas.openxmlformats.org/officeDocument/2006/relationships/image" Target="../media/image65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g"/><Relationship Id="rId3" Type="http://schemas.openxmlformats.org/officeDocument/2006/relationships/image" Target="../media/image65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jpg"/><Relationship Id="rId3" Type="http://schemas.openxmlformats.org/officeDocument/2006/relationships/image" Target="../media/image55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413300" y="413975"/>
            <a:ext cx="3390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413300" y="1247975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15" name="Google Shape;15;p2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Dark 1" showMasterSp="0">
  <p:cSld name="1_Cover Slide 1_1">
    <p:bg>
      <p:bgPr>
        <a:solidFill>
          <a:srgbClr val="0D293B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21;p3"/>
          <p:cNvGrpSpPr/>
          <p:nvPr/>
        </p:nvGrpSpPr>
        <p:grpSpPr>
          <a:xfrm>
            <a:off x="7590148" y="361539"/>
            <a:ext cx="1136571" cy="213461"/>
            <a:chOff x="238125" y="2186225"/>
            <a:chExt cx="7143750" cy="1342525"/>
          </a:xfrm>
        </p:grpSpPr>
        <p:sp>
          <p:nvSpPr>
            <p:cNvPr id="22" name="Google Shape;22;p3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3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3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Dark 2" showMasterSp="0">
  <p:cSld name="1_Cover Slide 1 2_1">
    <p:bg>
      <p:bgPr>
        <a:solidFill>
          <a:srgbClr val="0D293B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4"/>
          <p:cNvGrpSpPr/>
          <p:nvPr/>
        </p:nvGrpSpPr>
        <p:grpSpPr>
          <a:xfrm>
            <a:off x="7590148" y="361539"/>
            <a:ext cx="1136571" cy="213461"/>
            <a:chOff x="238125" y="2186225"/>
            <a:chExt cx="7143750" cy="1342525"/>
          </a:xfrm>
        </p:grpSpPr>
        <p:sp>
          <p:nvSpPr>
            <p:cNvPr id="33" name="Google Shape;33;p4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4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4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Dark 3" showMasterSp="0">
  <p:cSld name="1_Cover Slide 1 1_1">
    <p:bg>
      <p:bgPr>
        <a:solidFill>
          <a:srgbClr val="0D293B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5"/>
          <p:cNvGrpSpPr/>
          <p:nvPr/>
        </p:nvGrpSpPr>
        <p:grpSpPr>
          <a:xfrm>
            <a:off x="7590148" y="361539"/>
            <a:ext cx="1136571" cy="213461"/>
            <a:chOff x="238125" y="2186225"/>
            <a:chExt cx="7143750" cy="1342525"/>
          </a:xfrm>
        </p:grpSpPr>
        <p:sp>
          <p:nvSpPr>
            <p:cNvPr id="44" name="Google Shape;44;p5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5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5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5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Dark 4" showMasterSp="0">
  <p:cSld name="1_Cover Slide 1 1 2_1">
    <p:bg>
      <p:bgPr>
        <a:solidFill>
          <a:srgbClr val="0D293B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6"/>
          <p:cNvGrpSpPr/>
          <p:nvPr/>
        </p:nvGrpSpPr>
        <p:grpSpPr>
          <a:xfrm>
            <a:off x="7590148" y="361539"/>
            <a:ext cx="1136571" cy="213461"/>
            <a:chOff x="238125" y="2186225"/>
            <a:chExt cx="7143750" cy="1342525"/>
          </a:xfrm>
        </p:grpSpPr>
        <p:sp>
          <p:nvSpPr>
            <p:cNvPr id="55" name="Google Shape;55;p6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6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9" name="Google Shape;59;p6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6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Dark 5" showMasterSp="0">
  <p:cSld name="1_Cover Slide 1 1 2 2_1">
    <p:bg>
      <p:bgPr>
        <a:solidFill>
          <a:srgbClr val="0D293B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7"/>
          <p:cNvGrpSpPr/>
          <p:nvPr/>
        </p:nvGrpSpPr>
        <p:grpSpPr>
          <a:xfrm>
            <a:off x="7590148" y="361539"/>
            <a:ext cx="1136571" cy="213461"/>
            <a:chOff x="238125" y="2186225"/>
            <a:chExt cx="7143750" cy="1342525"/>
          </a:xfrm>
        </p:grpSpPr>
        <p:sp>
          <p:nvSpPr>
            <p:cNvPr id="66" name="Google Shape;66;p7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7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" name="Google Shape;69;p7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1" name="Google Shape;71;p7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7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Dark 6" showMasterSp="0">
  <p:cSld name="1_Cover Slide 1 1 2 3_1">
    <p:bg>
      <p:bgPr>
        <a:solidFill>
          <a:srgbClr val="0D293B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" name="Google Shape;76;p8"/>
          <p:cNvGrpSpPr/>
          <p:nvPr/>
        </p:nvGrpSpPr>
        <p:grpSpPr>
          <a:xfrm>
            <a:off x="7590148" y="361539"/>
            <a:ext cx="1136571" cy="213461"/>
            <a:chOff x="238125" y="2186225"/>
            <a:chExt cx="7143750" cy="1342525"/>
          </a:xfrm>
        </p:grpSpPr>
        <p:sp>
          <p:nvSpPr>
            <p:cNvPr id="77" name="Google Shape;77;p8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8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1" name="Google Shape;81;p8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2" name="Google Shape;82;p8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8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Dark 7" showMasterSp="0">
  <p:cSld name="SECTION_HEADER_1_1_1">
    <p:bg>
      <p:bgPr>
        <a:solidFill>
          <a:srgbClr val="0D293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9" title="meeting-background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" name="Google Shape;87;p9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88" name="Google Shape;88;p9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9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" name="Google Shape;92;p9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3" name="Google Shape;93;p9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9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Dark 8" showMasterSp="0">
  <p:cSld name="SECTION_HEADER_1_1">
    <p:bg>
      <p:bgPr>
        <a:solidFill>
          <a:srgbClr val="0D293B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0" title="woman-background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0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0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99" name="Google Shape;99;p10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0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10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3" name="Google Shape;103;p10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4" name="Google Shape;104;p10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10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Dark 9" showMasterSp="0">
  <p:cSld name="SECTION_HEADER_1_1_1_2">
    <p:bg>
      <p:bgPr>
        <a:solidFill>
          <a:srgbClr val="0D293B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1" title="man-1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1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p11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110" name="Google Shape;110;p11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1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1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4" name="Google Shape;114;p11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11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Dark 10" showMasterSp="0">
  <p:cSld name="SECTION_HEADER_1_1_2">
    <p:bg>
      <p:bgPr>
        <a:solidFill>
          <a:srgbClr val="0D293B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2" title="woman-background-2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2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" name="Google Shape;120;p12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121" name="Google Shape;121;p12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2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2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" name="Google Shape;124;p12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5" name="Google Shape;125;p12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6" name="Google Shape;126;p12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2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 and subtile_light blue_1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3"/>
          <p:cNvGrpSpPr/>
          <p:nvPr/>
        </p:nvGrpSpPr>
        <p:grpSpPr>
          <a:xfrm>
            <a:off x="-3900688" y="-394720"/>
            <a:ext cx="7704498" cy="5999959"/>
            <a:chOff x="238125" y="2197550"/>
            <a:chExt cx="1662100" cy="1294350"/>
          </a:xfrm>
        </p:grpSpPr>
        <p:sp>
          <p:nvSpPr>
            <p:cNvPr id="130" name="Google Shape;130;p13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rgbClr val="5A95ED">
                <a:alpha val="1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rgbClr val="5A95ED">
                <a:alpha val="1058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132;p13"/>
          <p:cNvSpPr txBox="1"/>
          <p:nvPr>
            <p:ph type="title"/>
          </p:nvPr>
        </p:nvSpPr>
        <p:spPr>
          <a:xfrm>
            <a:off x="413300" y="1979600"/>
            <a:ext cx="29913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4" name="Google Shape;134;p13"/>
          <p:cNvGrpSpPr/>
          <p:nvPr/>
        </p:nvGrpSpPr>
        <p:grpSpPr>
          <a:xfrm>
            <a:off x="7995642" y="273671"/>
            <a:ext cx="730806" cy="137340"/>
            <a:chOff x="238125" y="2186225"/>
            <a:chExt cx="7143750" cy="1342525"/>
          </a:xfrm>
        </p:grpSpPr>
        <p:sp>
          <p:nvSpPr>
            <p:cNvPr id="135" name="Google Shape;135;p13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13"/>
          <p:cNvSpPr txBox="1"/>
          <p:nvPr>
            <p:ph idx="1" type="body"/>
          </p:nvPr>
        </p:nvSpPr>
        <p:spPr>
          <a:xfrm>
            <a:off x="3728900" y="740550"/>
            <a:ext cx="50019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nybody"/>
              <a:buChar char="●"/>
              <a:defRPr sz="1600">
                <a:latin typeface="Anybody"/>
                <a:ea typeface="Anybody"/>
                <a:cs typeface="Anybody"/>
                <a:sym typeface="Anybody"/>
              </a:defRPr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Anybody"/>
              <a:buChar char="○"/>
              <a:defRPr sz="1200">
                <a:latin typeface="Anybody"/>
                <a:ea typeface="Anybody"/>
                <a:cs typeface="Anybody"/>
                <a:sym typeface="Anybody"/>
              </a:defRPr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Anybody"/>
              <a:buChar char="■"/>
              <a:defRPr sz="1200">
                <a:latin typeface="Anybody"/>
                <a:ea typeface="Anybody"/>
                <a:cs typeface="Anybody"/>
                <a:sym typeface="Anybody"/>
              </a:defRPr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Anybody"/>
              <a:buChar char="●"/>
              <a:defRPr sz="1200">
                <a:latin typeface="Anybody"/>
                <a:ea typeface="Anybody"/>
                <a:cs typeface="Anybody"/>
                <a:sym typeface="Anybody"/>
              </a:defRPr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Anybody"/>
              <a:buChar char="○"/>
              <a:defRPr sz="1200">
                <a:latin typeface="Anybody"/>
                <a:ea typeface="Anybody"/>
                <a:cs typeface="Anybody"/>
                <a:sym typeface="Anybody"/>
              </a:defRPr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Anybody"/>
              <a:buChar char="■"/>
              <a:defRPr sz="1200">
                <a:latin typeface="Anybody"/>
                <a:ea typeface="Anybody"/>
                <a:cs typeface="Anybody"/>
                <a:sym typeface="Anybody"/>
              </a:defRPr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Anybody"/>
              <a:buChar char="●"/>
              <a:defRPr sz="1200">
                <a:latin typeface="Anybody"/>
                <a:ea typeface="Anybody"/>
                <a:cs typeface="Anybody"/>
                <a:sym typeface="Anybody"/>
              </a:defRPr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Anybody"/>
              <a:buChar char="○"/>
              <a:defRPr sz="1200">
                <a:latin typeface="Anybody"/>
                <a:ea typeface="Anybody"/>
                <a:cs typeface="Anybody"/>
                <a:sym typeface="Anybody"/>
              </a:defRPr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Font typeface="Anybody"/>
              <a:buChar char="■"/>
              <a:defRPr sz="1200"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413300" y="413975"/>
            <a:ext cx="83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41" name="Google Shape;141;p14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2" name="Google Shape;142;p14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143" name="Google Shape;143;p14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_Half Green">
  <p:cSld name="TITLE_2_3_1_1_1_4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/>
          <p:nvPr/>
        </p:nvSpPr>
        <p:spPr>
          <a:xfrm>
            <a:off x="5114350" y="-1325"/>
            <a:ext cx="4042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148" name="Google Shape;148;p15"/>
          <p:cNvSpPr txBox="1"/>
          <p:nvPr>
            <p:ph type="ctrTitle"/>
          </p:nvPr>
        </p:nvSpPr>
        <p:spPr>
          <a:xfrm>
            <a:off x="413300" y="1645437"/>
            <a:ext cx="31146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9" name="Google Shape;149;p15"/>
          <p:cNvSpPr txBox="1"/>
          <p:nvPr/>
        </p:nvSpPr>
        <p:spPr>
          <a:xfrm>
            <a:off x="5730800" y="4736175"/>
            <a:ext cx="30000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Fonoa Technologies Ltd. </a:t>
            </a:r>
            <a:endParaRPr b="0" i="0" sz="800" u="none" cap="none" strike="noStrike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" name="Google Shape;150;p15"/>
          <p:cNvSpPr txBox="1"/>
          <p:nvPr>
            <p:ph idx="1" type="subTitle"/>
          </p:nvPr>
        </p:nvSpPr>
        <p:spPr>
          <a:xfrm>
            <a:off x="413300" y="3104438"/>
            <a:ext cx="2920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7201775" y="4736175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3" name="Google Shape;153;p15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154" name="Google Shape;154;p15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413300" y="413975"/>
            <a:ext cx="622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413300" y="1940550"/>
            <a:ext cx="8317500" cy="27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>
            <a:lvl1pPr indent="-3111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60" name="Google Shape;160;p16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16"/>
          <p:cNvSpPr txBox="1"/>
          <p:nvPr>
            <p:ph idx="2" type="subTitle"/>
          </p:nvPr>
        </p:nvSpPr>
        <p:spPr>
          <a:xfrm>
            <a:off x="413300" y="866950"/>
            <a:ext cx="7189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  <p:grpSp>
        <p:nvGrpSpPr>
          <p:cNvPr id="162" name="Google Shape;162;p16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163" name="Google Shape;163;p16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_Half Green 1 1 1">
  <p:cSld name="Content Slide_Half Green_1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/>
          <p:nvPr/>
        </p:nvSpPr>
        <p:spPr>
          <a:xfrm>
            <a:off x="0" y="-1325"/>
            <a:ext cx="4864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168" name="Google Shape;168;p17"/>
          <p:cNvSpPr txBox="1"/>
          <p:nvPr>
            <p:ph type="ctrTitle"/>
          </p:nvPr>
        </p:nvSpPr>
        <p:spPr>
          <a:xfrm>
            <a:off x="413300" y="1645437"/>
            <a:ext cx="31146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9" name="Google Shape;169;p17"/>
          <p:cNvSpPr txBox="1"/>
          <p:nvPr/>
        </p:nvSpPr>
        <p:spPr>
          <a:xfrm>
            <a:off x="5730800" y="4736175"/>
            <a:ext cx="30000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Fonoa Technologies Ltd. </a:t>
            </a:r>
            <a:endParaRPr b="0" i="0" sz="800" u="none" cap="none" strike="noStrike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0" name="Google Shape;170;p17"/>
          <p:cNvSpPr txBox="1"/>
          <p:nvPr>
            <p:ph idx="1" type="subTitle"/>
          </p:nvPr>
        </p:nvSpPr>
        <p:spPr>
          <a:xfrm>
            <a:off x="413300" y="3104438"/>
            <a:ext cx="2920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7201775" y="4736175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73" name="Google Shape;173;p17"/>
          <p:cNvGrpSpPr/>
          <p:nvPr/>
        </p:nvGrpSpPr>
        <p:grpSpPr>
          <a:xfrm>
            <a:off x="7995642" y="273671"/>
            <a:ext cx="730806" cy="137340"/>
            <a:chOff x="238125" y="2186225"/>
            <a:chExt cx="7143750" cy="1342525"/>
          </a:xfrm>
        </p:grpSpPr>
        <p:sp>
          <p:nvSpPr>
            <p:cNvPr id="174" name="Google Shape;174;p17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le_white 1">
  <p:cSld name="Title and subtile_white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/>
          <p:nvPr/>
        </p:nvSpPr>
        <p:spPr>
          <a:xfrm>
            <a:off x="413300" y="1017275"/>
            <a:ext cx="2725800" cy="3459300"/>
          </a:xfrm>
          <a:prstGeom prst="roundRect">
            <a:avLst>
              <a:gd fmla="val 7031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ctr" dir="2760000" dist="95250">
              <a:srgbClr val="000000">
                <a:alpha val="666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243D"/>
              </a:buClr>
              <a:buSzPts val="1300"/>
              <a:buFont typeface="Rubik Light"/>
              <a:buNone/>
            </a:pPr>
            <a:r>
              <a:t/>
            </a:r>
            <a:endParaRPr b="1" i="0" sz="1500" u="none" cap="none" strike="noStrike">
              <a:solidFill>
                <a:srgbClr val="6CA1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8"/>
          <p:cNvSpPr txBox="1"/>
          <p:nvPr>
            <p:ph idx="1" type="body"/>
          </p:nvPr>
        </p:nvSpPr>
        <p:spPr>
          <a:xfrm>
            <a:off x="545600" y="2805800"/>
            <a:ext cx="24612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80" name="Google Shape;180;p18"/>
          <p:cNvSpPr txBox="1"/>
          <p:nvPr>
            <p:ph type="title"/>
          </p:nvPr>
        </p:nvSpPr>
        <p:spPr>
          <a:xfrm>
            <a:off x="413300" y="413975"/>
            <a:ext cx="83130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81" name="Google Shape;181;p18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82" name="Google Shape;182;p18"/>
          <p:cNvGrpSpPr/>
          <p:nvPr/>
        </p:nvGrpSpPr>
        <p:grpSpPr>
          <a:xfrm>
            <a:off x="7995642" y="273671"/>
            <a:ext cx="730806" cy="137340"/>
            <a:chOff x="238125" y="2186225"/>
            <a:chExt cx="7143750" cy="1342525"/>
          </a:xfrm>
        </p:grpSpPr>
        <p:sp>
          <p:nvSpPr>
            <p:cNvPr id="183" name="Google Shape;183;p18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" name="Google Shape;186;p18"/>
          <p:cNvSpPr/>
          <p:nvPr/>
        </p:nvSpPr>
        <p:spPr>
          <a:xfrm>
            <a:off x="6000626" y="1017275"/>
            <a:ext cx="2725800" cy="3459300"/>
          </a:xfrm>
          <a:prstGeom prst="roundRect">
            <a:avLst>
              <a:gd fmla="val 7031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ctr" dir="2760000" dist="95250">
              <a:srgbClr val="000000">
                <a:alpha val="666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243D"/>
              </a:buClr>
              <a:buSzPts val="1300"/>
              <a:buFont typeface="Rubik Light"/>
              <a:buNone/>
            </a:pPr>
            <a:r>
              <a:t/>
            </a:r>
            <a:endParaRPr b="1" i="0" sz="1500" u="none" cap="none" strike="noStrike">
              <a:solidFill>
                <a:srgbClr val="6CA1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6000613" y="1017277"/>
            <a:ext cx="1555200" cy="1555200"/>
          </a:xfrm>
          <a:prstGeom prst="roundRect">
            <a:avLst>
              <a:gd fmla="val 936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3206976" y="1017275"/>
            <a:ext cx="2725800" cy="3459300"/>
          </a:xfrm>
          <a:prstGeom prst="roundRect">
            <a:avLst>
              <a:gd fmla="val 7031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ctr" dir="2760000" dist="95250">
              <a:srgbClr val="000000">
                <a:alpha val="666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243D"/>
              </a:buClr>
              <a:buSzPts val="1300"/>
              <a:buFont typeface="Rubik Light"/>
              <a:buNone/>
            </a:pPr>
            <a:r>
              <a:t/>
            </a:r>
            <a:endParaRPr b="1" i="0" sz="1500" u="none" cap="none" strike="noStrike">
              <a:solidFill>
                <a:srgbClr val="6CA1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3206963" y="1017277"/>
            <a:ext cx="1555200" cy="1555200"/>
          </a:xfrm>
          <a:prstGeom prst="roundRect">
            <a:avLst>
              <a:gd fmla="val 936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413300" y="1017277"/>
            <a:ext cx="1555200" cy="1555200"/>
          </a:xfrm>
          <a:prstGeom prst="roundRect">
            <a:avLst>
              <a:gd fmla="val 9363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91" name="Google Shape;191;p18"/>
          <p:cNvSpPr txBox="1"/>
          <p:nvPr>
            <p:ph idx="2" type="subTitle"/>
          </p:nvPr>
        </p:nvSpPr>
        <p:spPr>
          <a:xfrm>
            <a:off x="530075" y="1240000"/>
            <a:ext cx="130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ybody"/>
              <a:buNone/>
              <a:defRPr b="1" sz="14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8"/>
          <p:cNvSpPr txBox="1"/>
          <p:nvPr>
            <p:ph idx="3" type="subTitle"/>
          </p:nvPr>
        </p:nvSpPr>
        <p:spPr>
          <a:xfrm>
            <a:off x="3330863" y="1240000"/>
            <a:ext cx="130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ybody"/>
              <a:buNone/>
              <a:defRPr b="1" sz="14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8"/>
          <p:cNvSpPr txBox="1"/>
          <p:nvPr>
            <p:ph idx="4" type="subTitle"/>
          </p:nvPr>
        </p:nvSpPr>
        <p:spPr>
          <a:xfrm>
            <a:off x="6131663" y="1240000"/>
            <a:ext cx="130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ybody"/>
              <a:buNone/>
              <a:defRPr b="1" sz="14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8"/>
          <p:cNvSpPr txBox="1"/>
          <p:nvPr>
            <p:ph idx="5" type="body"/>
          </p:nvPr>
        </p:nvSpPr>
        <p:spPr>
          <a:xfrm>
            <a:off x="3330863" y="2805800"/>
            <a:ext cx="24612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5" name="Google Shape;195;p18"/>
          <p:cNvSpPr txBox="1"/>
          <p:nvPr>
            <p:ph idx="6" type="body"/>
          </p:nvPr>
        </p:nvSpPr>
        <p:spPr>
          <a:xfrm>
            <a:off x="6132938" y="2805800"/>
            <a:ext cx="24612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le_white">
  <p:cSld name="TITLE_AND_BODY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/>
          <p:nvPr/>
        </p:nvSpPr>
        <p:spPr>
          <a:xfrm rot="-5400000">
            <a:off x="545929" y="-549450"/>
            <a:ext cx="5143500" cy="6242400"/>
          </a:xfrm>
          <a:prstGeom prst="round2SameRect">
            <a:avLst>
              <a:gd fmla="val 0" name="adj1"/>
              <a:gd fmla="val 0" name="adj2"/>
            </a:avLst>
          </a:prstGeom>
          <a:gradFill>
            <a:gsLst>
              <a:gs pos="0">
                <a:srgbClr val="E0EBFB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9"/>
          <p:cNvSpPr txBox="1"/>
          <p:nvPr>
            <p:ph type="title"/>
          </p:nvPr>
        </p:nvSpPr>
        <p:spPr>
          <a:xfrm>
            <a:off x="413300" y="954413"/>
            <a:ext cx="28575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00" name="Google Shape;200;p19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201" name="Google Shape;201;p19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9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le_white 2 1">
  <p:cSld name="TITLE_AND_BODY_1_2_1">
    <p:bg>
      <p:bgPr>
        <a:solidFill>
          <a:schemeClr val="lt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/>
          <p:nvPr/>
        </p:nvSpPr>
        <p:spPr>
          <a:xfrm>
            <a:off x="0" y="1"/>
            <a:ext cx="9144000" cy="26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 txBox="1"/>
          <p:nvPr>
            <p:ph type="title"/>
          </p:nvPr>
        </p:nvSpPr>
        <p:spPr>
          <a:xfrm>
            <a:off x="413300" y="413975"/>
            <a:ext cx="83130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07" name="Google Shape;207;p20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20"/>
          <p:cNvSpPr txBox="1"/>
          <p:nvPr>
            <p:ph idx="1" type="subTitle"/>
          </p:nvPr>
        </p:nvSpPr>
        <p:spPr>
          <a:xfrm>
            <a:off x="413300" y="866950"/>
            <a:ext cx="8313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  <p:grpSp>
        <p:nvGrpSpPr>
          <p:cNvPr id="209" name="Google Shape;209;p20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210" name="Google Shape;210;p20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_Half Green 1">
  <p:cSld name="TITLE_2_3_1_1_1_4_1_1_1">
    <p:bg>
      <p:bgPr>
        <a:solidFill>
          <a:schemeClr val="lt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5424925" y="-565062"/>
            <a:ext cx="6333000" cy="6333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215" name="Google Shape;215;p21"/>
          <p:cNvSpPr txBox="1"/>
          <p:nvPr>
            <p:ph type="ctrTitle"/>
          </p:nvPr>
        </p:nvSpPr>
        <p:spPr>
          <a:xfrm>
            <a:off x="413300" y="1645437"/>
            <a:ext cx="31146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5730800" y="4736175"/>
            <a:ext cx="30000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Fonoa Technologies Ltd. </a:t>
            </a:r>
            <a:endParaRPr b="0" i="0" sz="800" u="none" cap="none" strike="noStrike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7" name="Google Shape;217;p21"/>
          <p:cNvSpPr txBox="1"/>
          <p:nvPr>
            <p:ph idx="1" type="subTitle"/>
          </p:nvPr>
        </p:nvSpPr>
        <p:spPr>
          <a:xfrm>
            <a:off x="413300" y="3104438"/>
            <a:ext cx="2920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nybody"/>
              <a:buNone/>
              <a:defRPr sz="18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  <p:sp>
        <p:nvSpPr>
          <p:cNvPr id="218" name="Google Shape;218;p21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7201775" y="4736175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20" name="Google Shape;220;p21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221" name="Google Shape;221;p21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1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>
            <p:ph type="ctrTitle"/>
          </p:nvPr>
        </p:nvSpPr>
        <p:spPr>
          <a:xfrm>
            <a:off x="413308" y="1130675"/>
            <a:ext cx="8317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6" name="Google Shape;226;p22"/>
          <p:cNvSpPr txBox="1"/>
          <p:nvPr>
            <p:ph idx="1" type="subTitle"/>
          </p:nvPr>
        </p:nvSpPr>
        <p:spPr>
          <a:xfrm>
            <a:off x="413300" y="3220225"/>
            <a:ext cx="8317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nybody"/>
              <a:buNone/>
              <a:defRPr sz="2800">
                <a:latin typeface="Anybody"/>
                <a:ea typeface="Anybody"/>
                <a:cs typeface="Anybody"/>
                <a:sym typeface="Anybod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7" name="Google Shape;227;p22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8" name="Google Shape;228;p22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229" name="Google Shape;229;p22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2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 txBox="1"/>
          <p:nvPr>
            <p:ph type="title"/>
          </p:nvPr>
        </p:nvSpPr>
        <p:spPr>
          <a:xfrm>
            <a:off x="413300" y="2150850"/>
            <a:ext cx="8317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4" name="Google Shape;234;p23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5" name="Google Shape;235;p23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236" name="Google Shape;236;p23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3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3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le_navy">
  <p:cSld name="TITLE_AND_BODY_1_1"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"/>
          <p:cNvSpPr txBox="1"/>
          <p:nvPr>
            <p:ph type="title"/>
          </p:nvPr>
        </p:nvSpPr>
        <p:spPr>
          <a:xfrm>
            <a:off x="413300" y="413975"/>
            <a:ext cx="62220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24"/>
          <p:cNvSpPr txBox="1"/>
          <p:nvPr>
            <p:ph idx="1" type="subTitle"/>
          </p:nvPr>
        </p:nvSpPr>
        <p:spPr>
          <a:xfrm>
            <a:off x="413300" y="866957"/>
            <a:ext cx="6212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nybody"/>
              <a:buNone/>
              <a:defRPr sz="1500">
                <a:solidFill>
                  <a:schemeClr val="lt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nybody"/>
              <a:buNone/>
              <a:defRPr sz="1500">
                <a:solidFill>
                  <a:schemeClr val="lt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nybody"/>
              <a:buNone/>
              <a:defRPr sz="1500">
                <a:solidFill>
                  <a:schemeClr val="lt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nybody"/>
              <a:buNone/>
              <a:defRPr sz="1500">
                <a:solidFill>
                  <a:schemeClr val="lt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nybody"/>
              <a:buNone/>
              <a:defRPr sz="1500">
                <a:solidFill>
                  <a:schemeClr val="lt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nybody"/>
              <a:buNone/>
              <a:defRPr sz="1500">
                <a:solidFill>
                  <a:schemeClr val="lt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nybody"/>
              <a:buNone/>
              <a:defRPr sz="1500">
                <a:solidFill>
                  <a:schemeClr val="lt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nybody"/>
              <a:buNone/>
              <a:defRPr sz="1500">
                <a:solidFill>
                  <a:schemeClr val="lt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nybody"/>
              <a:buNone/>
              <a:defRPr sz="1500">
                <a:solidFill>
                  <a:schemeClr val="lt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  <p:grpSp>
        <p:nvGrpSpPr>
          <p:cNvPr id="243" name="Google Shape;243;p24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244" name="Google Shape;244;p24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4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4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le_light blue">
  <p:cSld name="TITLE_AND_BODY_1_1_1">
    <p:bg>
      <p:bgPr>
        <a:solidFill>
          <a:schemeClr val="lt2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>
            <p:ph type="title"/>
          </p:nvPr>
        </p:nvSpPr>
        <p:spPr>
          <a:xfrm>
            <a:off x="413300" y="413975"/>
            <a:ext cx="62220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9" name="Google Shape;249;p25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413300" y="866957"/>
            <a:ext cx="6212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nybody"/>
              <a:buNone/>
              <a:defRPr sz="15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nybody"/>
              <a:buNone/>
              <a:defRPr sz="1600">
                <a:latin typeface="Anybody"/>
                <a:ea typeface="Anybody"/>
                <a:cs typeface="Anybody"/>
                <a:sym typeface="Anybod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nybody"/>
              <a:buNone/>
              <a:defRPr sz="1600">
                <a:latin typeface="Anybody"/>
                <a:ea typeface="Anybody"/>
                <a:cs typeface="Anybody"/>
                <a:sym typeface="Anybod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nybody"/>
              <a:buNone/>
              <a:defRPr sz="1600">
                <a:latin typeface="Anybody"/>
                <a:ea typeface="Anybody"/>
                <a:cs typeface="Anybody"/>
                <a:sym typeface="Anybod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nybody"/>
              <a:buNone/>
              <a:defRPr sz="1600">
                <a:latin typeface="Anybody"/>
                <a:ea typeface="Anybody"/>
                <a:cs typeface="Anybody"/>
                <a:sym typeface="Anybod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nybody"/>
              <a:buNone/>
              <a:defRPr sz="1600">
                <a:latin typeface="Anybody"/>
                <a:ea typeface="Anybody"/>
                <a:cs typeface="Anybody"/>
                <a:sym typeface="Anybod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nybody"/>
              <a:buNone/>
              <a:defRPr sz="1600">
                <a:latin typeface="Anybody"/>
                <a:ea typeface="Anybody"/>
                <a:cs typeface="Anybody"/>
                <a:sym typeface="Anybod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nybody"/>
              <a:buNone/>
              <a:defRPr sz="1600">
                <a:latin typeface="Anybody"/>
                <a:ea typeface="Anybody"/>
                <a:cs typeface="Anybody"/>
                <a:sym typeface="Anybod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nybody"/>
              <a:buNone/>
              <a:defRPr sz="1600"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  <p:grpSp>
        <p:nvGrpSpPr>
          <p:cNvPr id="251" name="Google Shape;251;p25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252" name="Google Shape;252;p25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5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5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"/>
          <p:cNvSpPr txBox="1"/>
          <p:nvPr>
            <p:ph type="title"/>
          </p:nvPr>
        </p:nvSpPr>
        <p:spPr>
          <a:xfrm>
            <a:off x="413300" y="413975"/>
            <a:ext cx="83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57" name="Google Shape;257;p26"/>
          <p:cNvSpPr txBox="1"/>
          <p:nvPr>
            <p:ph idx="1" type="body"/>
          </p:nvPr>
        </p:nvSpPr>
        <p:spPr>
          <a:xfrm>
            <a:off x="413300" y="1152475"/>
            <a:ext cx="3904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8" name="Google Shape;258;p26"/>
          <p:cNvSpPr txBox="1"/>
          <p:nvPr>
            <p:ph idx="2" type="body"/>
          </p:nvPr>
        </p:nvSpPr>
        <p:spPr>
          <a:xfrm>
            <a:off x="4826246" y="1152475"/>
            <a:ext cx="3904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9" name="Google Shape;259;p26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60" name="Google Shape;260;p26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261" name="Google Shape;261;p26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-column text 1">
  <p:cSld name="ONE_COLUMN_TEXT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 txBox="1"/>
          <p:nvPr>
            <p:ph type="title"/>
          </p:nvPr>
        </p:nvSpPr>
        <p:spPr>
          <a:xfrm>
            <a:off x="413300" y="413975"/>
            <a:ext cx="3390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6" name="Google Shape;266;p27"/>
          <p:cNvSpPr txBox="1"/>
          <p:nvPr>
            <p:ph idx="1" type="body"/>
          </p:nvPr>
        </p:nvSpPr>
        <p:spPr>
          <a:xfrm>
            <a:off x="413300" y="1247975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7" name="Google Shape;267;p27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68" name="Google Shape;268;p27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269" name="Google Shape;269;p27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7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7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 txBox="1"/>
          <p:nvPr>
            <p:ph type="title"/>
          </p:nvPr>
        </p:nvSpPr>
        <p:spPr>
          <a:xfrm>
            <a:off x="41330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4" name="Google Shape;274;p28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75" name="Google Shape;275;p28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276" name="Google Shape;276;p28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8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8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/>
          <p:nvPr/>
        </p:nvSpPr>
        <p:spPr>
          <a:xfrm>
            <a:off x="5085150" y="-125"/>
            <a:ext cx="4059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413300" y="1233175"/>
            <a:ext cx="38973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2" name="Google Shape;282;p29"/>
          <p:cNvSpPr txBox="1"/>
          <p:nvPr>
            <p:ph idx="1" type="subTitle"/>
          </p:nvPr>
        </p:nvSpPr>
        <p:spPr>
          <a:xfrm>
            <a:off x="413300" y="2803075"/>
            <a:ext cx="38973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3" name="Google Shape;283;p29"/>
          <p:cNvSpPr txBox="1"/>
          <p:nvPr>
            <p:ph idx="2" type="body"/>
          </p:nvPr>
        </p:nvSpPr>
        <p:spPr>
          <a:xfrm>
            <a:off x="5368875" y="726050"/>
            <a:ext cx="33618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4" name="Google Shape;284;p29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29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86" name="Google Shape;286;p29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287" name="Google Shape;287;p29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9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9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92" name="Google Shape;292;p30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3" name="Google Shape;293;p30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294" name="Google Shape;294;p30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9" name="Google Shape;299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0" name="Google Shape;300;p31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1" name="Google Shape;301;p31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302" name="Google Shape;302;p31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1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1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2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7" name="Google Shape;307;p32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308" name="Google Shape;308;p32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2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2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Blank Blue" showMasterSp="0">
  <p:cSld name="SECTION_HEADER_1">
    <p:bg>
      <p:bgPr>
        <a:solidFill>
          <a:srgbClr val="0D293B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33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313" name="Google Shape;313;p33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3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3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3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7" name="Google Shape;317;p33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8" name="Google Shape;318;p33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p33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Light 1" showMasterSp="0">
  <p:cSld name="1_Cover Slide 1 1 2 4">
    <p:bg>
      <p:bgPr>
        <a:solidFill>
          <a:srgbClr val="0D293B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34" title="fonoa_bkgr_humans_5w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4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" name="Google Shape;323;p34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324" name="Google Shape;324;p34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4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4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34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8" name="Google Shape;328;p34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nybody Light"/>
              <a:buNone/>
              <a:defRPr sz="20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9" name="Google Shape;329;p34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0" name="Google Shape;330;p34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Light 7" showMasterSp="0">
  <p:cSld name="1_Cover Slide 1 1 2 4_1">
    <p:bg>
      <p:bgPr>
        <a:solidFill>
          <a:srgbClr val="0D293B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5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" name="Google Shape;334;p35"/>
          <p:cNvGrpSpPr/>
          <p:nvPr/>
        </p:nvGrpSpPr>
        <p:grpSpPr>
          <a:xfrm>
            <a:off x="7590148" y="361539"/>
            <a:ext cx="1136571" cy="213461"/>
            <a:chOff x="238125" y="2186225"/>
            <a:chExt cx="7143750" cy="1342525"/>
          </a:xfrm>
        </p:grpSpPr>
        <p:sp>
          <p:nvSpPr>
            <p:cNvPr id="335" name="Google Shape;335;p35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5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5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8" name="Google Shape;338;p35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9" name="Google Shape;339;p35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nybody Light"/>
              <a:buNone/>
              <a:defRPr sz="20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0" name="Google Shape;340;p35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35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Light 9" showMasterSp="0">
  <p:cSld name="1_Cover Slide 1 1 2 5">
    <p:bg>
      <p:bgPr>
        <a:solidFill>
          <a:srgbClr val="0D293B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6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" name="Google Shape;345;p36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346" name="Google Shape;346;p36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6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6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9" name="Google Shape;349;p36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0" name="Google Shape;350;p36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nybody Light"/>
              <a:buNone/>
              <a:defRPr sz="20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1" name="Google Shape;351;p36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2" name="Google Shape;352;p36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Light 8" showMasterSp="0">
  <p:cSld name="1_Cover Slide 1 1 2 6">
    <p:bg>
      <p:bgPr>
        <a:solidFill>
          <a:srgbClr val="0D293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7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6" name="Google Shape;356;p37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357" name="Google Shape;357;p37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7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7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0" name="Google Shape;360;p37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1" name="Google Shape;361;p37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nybody Light"/>
              <a:buNone/>
              <a:defRPr sz="20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2" name="Google Shape;362;p37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3" name="Google Shape;363;p37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Light 10" showMasterSp="0">
  <p:cSld name="1_Cover Slide 1 1 2 7">
    <p:bg>
      <p:bgPr>
        <a:solidFill>
          <a:srgbClr val="0D293B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8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7" name="Google Shape;367;p38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368" name="Google Shape;368;p38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8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8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1" name="Google Shape;371;p38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2" name="Google Shape;372;p38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nybody Light"/>
              <a:buNone/>
              <a:defRPr sz="20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3" name="Google Shape;373;p38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4" name="Google Shape;374;p38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Light 2" showMasterSp="0">
  <p:cSld name="1_Cover Slide 1 1 2 8">
    <p:bg>
      <p:bgPr>
        <a:solidFill>
          <a:srgbClr val="0D293B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9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8" name="Google Shape;378;p39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379" name="Google Shape;379;p39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9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9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2" name="Google Shape;382;p39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3" name="Google Shape;383;p39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nybody Light"/>
              <a:buNone/>
              <a:defRPr sz="20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4" name="Google Shape;384;p39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5" name="Google Shape;385;p39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Light 3" showMasterSp="0">
  <p:cSld name="1_Cover Slide 1 1 2 9">
    <p:bg>
      <p:bgPr>
        <a:solidFill>
          <a:srgbClr val="0D293B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0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9" name="Google Shape;389;p40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390" name="Google Shape;390;p40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0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0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3" name="Google Shape;393;p40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4" name="Google Shape;394;p40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nybody Light"/>
              <a:buNone/>
              <a:defRPr sz="20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5" name="Google Shape;395;p40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6" name="Google Shape;396;p40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Light 4" showMasterSp="0">
  <p:cSld name="1_Cover Slide 1 1 2 10">
    <p:bg>
      <p:bgPr>
        <a:solidFill>
          <a:srgbClr val="0D293B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1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0" name="Google Shape;400;p41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401" name="Google Shape;401;p41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41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1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4" name="Google Shape;404;p41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5" name="Google Shape;405;p41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nybody Light"/>
              <a:buNone/>
              <a:defRPr sz="20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6" name="Google Shape;406;p41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7" name="Google Shape;407;p41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Light 5" showMasterSp="0">
  <p:cSld name="1_Cover Slide 1 1 2 11">
    <p:bg>
      <p:bgPr>
        <a:solidFill>
          <a:srgbClr val="0D293B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2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1" name="Google Shape;411;p42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412" name="Google Shape;412;p42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2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2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5" name="Google Shape;415;p42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6" name="Google Shape;416;p42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nybody Light"/>
              <a:buNone/>
              <a:defRPr sz="20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7" name="Google Shape;417;p42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8" name="Google Shape;418;p42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Humans Light 6" showMasterSp="0">
  <p:cSld name="1_Cover Slide 1 1 2 12">
    <p:bg>
      <p:bgPr>
        <a:solidFill>
          <a:srgbClr val="0D293B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3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2" name="Google Shape;422;p43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423" name="Google Shape;423;p43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43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3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6" name="Google Shape;426;p43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7" name="Google Shape;427;p43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nybody Light"/>
              <a:buNone/>
              <a:defRPr sz="2000">
                <a:solidFill>
                  <a:schemeClr val="accent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8" name="Google Shape;428;p43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9" name="Google Shape;429;p43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andscape 1" showMasterSp="0">
  <p:cSld name="1_Cover Slide 1 1 2 13">
    <p:bg>
      <p:bgPr>
        <a:solidFill>
          <a:srgbClr val="0D293B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4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3" name="Google Shape;433;p44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434" name="Google Shape;434;p44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4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4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7" name="Google Shape;437;p44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8" name="Google Shape;438;p44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44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0" name="Google Shape;440;p44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andscape 2" showMasterSp="0">
  <p:cSld name="1_Cover Slide 1 1 2 14">
    <p:bg>
      <p:bgPr>
        <a:solidFill>
          <a:srgbClr val="0D293B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5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4" name="Google Shape;444;p45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445" name="Google Shape;445;p45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5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5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8" name="Google Shape;448;p45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9" name="Google Shape;449;p45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45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1" name="Google Shape;451;p45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andscape 3" showMasterSp="0">
  <p:cSld name="1_Cover Slide 1 1 2 15">
    <p:bg>
      <p:bgPr>
        <a:solidFill>
          <a:srgbClr val="0D293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6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5" name="Google Shape;455;p46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456" name="Google Shape;456;p46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6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6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9" name="Google Shape;459;p46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0" name="Google Shape;460;p46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1" name="Google Shape;461;p46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2" name="Google Shape;462;p46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andscape 4" showMasterSp="0">
  <p:cSld name="1_Cover Slide 1 1 2 16">
    <p:bg>
      <p:bgPr>
        <a:solidFill>
          <a:srgbClr val="0D293B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7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6" name="Google Shape;466;p47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467" name="Google Shape;467;p47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7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7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0" name="Google Shape;470;p47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1" name="Google Shape;471;p47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2" name="Google Shape;472;p47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3" name="Google Shape;473;p47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andscape 5" showMasterSp="0">
  <p:cSld name="1_Cover Slide 1 1 2 17">
    <p:bg>
      <p:bgPr>
        <a:solidFill>
          <a:srgbClr val="0D293B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8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7" name="Google Shape;477;p48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478" name="Google Shape;478;p48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8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8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1" name="Google Shape;481;p48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2" name="Google Shape;482;p48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3" name="Google Shape;483;p48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4" name="Google Shape;484;p48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andscape 6" showMasterSp="0">
  <p:cSld name="1_Cover Slide 1 1 2 18">
    <p:bg>
      <p:bgPr>
        <a:solidFill>
          <a:srgbClr val="0D293B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9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8" name="Google Shape;488;p49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489" name="Google Shape;489;p49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9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9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2" name="Google Shape;492;p49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3" name="Google Shape;493;p49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94" name="Google Shape;494;p49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5" name="Google Shape;495;p49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andscape 7" showMasterSp="0">
  <p:cSld name="1_Cover Slide 1 1 2 19">
    <p:bg>
      <p:bgPr>
        <a:solidFill>
          <a:srgbClr val="0D293B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50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9" name="Google Shape;499;p50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500" name="Google Shape;500;p50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50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50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3" name="Google Shape;503;p50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4" name="Google Shape;504;p50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5" name="Google Shape;505;p50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6" name="Google Shape;506;p50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andscape 8" showMasterSp="0">
  <p:cSld name="1_Cover Slide 1 1 2 20">
    <p:bg>
      <p:bgPr>
        <a:solidFill>
          <a:srgbClr val="0D293B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1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0" name="Google Shape;510;p51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511" name="Google Shape;511;p51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51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51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4" name="Google Shape;514;p51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5" name="Google Shape;515;p51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6" name="Google Shape;516;p51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7" name="Google Shape;517;p51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andscape 9" showMasterSp="0">
  <p:cSld name="1_Cover Slide 1 1 2 21">
    <p:bg>
      <p:bgPr>
        <a:solidFill>
          <a:srgbClr val="0D293B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52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1" name="Google Shape;521;p52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522" name="Google Shape;522;p52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52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2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5" name="Google Shape;525;p52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26" name="Google Shape;526;p52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7" name="Google Shape;527;p52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8" name="Google Shape;528;p52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andscape 10" showMasterSp="0">
  <p:cSld name="1_Cover Slide 1 1 2 22">
    <p:bg>
      <p:bgPr>
        <a:solidFill>
          <a:srgbClr val="0D293B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53"/>
          <p:cNvSpPr/>
          <p:nvPr/>
        </p:nvSpPr>
        <p:spPr>
          <a:xfrm>
            <a:off x="961747" y="-590549"/>
            <a:ext cx="9148224" cy="7123947"/>
          </a:xfrm>
          <a:custGeom>
            <a:rect b="b" l="l" r="r" t="t"/>
            <a:pathLst>
              <a:path extrusionOk="0" h="4537546" w="5826894">
                <a:moveTo>
                  <a:pt x="3778544" y="0"/>
                </a:moveTo>
                <a:lnTo>
                  <a:pt x="4411604" y="0"/>
                </a:lnTo>
                <a:lnTo>
                  <a:pt x="4441491" y="3330"/>
                </a:lnTo>
                <a:lnTo>
                  <a:pt x="4471290" y="9904"/>
                </a:lnTo>
                <a:lnTo>
                  <a:pt x="4501089" y="19895"/>
                </a:lnTo>
                <a:lnTo>
                  <a:pt x="4527646" y="29799"/>
                </a:lnTo>
                <a:lnTo>
                  <a:pt x="4554114" y="46364"/>
                </a:lnTo>
                <a:lnTo>
                  <a:pt x="4577340" y="66259"/>
                </a:lnTo>
                <a:lnTo>
                  <a:pt x="4597236" y="89485"/>
                </a:lnTo>
                <a:lnTo>
                  <a:pt x="4617131" y="112711"/>
                </a:lnTo>
                <a:lnTo>
                  <a:pt x="5783861" y="1889271"/>
                </a:lnTo>
                <a:lnTo>
                  <a:pt x="5800426" y="1919070"/>
                </a:lnTo>
                <a:lnTo>
                  <a:pt x="5813660" y="1952200"/>
                </a:lnTo>
                <a:lnTo>
                  <a:pt x="5823652" y="1985417"/>
                </a:lnTo>
                <a:lnTo>
                  <a:pt x="5826894" y="2015216"/>
                </a:lnTo>
                <a:lnTo>
                  <a:pt x="5823652" y="2048346"/>
                </a:lnTo>
                <a:lnTo>
                  <a:pt x="5816991" y="2081476"/>
                </a:lnTo>
                <a:lnTo>
                  <a:pt x="5810330" y="2111363"/>
                </a:lnTo>
                <a:lnTo>
                  <a:pt x="5797095" y="2141162"/>
                </a:lnTo>
                <a:lnTo>
                  <a:pt x="5777200" y="2167718"/>
                </a:lnTo>
                <a:lnTo>
                  <a:pt x="5757304" y="2190856"/>
                </a:lnTo>
                <a:lnTo>
                  <a:pt x="5734166" y="2214082"/>
                </a:lnTo>
                <a:lnTo>
                  <a:pt x="5707610" y="2233978"/>
                </a:lnTo>
                <a:lnTo>
                  <a:pt x="5681053" y="2247212"/>
                </a:lnTo>
                <a:lnTo>
                  <a:pt x="5647923" y="2260446"/>
                </a:lnTo>
                <a:lnTo>
                  <a:pt x="5614794" y="2267107"/>
                </a:lnTo>
                <a:lnTo>
                  <a:pt x="5578333" y="2270438"/>
                </a:lnTo>
                <a:lnTo>
                  <a:pt x="4922048" y="2270438"/>
                </a:lnTo>
                <a:lnTo>
                  <a:pt x="4888918" y="2270438"/>
                </a:lnTo>
                <a:lnTo>
                  <a:pt x="4859119" y="2277099"/>
                </a:lnTo>
                <a:lnTo>
                  <a:pt x="4829232" y="2287003"/>
                </a:lnTo>
                <a:lnTo>
                  <a:pt x="4802763" y="2300237"/>
                </a:lnTo>
                <a:lnTo>
                  <a:pt x="4776207" y="2316802"/>
                </a:lnTo>
                <a:lnTo>
                  <a:pt x="4752981" y="2336697"/>
                </a:lnTo>
                <a:lnTo>
                  <a:pt x="4729843" y="2359923"/>
                </a:lnTo>
                <a:lnTo>
                  <a:pt x="4713278" y="2383149"/>
                </a:lnTo>
                <a:lnTo>
                  <a:pt x="3417272" y="4424834"/>
                </a:lnTo>
                <a:lnTo>
                  <a:pt x="3397376" y="4448060"/>
                </a:lnTo>
                <a:lnTo>
                  <a:pt x="3377481" y="4471286"/>
                </a:lnTo>
                <a:lnTo>
                  <a:pt x="3354255" y="4491182"/>
                </a:lnTo>
                <a:lnTo>
                  <a:pt x="3327786" y="4507746"/>
                </a:lnTo>
                <a:lnTo>
                  <a:pt x="3297987" y="4520981"/>
                </a:lnTo>
                <a:lnTo>
                  <a:pt x="3271430" y="4530885"/>
                </a:lnTo>
                <a:lnTo>
                  <a:pt x="3238301" y="4537546"/>
                </a:lnTo>
                <a:lnTo>
                  <a:pt x="3208414" y="4537546"/>
                </a:lnTo>
                <a:lnTo>
                  <a:pt x="2535563" y="4537546"/>
                </a:lnTo>
                <a:lnTo>
                  <a:pt x="2502434" y="4534215"/>
                </a:lnTo>
                <a:lnTo>
                  <a:pt x="2465973" y="4527642"/>
                </a:lnTo>
                <a:lnTo>
                  <a:pt x="2436174" y="4517650"/>
                </a:lnTo>
                <a:lnTo>
                  <a:pt x="2406375" y="4501085"/>
                </a:lnTo>
                <a:lnTo>
                  <a:pt x="2379818" y="4481190"/>
                </a:lnTo>
                <a:lnTo>
                  <a:pt x="2356592" y="4461295"/>
                </a:lnTo>
                <a:lnTo>
                  <a:pt x="2336697" y="4434826"/>
                </a:lnTo>
                <a:lnTo>
                  <a:pt x="2320132" y="4408270"/>
                </a:lnTo>
                <a:lnTo>
                  <a:pt x="2306898" y="4378470"/>
                </a:lnTo>
                <a:lnTo>
                  <a:pt x="2296994" y="4348671"/>
                </a:lnTo>
                <a:lnTo>
                  <a:pt x="2290333" y="4318784"/>
                </a:lnTo>
                <a:lnTo>
                  <a:pt x="2290333" y="4285654"/>
                </a:lnTo>
                <a:lnTo>
                  <a:pt x="2293663" y="4252525"/>
                </a:lnTo>
                <a:lnTo>
                  <a:pt x="2300237" y="4219395"/>
                </a:lnTo>
                <a:lnTo>
                  <a:pt x="2313559" y="4186178"/>
                </a:lnTo>
                <a:lnTo>
                  <a:pt x="2330124" y="4156378"/>
                </a:lnTo>
                <a:lnTo>
                  <a:pt x="3500096" y="2379819"/>
                </a:lnTo>
                <a:lnTo>
                  <a:pt x="3516749" y="2356593"/>
                </a:lnTo>
                <a:lnTo>
                  <a:pt x="3539887" y="2333367"/>
                </a:lnTo>
                <a:lnTo>
                  <a:pt x="3563113" y="2316802"/>
                </a:lnTo>
                <a:lnTo>
                  <a:pt x="3586339" y="2300237"/>
                </a:lnTo>
                <a:lnTo>
                  <a:pt x="3616138" y="2287003"/>
                </a:lnTo>
                <a:lnTo>
                  <a:pt x="3642695" y="2277099"/>
                </a:lnTo>
                <a:lnTo>
                  <a:pt x="3672494" y="2270438"/>
                </a:lnTo>
                <a:lnTo>
                  <a:pt x="3705624" y="2270438"/>
                </a:lnTo>
                <a:lnTo>
                  <a:pt x="4322118" y="2270438"/>
                </a:lnTo>
                <a:lnTo>
                  <a:pt x="4358579" y="2267107"/>
                </a:lnTo>
                <a:lnTo>
                  <a:pt x="4391708" y="2260446"/>
                </a:lnTo>
                <a:lnTo>
                  <a:pt x="4424926" y="2247212"/>
                </a:lnTo>
                <a:lnTo>
                  <a:pt x="4451395" y="2233978"/>
                </a:lnTo>
                <a:lnTo>
                  <a:pt x="4477951" y="2214082"/>
                </a:lnTo>
                <a:lnTo>
                  <a:pt x="4501089" y="2194187"/>
                </a:lnTo>
                <a:lnTo>
                  <a:pt x="4520985" y="2167718"/>
                </a:lnTo>
                <a:lnTo>
                  <a:pt x="4537549" y="2141162"/>
                </a:lnTo>
                <a:lnTo>
                  <a:pt x="4554114" y="2114605"/>
                </a:lnTo>
                <a:lnTo>
                  <a:pt x="4560775" y="2081476"/>
                </a:lnTo>
                <a:lnTo>
                  <a:pt x="4567436" y="2051677"/>
                </a:lnTo>
                <a:lnTo>
                  <a:pt x="4570767" y="2018547"/>
                </a:lnTo>
                <a:lnTo>
                  <a:pt x="4567436" y="1985417"/>
                </a:lnTo>
                <a:lnTo>
                  <a:pt x="4560775" y="1955530"/>
                </a:lnTo>
                <a:lnTo>
                  <a:pt x="4547541" y="1922401"/>
                </a:lnTo>
                <a:lnTo>
                  <a:pt x="4530976" y="1892601"/>
                </a:lnTo>
                <a:lnTo>
                  <a:pt x="3569774" y="381167"/>
                </a:lnTo>
                <a:lnTo>
                  <a:pt x="3553121" y="348037"/>
                </a:lnTo>
                <a:lnTo>
                  <a:pt x="3543218" y="318150"/>
                </a:lnTo>
                <a:lnTo>
                  <a:pt x="3533314" y="285021"/>
                </a:lnTo>
                <a:lnTo>
                  <a:pt x="3533314" y="251891"/>
                </a:lnTo>
                <a:lnTo>
                  <a:pt x="3533314" y="218761"/>
                </a:lnTo>
                <a:lnTo>
                  <a:pt x="3539887" y="188874"/>
                </a:lnTo>
                <a:lnTo>
                  <a:pt x="3549879" y="159075"/>
                </a:lnTo>
                <a:lnTo>
                  <a:pt x="3563113" y="129276"/>
                </a:lnTo>
                <a:lnTo>
                  <a:pt x="3579678" y="102720"/>
                </a:lnTo>
                <a:lnTo>
                  <a:pt x="3599573" y="79494"/>
                </a:lnTo>
                <a:lnTo>
                  <a:pt x="3622799" y="56355"/>
                </a:lnTo>
                <a:lnTo>
                  <a:pt x="3649268" y="36460"/>
                </a:lnTo>
                <a:lnTo>
                  <a:pt x="3679155" y="23226"/>
                </a:lnTo>
                <a:lnTo>
                  <a:pt x="3708954" y="9904"/>
                </a:lnTo>
                <a:lnTo>
                  <a:pt x="3742084" y="3330"/>
                </a:lnTo>
                <a:close/>
                <a:moveTo>
                  <a:pt x="1488207" y="0"/>
                </a:moveTo>
                <a:lnTo>
                  <a:pt x="2121265" y="0"/>
                </a:lnTo>
                <a:lnTo>
                  <a:pt x="2151152" y="3330"/>
                </a:lnTo>
                <a:lnTo>
                  <a:pt x="2180952" y="9904"/>
                </a:lnTo>
                <a:lnTo>
                  <a:pt x="2210751" y="19895"/>
                </a:lnTo>
                <a:lnTo>
                  <a:pt x="2237307" y="29799"/>
                </a:lnTo>
                <a:lnTo>
                  <a:pt x="2263776" y="46364"/>
                </a:lnTo>
                <a:lnTo>
                  <a:pt x="2287002" y="66259"/>
                </a:lnTo>
                <a:lnTo>
                  <a:pt x="2306897" y="89485"/>
                </a:lnTo>
                <a:lnTo>
                  <a:pt x="2326793" y="112711"/>
                </a:lnTo>
                <a:lnTo>
                  <a:pt x="3493519" y="1889271"/>
                </a:lnTo>
                <a:lnTo>
                  <a:pt x="3510084" y="1919070"/>
                </a:lnTo>
                <a:lnTo>
                  <a:pt x="3523319" y="1952200"/>
                </a:lnTo>
                <a:lnTo>
                  <a:pt x="3529980" y="1985417"/>
                </a:lnTo>
                <a:lnTo>
                  <a:pt x="3533310" y="2015216"/>
                </a:lnTo>
                <a:lnTo>
                  <a:pt x="3533310" y="2048346"/>
                </a:lnTo>
                <a:lnTo>
                  <a:pt x="3526649" y="2081476"/>
                </a:lnTo>
                <a:lnTo>
                  <a:pt x="3516745" y="2111363"/>
                </a:lnTo>
                <a:lnTo>
                  <a:pt x="3503423" y="2141162"/>
                </a:lnTo>
                <a:lnTo>
                  <a:pt x="3486858" y="2167718"/>
                </a:lnTo>
                <a:lnTo>
                  <a:pt x="3466963" y="2190856"/>
                </a:lnTo>
                <a:lnTo>
                  <a:pt x="3443825" y="2214082"/>
                </a:lnTo>
                <a:lnTo>
                  <a:pt x="3417268" y="2233978"/>
                </a:lnTo>
                <a:lnTo>
                  <a:pt x="3387469" y="2247212"/>
                </a:lnTo>
                <a:lnTo>
                  <a:pt x="3357582" y="2260446"/>
                </a:lnTo>
                <a:lnTo>
                  <a:pt x="3324453" y="2267107"/>
                </a:lnTo>
                <a:lnTo>
                  <a:pt x="3287993" y="2270438"/>
                </a:lnTo>
                <a:lnTo>
                  <a:pt x="2628378" y="2270438"/>
                </a:lnTo>
                <a:lnTo>
                  <a:pt x="2598579" y="2270438"/>
                </a:lnTo>
                <a:lnTo>
                  <a:pt x="2568780" y="2277099"/>
                </a:lnTo>
                <a:lnTo>
                  <a:pt x="2538893" y="2287003"/>
                </a:lnTo>
                <a:lnTo>
                  <a:pt x="2512424" y="2300237"/>
                </a:lnTo>
                <a:lnTo>
                  <a:pt x="2485868" y="2316802"/>
                </a:lnTo>
                <a:lnTo>
                  <a:pt x="2462642" y="2336697"/>
                </a:lnTo>
                <a:lnTo>
                  <a:pt x="2439504" y="2359923"/>
                </a:lnTo>
                <a:lnTo>
                  <a:pt x="2422939" y="2383149"/>
                </a:lnTo>
                <a:lnTo>
                  <a:pt x="1123606" y="4424834"/>
                </a:lnTo>
                <a:lnTo>
                  <a:pt x="1107041" y="4448060"/>
                </a:lnTo>
                <a:lnTo>
                  <a:pt x="1083815" y="4471286"/>
                </a:lnTo>
                <a:lnTo>
                  <a:pt x="1060677" y="4491182"/>
                </a:lnTo>
                <a:lnTo>
                  <a:pt x="1037451" y="4507746"/>
                </a:lnTo>
                <a:lnTo>
                  <a:pt x="1007651" y="4520981"/>
                </a:lnTo>
                <a:lnTo>
                  <a:pt x="977765" y="4530885"/>
                </a:lnTo>
                <a:lnTo>
                  <a:pt x="947965" y="4537546"/>
                </a:lnTo>
                <a:lnTo>
                  <a:pt x="918079" y="4537546"/>
                </a:lnTo>
                <a:lnTo>
                  <a:pt x="245318" y="4537546"/>
                </a:lnTo>
                <a:lnTo>
                  <a:pt x="208857" y="4534215"/>
                </a:lnTo>
                <a:lnTo>
                  <a:pt x="175640" y="4527642"/>
                </a:lnTo>
                <a:lnTo>
                  <a:pt x="145841" y="4517650"/>
                </a:lnTo>
                <a:lnTo>
                  <a:pt x="116042" y="4501085"/>
                </a:lnTo>
                <a:lnTo>
                  <a:pt x="89485" y="4481190"/>
                </a:lnTo>
                <a:lnTo>
                  <a:pt x="66259" y="4461295"/>
                </a:lnTo>
                <a:lnTo>
                  <a:pt x="46364" y="4434826"/>
                </a:lnTo>
                <a:lnTo>
                  <a:pt x="29799" y="4408270"/>
                </a:lnTo>
                <a:lnTo>
                  <a:pt x="16565" y="4378470"/>
                </a:lnTo>
                <a:lnTo>
                  <a:pt x="6661" y="4348671"/>
                </a:lnTo>
                <a:lnTo>
                  <a:pt x="0" y="4318784"/>
                </a:lnTo>
                <a:lnTo>
                  <a:pt x="0" y="4285654"/>
                </a:lnTo>
                <a:lnTo>
                  <a:pt x="3331" y="4252525"/>
                </a:lnTo>
                <a:lnTo>
                  <a:pt x="9904" y="4219395"/>
                </a:lnTo>
                <a:lnTo>
                  <a:pt x="23226" y="4186178"/>
                </a:lnTo>
                <a:lnTo>
                  <a:pt x="39791" y="4156378"/>
                </a:lnTo>
                <a:lnTo>
                  <a:pt x="1206518" y="2379819"/>
                </a:lnTo>
                <a:lnTo>
                  <a:pt x="1226413" y="2356593"/>
                </a:lnTo>
                <a:lnTo>
                  <a:pt x="1246221" y="2333367"/>
                </a:lnTo>
                <a:lnTo>
                  <a:pt x="1272777" y="2316802"/>
                </a:lnTo>
                <a:lnTo>
                  <a:pt x="1296003" y="2300237"/>
                </a:lnTo>
                <a:lnTo>
                  <a:pt x="1325802" y="2287003"/>
                </a:lnTo>
                <a:lnTo>
                  <a:pt x="1352358" y="2277099"/>
                </a:lnTo>
                <a:lnTo>
                  <a:pt x="1382158" y="2270438"/>
                </a:lnTo>
                <a:lnTo>
                  <a:pt x="1415287" y="2270438"/>
                </a:lnTo>
                <a:lnTo>
                  <a:pt x="2031780" y="2270438"/>
                </a:lnTo>
                <a:lnTo>
                  <a:pt x="2068240" y="2267107"/>
                </a:lnTo>
                <a:lnTo>
                  <a:pt x="2101370" y="2260446"/>
                </a:lnTo>
                <a:lnTo>
                  <a:pt x="2131257" y="2247212"/>
                </a:lnTo>
                <a:lnTo>
                  <a:pt x="2161056" y="2233978"/>
                </a:lnTo>
                <a:lnTo>
                  <a:pt x="2187613" y="2214082"/>
                </a:lnTo>
                <a:lnTo>
                  <a:pt x="2210751" y="2194187"/>
                </a:lnTo>
                <a:lnTo>
                  <a:pt x="2230646" y="2167718"/>
                </a:lnTo>
                <a:lnTo>
                  <a:pt x="2247211" y="2141162"/>
                </a:lnTo>
                <a:lnTo>
                  <a:pt x="2260533" y="2114605"/>
                </a:lnTo>
                <a:lnTo>
                  <a:pt x="2270437" y="2081476"/>
                </a:lnTo>
                <a:lnTo>
                  <a:pt x="2277098" y="2051677"/>
                </a:lnTo>
                <a:lnTo>
                  <a:pt x="2280428" y="2018547"/>
                </a:lnTo>
                <a:lnTo>
                  <a:pt x="2277098" y="1985417"/>
                </a:lnTo>
                <a:lnTo>
                  <a:pt x="2270437" y="1955530"/>
                </a:lnTo>
                <a:lnTo>
                  <a:pt x="2257202" y="1922401"/>
                </a:lnTo>
                <a:lnTo>
                  <a:pt x="2240638" y="1892601"/>
                </a:lnTo>
                <a:lnTo>
                  <a:pt x="1279438" y="381167"/>
                </a:lnTo>
                <a:lnTo>
                  <a:pt x="1262873" y="348037"/>
                </a:lnTo>
                <a:lnTo>
                  <a:pt x="1249551" y="318150"/>
                </a:lnTo>
                <a:lnTo>
                  <a:pt x="1242978" y="285021"/>
                </a:lnTo>
                <a:lnTo>
                  <a:pt x="1239647" y="251891"/>
                </a:lnTo>
                <a:lnTo>
                  <a:pt x="1242978" y="218761"/>
                </a:lnTo>
                <a:lnTo>
                  <a:pt x="1249551" y="188874"/>
                </a:lnTo>
                <a:lnTo>
                  <a:pt x="1259543" y="159075"/>
                </a:lnTo>
                <a:lnTo>
                  <a:pt x="1272777" y="129276"/>
                </a:lnTo>
                <a:lnTo>
                  <a:pt x="1289342" y="102720"/>
                </a:lnTo>
                <a:lnTo>
                  <a:pt x="1309237" y="79494"/>
                </a:lnTo>
                <a:lnTo>
                  <a:pt x="1332463" y="56355"/>
                </a:lnTo>
                <a:lnTo>
                  <a:pt x="1358932" y="36460"/>
                </a:lnTo>
                <a:lnTo>
                  <a:pt x="1388819" y="23226"/>
                </a:lnTo>
                <a:lnTo>
                  <a:pt x="1418618" y="9904"/>
                </a:lnTo>
                <a:lnTo>
                  <a:pt x="1451747" y="3330"/>
                </a:lnTo>
                <a:close/>
              </a:path>
            </a:pathLst>
          </a:custGeom>
          <a:solidFill>
            <a:srgbClr val="FFFFFF">
              <a:alpha val="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2" name="Google Shape;532;p53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533" name="Google Shape;533;p53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53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53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6" name="Google Shape;536;p53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7" name="Google Shape;537;p53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nybody Light"/>
              <a:buNone/>
              <a:defRPr sz="2000">
                <a:solidFill>
                  <a:schemeClr val="accen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8" name="Google Shape;538;p53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9" name="Google Shape;539;p53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Gradient 1" showMasterSp="0">
  <p:cSld name="1_Cover Slide 1 1 1 1 2">
    <p:bg>
      <p:bgPr>
        <a:solidFill>
          <a:srgbClr val="0D293B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5" y="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54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4" name="Google Shape;544;p54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 Light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5" name="Google Shape;545;p54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546" name="Google Shape;546;p54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47" name="Google Shape;547;p54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548" name="Google Shape;548;p54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54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54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Gradient 2" showMasterSp="0">
  <p:cSld name="SECTION_HEADER_1_1_1_1">
    <p:bg>
      <p:bgPr>
        <a:solidFill>
          <a:srgbClr val="0D293B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55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55" name="Google Shape;555;p55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 Light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6" name="Google Shape;556;p55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557" name="Google Shape;557;p55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58" name="Google Shape;558;p55"/>
          <p:cNvGrpSpPr/>
          <p:nvPr/>
        </p:nvGrpSpPr>
        <p:grpSpPr>
          <a:xfrm>
            <a:off x="7590148" y="361539"/>
            <a:ext cx="1136571" cy="213461"/>
            <a:chOff x="238125" y="2186225"/>
            <a:chExt cx="7143750" cy="1342525"/>
          </a:xfrm>
        </p:grpSpPr>
        <p:sp>
          <p:nvSpPr>
            <p:cNvPr id="559" name="Google Shape;559;p55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55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55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Gradient 3" showMasterSp="0">
  <p:cSld name="SECTION_HEADER_1_1_1_1_1">
    <p:bg>
      <p:bgPr>
        <a:solidFill>
          <a:srgbClr val="0D293B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5" y="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56" title="lines.png"/>
          <p:cNvPicPr preferRelativeResize="0"/>
          <p:nvPr/>
        </p:nvPicPr>
        <p:blipFill rotWithShape="1">
          <a:blip r:embed="rId3">
            <a:alphaModFix/>
          </a:blip>
          <a:srcRect b="40964" l="0" r="29636" t="0"/>
          <a:stretch/>
        </p:blipFill>
        <p:spPr>
          <a:xfrm>
            <a:off x="3070550" y="77750"/>
            <a:ext cx="6073452" cy="5065848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56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66" name="Google Shape;566;p56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 Light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7" name="Google Shape;567;p56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568" name="Google Shape;568;p56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69" name="Google Shape;569;p56"/>
          <p:cNvGrpSpPr/>
          <p:nvPr/>
        </p:nvGrpSpPr>
        <p:grpSpPr>
          <a:xfrm>
            <a:off x="7590148" y="361539"/>
            <a:ext cx="1136571" cy="213461"/>
            <a:chOff x="238125" y="2186225"/>
            <a:chExt cx="7143750" cy="1342525"/>
          </a:xfrm>
        </p:grpSpPr>
        <p:sp>
          <p:nvSpPr>
            <p:cNvPr id="570" name="Google Shape;570;p56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56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56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Gradient 3 1" showMasterSp="0">
  <p:cSld name="SECTION_HEADER_1_1_1_1_1_1">
    <p:bg>
      <p:bgPr>
        <a:solidFill>
          <a:srgbClr val="0D293B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5" y="1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57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6" name="Google Shape;576;p57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 Light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77" name="Google Shape;577;p57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578" name="Google Shape;578;p57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79" name="Google Shape;579;p57"/>
          <p:cNvGrpSpPr/>
          <p:nvPr/>
        </p:nvGrpSpPr>
        <p:grpSpPr>
          <a:xfrm>
            <a:off x="7590148" y="361539"/>
            <a:ext cx="1136571" cy="213461"/>
            <a:chOff x="238125" y="2186225"/>
            <a:chExt cx="7143750" cy="1342525"/>
          </a:xfrm>
        </p:grpSpPr>
        <p:sp>
          <p:nvSpPr>
            <p:cNvPr id="580" name="Google Shape;580;p57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57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57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83" name="Google Shape;583;p57" title="lines-2.png"/>
          <p:cNvPicPr preferRelativeResize="0"/>
          <p:nvPr/>
        </p:nvPicPr>
        <p:blipFill rotWithShape="1">
          <a:blip r:embed="rId3">
            <a:alphaModFix/>
          </a:blip>
          <a:srcRect b="0" l="13107" r="15925" t="0"/>
          <a:stretch/>
        </p:blipFill>
        <p:spPr>
          <a:xfrm rot="-5400000">
            <a:off x="3496313" y="-498412"/>
            <a:ext cx="5158574" cy="613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Gradient 4" showMasterSp="0">
  <p:cSld name="1_Cover Slide 1 1 1 1">
    <p:bg>
      <p:bgPr>
        <a:solidFill>
          <a:srgbClr val="0D293B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5" y="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58"/>
          <p:cNvPicPr preferRelativeResize="0"/>
          <p:nvPr/>
        </p:nvPicPr>
        <p:blipFill rotWithShape="1">
          <a:blip r:embed="rId3">
            <a:alphaModFix amt="35000"/>
          </a:blip>
          <a:srcRect b="0" l="0" r="20127" t="0"/>
          <a:stretch/>
        </p:blipFill>
        <p:spPr>
          <a:xfrm>
            <a:off x="1840513" y="0"/>
            <a:ext cx="730348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58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8" name="Google Shape;588;p58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 Light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9" name="Google Shape;589;p58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590" name="Google Shape;590;p58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91" name="Google Shape;591;p58"/>
          <p:cNvGrpSpPr/>
          <p:nvPr/>
        </p:nvGrpSpPr>
        <p:grpSpPr>
          <a:xfrm>
            <a:off x="7590148" y="361539"/>
            <a:ext cx="1136571" cy="213461"/>
            <a:chOff x="238125" y="2186225"/>
            <a:chExt cx="7143750" cy="1342525"/>
          </a:xfrm>
        </p:grpSpPr>
        <p:sp>
          <p:nvSpPr>
            <p:cNvPr id="592" name="Google Shape;592;p58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58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58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Gradient 5" showMasterSp="0">
  <p:cSld name="1_Cover Slide 1 1 1 1 3">
    <p:bg>
      <p:bgPr>
        <a:solidFill>
          <a:srgbClr val="0D293B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5" y="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59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99" name="Google Shape;599;p59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 Light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0" name="Google Shape;600;p59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601" name="Google Shape;601;p59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02" name="Google Shape;602;p59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603" name="Google Shape;603;p59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59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59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Gradient 6" showMasterSp="0">
  <p:cSld name="1_Cover Slide 1 1 1 1 4">
    <p:bg>
      <p:bgPr>
        <a:solidFill>
          <a:srgbClr val="0D293B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5" y="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60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10" name="Google Shape;610;p60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 Light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11" name="Google Shape;611;p60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612" name="Google Shape;612;p60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13" name="Google Shape;613;p60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614" name="Google Shape;614;p60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60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60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Gradient 7" showMasterSp="0">
  <p:cSld name="1_Cover Slide 1 1 1 1 5">
    <p:bg>
      <p:bgPr>
        <a:solidFill>
          <a:srgbClr val="0D293B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5" y="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61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1" name="Google Shape;621;p61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 Light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22" name="Google Shape;622;p61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623" name="Google Shape;623;p61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24" name="Google Shape;624;p61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625" name="Google Shape;625;p61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61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61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Gradient 8" showMasterSp="0">
  <p:cSld name="1_Cover Slide 1 1 1 1 6">
    <p:bg>
      <p:bgPr>
        <a:solidFill>
          <a:srgbClr val="0D293B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5" y="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62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2" name="Google Shape;632;p62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 Light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3" name="Google Shape;633;p62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634" name="Google Shape;634;p62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35" name="Google Shape;635;p62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636" name="Google Shape;636;p62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62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62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Gradient 9" showMasterSp="0">
  <p:cSld name="1_Cover Slide 1 1 1 1 7">
    <p:bg>
      <p:bgPr>
        <a:solidFill>
          <a:srgbClr val="0D293B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5" y="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63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43" name="Google Shape;643;p63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 Light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4" name="Google Shape;644;p63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5" name="Google Shape;645;p63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46" name="Google Shape;646;p63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647" name="Google Shape;647;p63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63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63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Gradient 10" showMasterSp="0">
  <p:cSld name="1_Cover Slide 1 1 1 1 8">
    <p:bg>
      <p:bgPr>
        <a:solidFill>
          <a:srgbClr val="0D293B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5" y="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64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54" name="Google Shape;654;p64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 Light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55" name="Google Shape;655;p64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656" name="Google Shape;656;p64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57" name="Google Shape;657;p64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658" name="Google Shape;658;p64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64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64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Gradient 11" showMasterSp="0">
  <p:cSld name="1_Cover Slide 1 1 1 1 9">
    <p:bg>
      <p:bgPr>
        <a:solidFill>
          <a:srgbClr val="0D293B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Google Shape;662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5" y="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65"/>
          <p:cNvPicPr preferRelativeResize="0"/>
          <p:nvPr/>
        </p:nvPicPr>
        <p:blipFill rotWithShape="1">
          <a:blip r:embed="rId3">
            <a:alphaModFix/>
          </a:blip>
          <a:srcRect b="11325" l="0" r="31113" t="44109"/>
          <a:stretch/>
        </p:blipFill>
        <p:spPr>
          <a:xfrm>
            <a:off x="3855501" y="1"/>
            <a:ext cx="5288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65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5" name="Google Shape;665;p65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 Light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66" name="Google Shape;666;p65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667" name="Google Shape;667;p65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68" name="Google Shape;668;p65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669" name="Google Shape;669;p65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65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65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Gradient 12" showMasterSp="0">
  <p:cSld name="1_Cover Slide 1 1 1 1 10">
    <p:bg>
      <p:bgPr>
        <a:solidFill>
          <a:srgbClr val="0D293B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5" y="1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66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5" name="Google Shape;675;p66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nybody Light"/>
              <a:buNone/>
              <a:defRPr sz="2000"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76" name="Google Shape;676;p66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ubik Light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677" name="Google Shape;677;p66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78" name="Google Shape;678;p66"/>
          <p:cNvGrpSpPr/>
          <p:nvPr/>
        </p:nvGrpSpPr>
        <p:grpSpPr>
          <a:xfrm>
            <a:off x="7590148" y="361538"/>
            <a:ext cx="1136571" cy="213461"/>
            <a:chOff x="238125" y="2186225"/>
            <a:chExt cx="7143750" cy="1342525"/>
          </a:xfrm>
        </p:grpSpPr>
        <p:sp>
          <p:nvSpPr>
            <p:cNvPr id="679" name="Google Shape;679;p66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66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66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82" name="Google Shape;682;p66"/>
          <p:cNvPicPr preferRelativeResize="0"/>
          <p:nvPr/>
        </p:nvPicPr>
        <p:blipFill rotWithShape="1">
          <a:blip r:embed="rId3">
            <a:alphaModFix/>
          </a:blip>
          <a:srcRect b="58566" l="0" r="31113" t="-3132"/>
          <a:stretch/>
        </p:blipFill>
        <p:spPr>
          <a:xfrm>
            <a:off x="3855501" y="1"/>
            <a:ext cx="5288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_Half">
  <p:cSld name="TITLE_2_3_8">
    <p:bg>
      <p:bgPr>
        <a:solidFill>
          <a:srgbClr val="0D293B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7"/>
          <p:cNvSpPr/>
          <p:nvPr/>
        </p:nvSpPr>
        <p:spPr>
          <a:xfrm>
            <a:off x="0" y="0"/>
            <a:ext cx="4584000" cy="5143500"/>
          </a:xfrm>
          <a:prstGeom prst="rect">
            <a:avLst/>
          </a:prstGeom>
          <a:solidFill>
            <a:srgbClr val="FEF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67"/>
          <p:cNvSpPr txBox="1"/>
          <p:nvPr>
            <p:ph type="ctrTitle"/>
          </p:nvPr>
        </p:nvSpPr>
        <p:spPr>
          <a:xfrm>
            <a:off x="413300" y="407325"/>
            <a:ext cx="3631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686" name="Google Shape;686;p67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687" name="Google Shape;687;p67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67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67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0" name="Google Shape;690;p67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_navy">
  <p:cSld name="TITLE_ONLY_1">
    <p:bg>
      <p:bgPr>
        <a:solidFill>
          <a:schemeClr val="dk1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68"/>
          <p:cNvSpPr txBox="1"/>
          <p:nvPr>
            <p:ph type="title"/>
          </p:nvPr>
        </p:nvSpPr>
        <p:spPr>
          <a:xfrm>
            <a:off x="413300" y="413975"/>
            <a:ext cx="723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3" name="Google Shape;693;p68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94" name="Google Shape;694;p68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695" name="Google Shape;695;p68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68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68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navy">
  <p:cSld name="TITLE_2_1_2_1_1_1_1_1_1_1_2_1">
    <p:bg>
      <p:bgPr>
        <a:solidFill>
          <a:schemeClr val="dk1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9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00" name="Google Shape;700;p69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701" name="Google Shape;701;p69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69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69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. Simple Content Slide 2">
  <p:cSld name="TITLE_2_3_1_8_2">
    <p:bg>
      <p:bgPr>
        <a:solidFill>
          <a:schemeClr val="lt1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70"/>
          <p:cNvSpPr/>
          <p:nvPr/>
        </p:nvSpPr>
        <p:spPr>
          <a:xfrm>
            <a:off x="-6481475" y="-4709675"/>
            <a:ext cx="14961900" cy="7631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706" name="Google Shape;706;p70"/>
          <p:cNvSpPr/>
          <p:nvPr/>
        </p:nvSpPr>
        <p:spPr>
          <a:xfrm>
            <a:off x="-6481325" y="-4709675"/>
            <a:ext cx="14961900" cy="76311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85725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grpSp>
        <p:nvGrpSpPr>
          <p:cNvPr id="707" name="Google Shape;707;p70"/>
          <p:cNvGrpSpPr/>
          <p:nvPr/>
        </p:nvGrpSpPr>
        <p:grpSpPr>
          <a:xfrm>
            <a:off x="414442" y="273670"/>
            <a:ext cx="730806" cy="137340"/>
            <a:chOff x="238125" y="2186225"/>
            <a:chExt cx="7143750" cy="1342525"/>
          </a:xfrm>
        </p:grpSpPr>
        <p:sp>
          <p:nvSpPr>
            <p:cNvPr id="708" name="Google Shape;708;p70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70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70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1" name="Google Shape;711;p70"/>
          <p:cNvSpPr txBox="1"/>
          <p:nvPr>
            <p:ph type="ctrTitle"/>
          </p:nvPr>
        </p:nvSpPr>
        <p:spPr>
          <a:xfrm>
            <a:off x="413300" y="636225"/>
            <a:ext cx="52719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12" name="Google Shape;712;p70"/>
          <p:cNvSpPr txBox="1"/>
          <p:nvPr>
            <p:ph idx="1" type="subTitle"/>
          </p:nvPr>
        </p:nvSpPr>
        <p:spPr>
          <a:xfrm>
            <a:off x="413300" y="1054174"/>
            <a:ext cx="5271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3" name="Google Shape;713;p70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. Simple Content Slide 2">
  <p:cSld name="13. Simple Content Slide_1">
    <p:bg>
      <p:bgPr>
        <a:solidFill>
          <a:schemeClr val="dk1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5" name="Google Shape;715;p71"/>
          <p:cNvGrpSpPr/>
          <p:nvPr/>
        </p:nvGrpSpPr>
        <p:grpSpPr>
          <a:xfrm>
            <a:off x="7995642" y="273671"/>
            <a:ext cx="730806" cy="137340"/>
            <a:chOff x="238125" y="2186225"/>
            <a:chExt cx="7143750" cy="1342525"/>
          </a:xfrm>
        </p:grpSpPr>
        <p:sp>
          <p:nvSpPr>
            <p:cNvPr id="716" name="Google Shape;716;p71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71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71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9" name="Google Shape;719;p71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0" name="Google Shape;720;p71"/>
          <p:cNvSpPr txBox="1"/>
          <p:nvPr>
            <p:ph type="title"/>
          </p:nvPr>
        </p:nvSpPr>
        <p:spPr>
          <a:xfrm>
            <a:off x="413300" y="413975"/>
            <a:ext cx="723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1" name="Google Shape;721;p71"/>
          <p:cNvSpPr txBox="1"/>
          <p:nvPr>
            <p:ph idx="1" type="subTitle"/>
          </p:nvPr>
        </p:nvSpPr>
        <p:spPr>
          <a:xfrm>
            <a:off x="413300" y="866950"/>
            <a:ext cx="718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lt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le_white 2">
  <p:cSld name="TITLE_AND_BODY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72"/>
          <p:cNvSpPr txBox="1"/>
          <p:nvPr>
            <p:ph type="title"/>
          </p:nvPr>
        </p:nvSpPr>
        <p:spPr>
          <a:xfrm>
            <a:off x="413300" y="413975"/>
            <a:ext cx="83130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24" name="Google Shape;724;p72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5" name="Google Shape;725;p72"/>
          <p:cNvSpPr txBox="1"/>
          <p:nvPr>
            <p:ph idx="1" type="subTitle"/>
          </p:nvPr>
        </p:nvSpPr>
        <p:spPr>
          <a:xfrm>
            <a:off x="413300" y="866950"/>
            <a:ext cx="8313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  <p:grpSp>
        <p:nvGrpSpPr>
          <p:cNvPr id="726" name="Google Shape;726;p72"/>
          <p:cNvGrpSpPr/>
          <p:nvPr/>
        </p:nvGrpSpPr>
        <p:grpSpPr>
          <a:xfrm>
            <a:off x="7995642" y="273670"/>
            <a:ext cx="730806" cy="137340"/>
            <a:chOff x="238125" y="2186225"/>
            <a:chExt cx="7143750" cy="1342525"/>
          </a:xfrm>
        </p:grpSpPr>
        <p:sp>
          <p:nvSpPr>
            <p:cNvPr id="727" name="Google Shape;727;p72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72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72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.Content Slide_Two Points 1">
  <p:cSld name="TITLE_2_3_1_5_1_1">
    <p:bg>
      <p:bgPr>
        <a:solidFill>
          <a:schemeClr val="lt1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3"/>
          <p:cNvSpPr/>
          <p:nvPr/>
        </p:nvSpPr>
        <p:spPr>
          <a:xfrm>
            <a:off x="-4350" y="3268200"/>
            <a:ext cx="9152700" cy="1875300"/>
          </a:xfrm>
          <a:prstGeom prst="rect">
            <a:avLst/>
          </a:prstGeom>
          <a:solidFill>
            <a:srgbClr val="55E691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2" name="Google Shape;732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94492" y="253250"/>
            <a:ext cx="733095" cy="154075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73"/>
          <p:cNvSpPr txBox="1"/>
          <p:nvPr>
            <p:ph type="ctrTitle"/>
          </p:nvPr>
        </p:nvSpPr>
        <p:spPr>
          <a:xfrm>
            <a:off x="413300" y="407325"/>
            <a:ext cx="8317500" cy="516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34" name="Google Shape;734;p73"/>
          <p:cNvSpPr txBox="1"/>
          <p:nvPr/>
        </p:nvSpPr>
        <p:spPr>
          <a:xfrm>
            <a:off x="5730800" y="4736175"/>
            <a:ext cx="30000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Fonoa Technologies Ltd. </a:t>
            </a:r>
            <a:endParaRPr sz="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5" name="Google Shape;735;p73"/>
          <p:cNvSpPr txBox="1"/>
          <p:nvPr/>
        </p:nvSpPr>
        <p:spPr>
          <a:xfrm>
            <a:off x="419467" y="4736175"/>
            <a:ext cx="3975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ubik"/>
                <a:ea typeface="Rubik"/>
                <a:cs typeface="Rubik"/>
                <a:sym typeface="Rubik"/>
              </a:rPr>
              <a:t>  </a:t>
            </a:r>
            <a:fld id="{00000000-1234-1234-1234-123412341234}" type="slidenum">
              <a:rPr lang="en" sz="800">
                <a:solidFill>
                  <a:schemeClr val="lt2"/>
                </a:solidFill>
                <a:latin typeface="Rubik"/>
                <a:ea typeface="Rubik"/>
                <a:cs typeface="Rubik"/>
                <a:sym typeface="Rubik"/>
              </a:rPr>
              <a:t>‹#›</a:t>
            </a:fld>
            <a:endParaRPr sz="800">
              <a:solidFill>
                <a:schemeClr val="lt2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60">
          <p15:clr>
            <a:srgbClr val="FA7B17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_3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4"/>
          <p:cNvSpPr txBox="1"/>
          <p:nvPr>
            <p:ph type="title"/>
          </p:nvPr>
        </p:nvSpPr>
        <p:spPr>
          <a:xfrm>
            <a:off x="413300" y="413975"/>
            <a:ext cx="622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38" name="Google Shape;738;p74"/>
          <p:cNvSpPr txBox="1"/>
          <p:nvPr>
            <p:ph idx="1" type="body"/>
          </p:nvPr>
        </p:nvSpPr>
        <p:spPr>
          <a:xfrm>
            <a:off x="413300" y="1940550"/>
            <a:ext cx="8317500" cy="27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>
            <a:lvl1pPr indent="-3111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739" name="Google Shape;739;p74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0" name="Google Shape;740;p74"/>
          <p:cNvSpPr txBox="1"/>
          <p:nvPr>
            <p:ph idx="2" type="subTitle"/>
          </p:nvPr>
        </p:nvSpPr>
        <p:spPr>
          <a:xfrm>
            <a:off x="413300" y="866950"/>
            <a:ext cx="7189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ybody"/>
              <a:buNone/>
              <a:defRPr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  <p:grpSp>
        <p:nvGrpSpPr>
          <p:cNvPr id="741" name="Google Shape;741;p74"/>
          <p:cNvGrpSpPr/>
          <p:nvPr/>
        </p:nvGrpSpPr>
        <p:grpSpPr>
          <a:xfrm>
            <a:off x="7995642" y="273671"/>
            <a:ext cx="730806" cy="137340"/>
            <a:chOff x="238125" y="2186225"/>
            <a:chExt cx="7143750" cy="1342525"/>
          </a:xfrm>
        </p:grpSpPr>
        <p:sp>
          <p:nvSpPr>
            <p:cNvPr id="742" name="Google Shape;742;p74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74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74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le_white 3">
  <p:cSld name="TITLE_AND_BODY_1_1_2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75"/>
          <p:cNvSpPr/>
          <p:nvPr/>
        </p:nvSpPr>
        <p:spPr>
          <a:xfrm rot="-5400000">
            <a:off x="545929" y="-549450"/>
            <a:ext cx="5143500" cy="6242400"/>
          </a:xfrm>
          <a:prstGeom prst="round2SameRect">
            <a:avLst>
              <a:gd fmla="val 0" name="adj1"/>
              <a:gd fmla="val 0" name="adj2"/>
            </a:avLst>
          </a:prstGeom>
          <a:gradFill>
            <a:gsLst>
              <a:gs pos="0">
                <a:srgbClr val="E0EBFB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75"/>
          <p:cNvSpPr txBox="1"/>
          <p:nvPr>
            <p:ph type="title"/>
          </p:nvPr>
        </p:nvSpPr>
        <p:spPr>
          <a:xfrm>
            <a:off x="413300" y="954413"/>
            <a:ext cx="28575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48" name="Google Shape;748;p75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49" name="Google Shape;749;p75"/>
          <p:cNvGrpSpPr/>
          <p:nvPr/>
        </p:nvGrpSpPr>
        <p:grpSpPr>
          <a:xfrm>
            <a:off x="7995642" y="273671"/>
            <a:ext cx="730806" cy="137340"/>
            <a:chOff x="238125" y="2186225"/>
            <a:chExt cx="7143750" cy="1342525"/>
          </a:xfrm>
        </p:grpSpPr>
        <p:sp>
          <p:nvSpPr>
            <p:cNvPr id="750" name="Google Shape;750;p75"/>
            <p:cNvSpPr/>
            <p:nvPr/>
          </p:nvSpPr>
          <p:spPr>
            <a:xfrm>
              <a:off x="238125" y="2197550"/>
              <a:ext cx="1007850" cy="1294350"/>
            </a:xfrm>
            <a:custGeom>
              <a:rect b="b" l="l" r="r" t="t"/>
              <a:pathLst>
                <a:path extrusionOk="0" h="51774" w="40314">
                  <a:moveTo>
                    <a:pt x="23182" y="25906"/>
                  </a:moveTo>
                  <a:lnTo>
                    <a:pt x="23182" y="25906"/>
                  </a:lnTo>
                  <a:lnTo>
                    <a:pt x="23598" y="25868"/>
                  </a:lnTo>
                  <a:lnTo>
                    <a:pt x="23976" y="25792"/>
                  </a:lnTo>
                  <a:lnTo>
                    <a:pt x="24317" y="25641"/>
                  </a:lnTo>
                  <a:lnTo>
                    <a:pt x="24657" y="25490"/>
                  </a:lnTo>
                  <a:lnTo>
                    <a:pt x="24960" y="25263"/>
                  </a:lnTo>
                  <a:lnTo>
                    <a:pt x="25224" y="25036"/>
                  </a:lnTo>
                  <a:lnTo>
                    <a:pt x="25451" y="24734"/>
                  </a:lnTo>
                  <a:lnTo>
                    <a:pt x="25640" y="24431"/>
                  </a:lnTo>
                  <a:lnTo>
                    <a:pt x="25792" y="24128"/>
                  </a:lnTo>
                  <a:lnTo>
                    <a:pt x="25905" y="23750"/>
                  </a:lnTo>
                  <a:lnTo>
                    <a:pt x="25981" y="23410"/>
                  </a:lnTo>
                  <a:lnTo>
                    <a:pt x="26019" y="23032"/>
                  </a:lnTo>
                  <a:lnTo>
                    <a:pt x="25981" y="22654"/>
                  </a:lnTo>
                  <a:lnTo>
                    <a:pt x="25905" y="22313"/>
                  </a:lnTo>
                  <a:lnTo>
                    <a:pt x="25754" y="21935"/>
                  </a:lnTo>
                  <a:lnTo>
                    <a:pt x="25565" y="21595"/>
                  </a:lnTo>
                  <a:lnTo>
                    <a:pt x="14598" y="4350"/>
                  </a:lnTo>
                  <a:lnTo>
                    <a:pt x="14598" y="4350"/>
                  </a:lnTo>
                  <a:lnTo>
                    <a:pt x="14409" y="3972"/>
                  </a:lnTo>
                  <a:lnTo>
                    <a:pt x="14257" y="3631"/>
                  </a:lnTo>
                  <a:lnTo>
                    <a:pt x="14182" y="3253"/>
                  </a:lnTo>
                  <a:lnTo>
                    <a:pt x="14144" y="2875"/>
                  </a:lnTo>
                  <a:lnTo>
                    <a:pt x="14182" y="2497"/>
                  </a:lnTo>
                  <a:lnTo>
                    <a:pt x="14257" y="2156"/>
                  </a:lnTo>
                  <a:lnTo>
                    <a:pt x="14371" y="1816"/>
                  </a:lnTo>
                  <a:lnTo>
                    <a:pt x="14522" y="1476"/>
                  </a:lnTo>
                  <a:lnTo>
                    <a:pt x="14711" y="1173"/>
                  </a:lnTo>
                  <a:lnTo>
                    <a:pt x="14938" y="908"/>
                  </a:lnTo>
                  <a:lnTo>
                    <a:pt x="15203" y="644"/>
                  </a:lnTo>
                  <a:lnTo>
                    <a:pt x="15505" y="417"/>
                  </a:lnTo>
                  <a:lnTo>
                    <a:pt x="15846" y="266"/>
                  </a:lnTo>
                  <a:lnTo>
                    <a:pt x="16186" y="114"/>
                  </a:lnTo>
                  <a:lnTo>
                    <a:pt x="16564" y="39"/>
                  </a:lnTo>
                  <a:lnTo>
                    <a:pt x="16980" y="1"/>
                  </a:lnTo>
                  <a:lnTo>
                    <a:pt x="24203" y="1"/>
                  </a:lnTo>
                  <a:lnTo>
                    <a:pt x="24203" y="1"/>
                  </a:lnTo>
                  <a:lnTo>
                    <a:pt x="24544" y="39"/>
                  </a:lnTo>
                  <a:lnTo>
                    <a:pt x="24884" y="114"/>
                  </a:lnTo>
                  <a:lnTo>
                    <a:pt x="25224" y="228"/>
                  </a:lnTo>
                  <a:lnTo>
                    <a:pt x="25527" y="341"/>
                  </a:lnTo>
                  <a:lnTo>
                    <a:pt x="25829" y="530"/>
                  </a:lnTo>
                  <a:lnTo>
                    <a:pt x="26094" y="757"/>
                  </a:lnTo>
                  <a:lnTo>
                    <a:pt x="26321" y="1022"/>
                  </a:lnTo>
                  <a:lnTo>
                    <a:pt x="26548" y="1287"/>
                  </a:lnTo>
                  <a:lnTo>
                    <a:pt x="39860" y="21557"/>
                  </a:lnTo>
                  <a:lnTo>
                    <a:pt x="39860" y="21557"/>
                  </a:lnTo>
                  <a:lnTo>
                    <a:pt x="40049" y="21897"/>
                  </a:lnTo>
                  <a:lnTo>
                    <a:pt x="40200" y="22275"/>
                  </a:lnTo>
                  <a:lnTo>
                    <a:pt x="40276" y="22654"/>
                  </a:lnTo>
                  <a:lnTo>
                    <a:pt x="40314" y="22994"/>
                  </a:lnTo>
                  <a:lnTo>
                    <a:pt x="40314" y="23372"/>
                  </a:lnTo>
                  <a:lnTo>
                    <a:pt x="40238" y="23750"/>
                  </a:lnTo>
                  <a:lnTo>
                    <a:pt x="40125" y="24091"/>
                  </a:lnTo>
                  <a:lnTo>
                    <a:pt x="39973" y="24431"/>
                  </a:lnTo>
                  <a:lnTo>
                    <a:pt x="39784" y="24734"/>
                  </a:lnTo>
                  <a:lnTo>
                    <a:pt x="39557" y="24998"/>
                  </a:lnTo>
                  <a:lnTo>
                    <a:pt x="39293" y="25263"/>
                  </a:lnTo>
                  <a:lnTo>
                    <a:pt x="38990" y="25490"/>
                  </a:lnTo>
                  <a:lnTo>
                    <a:pt x="38650" y="25641"/>
                  </a:lnTo>
                  <a:lnTo>
                    <a:pt x="38309" y="25792"/>
                  </a:lnTo>
                  <a:lnTo>
                    <a:pt x="37931" y="25868"/>
                  </a:lnTo>
                  <a:lnTo>
                    <a:pt x="37515" y="25906"/>
                  </a:lnTo>
                  <a:lnTo>
                    <a:pt x="29989" y="25906"/>
                  </a:lnTo>
                  <a:lnTo>
                    <a:pt x="29989" y="25906"/>
                  </a:lnTo>
                  <a:lnTo>
                    <a:pt x="29649" y="25906"/>
                  </a:lnTo>
                  <a:lnTo>
                    <a:pt x="29309" y="25982"/>
                  </a:lnTo>
                  <a:lnTo>
                    <a:pt x="28968" y="26095"/>
                  </a:lnTo>
                  <a:lnTo>
                    <a:pt x="28666" y="26246"/>
                  </a:lnTo>
                  <a:lnTo>
                    <a:pt x="28363" y="26435"/>
                  </a:lnTo>
                  <a:lnTo>
                    <a:pt x="28098" y="26662"/>
                  </a:lnTo>
                  <a:lnTo>
                    <a:pt x="27834" y="26927"/>
                  </a:lnTo>
                  <a:lnTo>
                    <a:pt x="27645" y="27192"/>
                  </a:lnTo>
                  <a:lnTo>
                    <a:pt x="12820" y="50487"/>
                  </a:lnTo>
                  <a:lnTo>
                    <a:pt x="12820" y="50487"/>
                  </a:lnTo>
                  <a:lnTo>
                    <a:pt x="12631" y="50752"/>
                  </a:lnTo>
                  <a:lnTo>
                    <a:pt x="12366" y="51017"/>
                  </a:lnTo>
                  <a:lnTo>
                    <a:pt x="12102" y="51244"/>
                  </a:lnTo>
                  <a:lnTo>
                    <a:pt x="11837" y="51433"/>
                  </a:lnTo>
                  <a:lnTo>
                    <a:pt x="11497" y="51584"/>
                  </a:lnTo>
                  <a:lnTo>
                    <a:pt x="11156" y="51697"/>
                  </a:lnTo>
                  <a:lnTo>
                    <a:pt x="10816" y="51773"/>
                  </a:lnTo>
                  <a:lnTo>
                    <a:pt x="10475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383" y="51735"/>
                  </a:lnTo>
                  <a:lnTo>
                    <a:pt x="2004" y="51660"/>
                  </a:lnTo>
                  <a:lnTo>
                    <a:pt x="1664" y="51546"/>
                  </a:lnTo>
                  <a:lnTo>
                    <a:pt x="1324" y="51357"/>
                  </a:lnTo>
                  <a:lnTo>
                    <a:pt x="1021" y="51130"/>
                  </a:lnTo>
                  <a:lnTo>
                    <a:pt x="756" y="50903"/>
                  </a:lnTo>
                  <a:lnTo>
                    <a:pt x="529" y="50601"/>
                  </a:lnTo>
                  <a:lnTo>
                    <a:pt x="340" y="50298"/>
                  </a:lnTo>
                  <a:lnTo>
                    <a:pt x="189" y="49958"/>
                  </a:lnTo>
                  <a:lnTo>
                    <a:pt x="76" y="49618"/>
                  </a:lnTo>
                  <a:lnTo>
                    <a:pt x="0" y="49277"/>
                  </a:lnTo>
                  <a:lnTo>
                    <a:pt x="0" y="48899"/>
                  </a:lnTo>
                  <a:lnTo>
                    <a:pt x="38" y="48521"/>
                  </a:lnTo>
                  <a:lnTo>
                    <a:pt x="113" y="48143"/>
                  </a:lnTo>
                  <a:lnTo>
                    <a:pt x="265" y="47764"/>
                  </a:lnTo>
                  <a:lnTo>
                    <a:pt x="454" y="47424"/>
                  </a:lnTo>
                  <a:lnTo>
                    <a:pt x="13766" y="27154"/>
                  </a:lnTo>
                  <a:lnTo>
                    <a:pt x="13766" y="27154"/>
                  </a:lnTo>
                  <a:lnTo>
                    <a:pt x="13993" y="26889"/>
                  </a:lnTo>
                  <a:lnTo>
                    <a:pt x="14219" y="26624"/>
                  </a:lnTo>
                  <a:lnTo>
                    <a:pt x="14522" y="26435"/>
                  </a:lnTo>
                  <a:lnTo>
                    <a:pt x="14787" y="26246"/>
                  </a:lnTo>
                  <a:lnTo>
                    <a:pt x="15127" y="26095"/>
                  </a:lnTo>
                  <a:lnTo>
                    <a:pt x="15430" y="25982"/>
                  </a:lnTo>
                  <a:lnTo>
                    <a:pt x="15770" y="25906"/>
                  </a:lnTo>
                  <a:lnTo>
                    <a:pt x="16148" y="25906"/>
                  </a:lnTo>
                  <a:lnTo>
                    <a:pt x="23182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75"/>
            <p:cNvSpPr/>
            <p:nvPr/>
          </p:nvSpPr>
          <p:spPr>
            <a:xfrm>
              <a:off x="891400" y="2197550"/>
              <a:ext cx="1008825" cy="1294350"/>
            </a:xfrm>
            <a:custGeom>
              <a:rect b="b" l="l" r="r" t="t"/>
              <a:pathLst>
                <a:path extrusionOk="0" h="51774" w="40353">
                  <a:moveTo>
                    <a:pt x="23183" y="25906"/>
                  </a:moveTo>
                  <a:lnTo>
                    <a:pt x="23183" y="25906"/>
                  </a:lnTo>
                  <a:lnTo>
                    <a:pt x="23599" y="25868"/>
                  </a:lnTo>
                  <a:lnTo>
                    <a:pt x="23977" y="25792"/>
                  </a:lnTo>
                  <a:lnTo>
                    <a:pt x="24356" y="25641"/>
                  </a:lnTo>
                  <a:lnTo>
                    <a:pt x="24658" y="25490"/>
                  </a:lnTo>
                  <a:lnTo>
                    <a:pt x="24961" y="25263"/>
                  </a:lnTo>
                  <a:lnTo>
                    <a:pt x="25225" y="25036"/>
                  </a:lnTo>
                  <a:lnTo>
                    <a:pt x="25452" y="24734"/>
                  </a:lnTo>
                  <a:lnTo>
                    <a:pt x="25641" y="24431"/>
                  </a:lnTo>
                  <a:lnTo>
                    <a:pt x="25830" y="24128"/>
                  </a:lnTo>
                  <a:lnTo>
                    <a:pt x="25906" y="23750"/>
                  </a:lnTo>
                  <a:lnTo>
                    <a:pt x="25982" y="23410"/>
                  </a:lnTo>
                  <a:lnTo>
                    <a:pt x="26020" y="23032"/>
                  </a:lnTo>
                  <a:lnTo>
                    <a:pt x="25982" y="22654"/>
                  </a:lnTo>
                  <a:lnTo>
                    <a:pt x="25906" y="22313"/>
                  </a:lnTo>
                  <a:lnTo>
                    <a:pt x="25755" y="21935"/>
                  </a:lnTo>
                  <a:lnTo>
                    <a:pt x="25566" y="21595"/>
                  </a:lnTo>
                  <a:lnTo>
                    <a:pt x="14599" y="4350"/>
                  </a:lnTo>
                  <a:lnTo>
                    <a:pt x="14599" y="4350"/>
                  </a:lnTo>
                  <a:lnTo>
                    <a:pt x="14409" y="3972"/>
                  </a:lnTo>
                  <a:lnTo>
                    <a:pt x="14296" y="3631"/>
                  </a:lnTo>
                  <a:lnTo>
                    <a:pt x="14183" y="3253"/>
                  </a:lnTo>
                  <a:lnTo>
                    <a:pt x="14183" y="2875"/>
                  </a:lnTo>
                  <a:lnTo>
                    <a:pt x="14183" y="2497"/>
                  </a:lnTo>
                  <a:lnTo>
                    <a:pt x="14258" y="2156"/>
                  </a:lnTo>
                  <a:lnTo>
                    <a:pt x="14372" y="1816"/>
                  </a:lnTo>
                  <a:lnTo>
                    <a:pt x="14523" y="1476"/>
                  </a:lnTo>
                  <a:lnTo>
                    <a:pt x="14712" y="1173"/>
                  </a:lnTo>
                  <a:lnTo>
                    <a:pt x="14939" y="908"/>
                  </a:lnTo>
                  <a:lnTo>
                    <a:pt x="15204" y="644"/>
                  </a:lnTo>
                  <a:lnTo>
                    <a:pt x="15506" y="417"/>
                  </a:lnTo>
                  <a:lnTo>
                    <a:pt x="15847" y="266"/>
                  </a:lnTo>
                  <a:lnTo>
                    <a:pt x="16187" y="114"/>
                  </a:lnTo>
                  <a:lnTo>
                    <a:pt x="16565" y="39"/>
                  </a:lnTo>
                  <a:lnTo>
                    <a:pt x="16981" y="1"/>
                  </a:lnTo>
                  <a:lnTo>
                    <a:pt x="24204" y="1"/>
                  </a:lnTo>
                  <a:lnTo>
                    <a:pt x="24204" y="1"/>
                  </a:lnTo>
                  <a:lnTo>
                    <a:pt x="24545" y="39"/>
                  </a:lnTo>
                  <a:lnTo>
                    <a:pt x="24885" y="114"/>
                  </a:lnTo>
                  <a:lnTo>
                    <a:pt x="25225" y="228"/>
                  </a:lnTo>
                  <a:lnTo>
                    <a:pt x="25528" y="341"/>
                  </a:lnTo>
                  <a:lnTo>
                    <a:pt x="25830" y="530"/>
                  </a:lnTo>
                  <a:lnTo>
                    <a:pt x="26095" y="757"/>
                  </a:lnTo>
                  <a:lnTo>
                    <a:pt x="26322" y="1022"/>
                  </a:lnTo>
                  <a:lnTo>
                    <a:pt x="26549" y="1287"/>
                  </a:lnTo>
                  <a:lnTo>
                    <a:pt x="39861" y="21557"/>
                  </a:lnTo>
                  <a:lnTo>
                    <a:pt x="39861" y="21557"/>
                  </a:lnTo>
                  <a:lnTo>
                    <a:pt x="40050" y="21897"/>
                  </a:lnTo>
                  <a:lnTo>
                    <a:pt x="40201" y="22275"/>
                  </a:lnTo>
                  <a:lnTo>
                    <a:pt x="40315" y="22654"/>
                  </a:lnTo>
                  <a:lnTo>
                    <a:pt x="40352" y="22994"/>
                  </a:lnTo>
                  <a:lnTo>
                    <a:pt x="40315" y="23372"/>
                  </a:lnTo>
                  <a:lnTo>
                    <a:pt x="40239" y="23750"/>
                  </a:lnTo>
                  <a:lnTo>
                    <a:pt x="40163" y="24091"/>
                  </a:lnTo>
                  <a:lnTo>
                    <a:pt x="40012" y="24431"/>
                  </a:lnTo>
                  <a:lnTo>
                    <a:pt x="39785" y="24734"/>
                  </a:lnTo>
                  <a:lnTo>
                    <a:pt x="39558" y="24998"/>
                  </a:lnTo>
                  <a:lnTo>
                    <a:pt x="39294" y="25263"/>
                  </a:lnTo>
                  <a:lnTo>
                    <a:pt x="38991" y="25490"/>
                  </a:lnTo>
                  <a:lnTo>
                    <a:pt x="38688" y="25641"/>
                  </a:lnTo>
                  <a:lnTo>
                    <a:pt x="38310" y="25792"/>
                  </a:lnTo>
                  <a:lnTo>
                    <a:pt x="37932" y="25868"/>
                  </a:lnTo>
                  <a:lnTo>
                    <a:pt x="37516" y="25906"/>
                  </a:lnTo>
                  <a:lnTo>
                    <a:pt x="30028" y="25906"/>
                  </a:lnTo>
                  <a:lnTo>
                    <a:pt x="30028" y="25906"/>
                  </a:lnTo>
                  <a:lnTo>
                    <a:pt x="29650" y="25906"/>
                  </a:lnTo>
                  <a:lnTo>
                    <a:pt x="29310" y="25982"/>
                  </a:lnTo>
                  <a:lnTo>
                    <a:pt x="28969" y="26095"/>
                  </a:lnTo>
                  <a:lnTo>
                    <a:pt x="28667" y="26246"/>
                  </a:lnTo>
                  <a:lnTo>
                    <a:pt x="28364" y="26435"/>
                  </a:lnTo>
                  <a:lnTo>
                    <a:pt x="28099" y="26662"/>
                  </a:lnTo>
                  <a:lnTo>
                    <a:pt x="27835" y="26927"/>
                  </a:lnTo>
                  <a:lnTo>
                    <a:pt x="27646" y="27192"/>
                  </a:lnTo>
                  <a:lnTo>
                    <a:pt x="12859" y="50487"/>
                  </a:lnTo>
                  <a:lnTo>
                    <a:pt x="12859" y="50487"/>
                  </a:lnTo>
                  <a:lnTo>
                    <a:pt x="12632" y="50752"/>
                  </a:lnTo>
                  <a:lnTo>
                    <a:pt x="12405" y="51017"/>
                  </a:lnTo>
                  <a:lnTo>
                    <a:pt x="12140" y="51244"/>
                  </a:lnTo>
                  <a:lnTo>
                    <a:pt x="11838" y="51433"/>
                  </a:lnTo>
                  <a:lnTo>
                    <a:pt x="11498" y="51584"/>
                  </a:lnTo>
                  <a:lnTo>
                    <a:pt x="11195" y="51697"/>
                  </a:lnTo>
                  <a:lnTo>
                    <a:pt x="10817" y="51773"/>
                  </a:lnTo>
                  <a:lnTo>
                    <a:pt x="10476" y="51773"/>
                  </a:lnTo>
                  <a:lnTo>
                    <a:pt x="2799" y="51773"/>
                  </a:lnTo>
                  <a:lnTo>
                    <a:pt x="2799" y="51773"/>
                  </a:lnTo>
                  <a:lnTo>
                    <a:pt x="2421" y="51735"/>
                  </a:lnTo>
                  <a:lnTo>
                    <a:pt x="2005" y="51660"/>
                  </a:lnTo>
                  <a:lnTo>
                    <a:pt x="1665" y="51546"/>
                  </a:lnTo>
                  <a:lnTo>
                    <a:pt x="1325" y="51357"/>
                  </a:lnTo>
                  <a:lnTo>
                    <a:pt x="1022" y="51130"/>
                  </a:lnTo>
                  <a:lnTo>
                    <a:pt x="757" y="50903"/>
                  </a:lnTo>
                  <a:lnTo>
                    <a:pt x="530" y="50601"/>
                  </a:lnTo>
                  <a:lnTo>
                    <a:pt x="341" y="50298"/>
                  </a:lnTo>
                  <a:lnTo>
                    <a:pt x="190" y="49958"/>
                  </a:lnTo>
                  <a:lnTo>
                    <a:pt x="77" y="49618"/>
                  </a:lnTo>
                  <a:lnTo>
                    <a:pt x="1" y="49277"/>
                  </a:lnTo>
                  <a:lnTo>
                    <a:pt x="1" y="48899"/>
                  </a:lnTo>
                  <a:lnTo>
                    <a:pt x="39" y="48521"/>
                  </a:lnTo>
                  <a:lnTo>
                    <a:pt x="114" y="48143"/>
                  </a:lnTo>
                  <a:lnTo>
                    <a:pt x="266" y="47764"/>
                  </a:lnTo>
                  <a:lnTo>
                    <a:pt x="455" y="47424"/>
                  </a:lnTo>
                  <a:lnTo>
                    <a:pt x="13804" y="27154"/>
                  </a:lnTo>
                  <a:lnTo>
                    <a:pt x="13804" y="27154"/>
                  </a:lnTo>
                  <a:lnTo>
                    <a:pt x="13994" y="26889"/>
                  </a:lnTo>
                  <a:lnTo>
                    <a:pt x="14258" y="26624"/>
                  </a:lnTo>
                  <a:lnTo>
                    <a:pt x="14523" y="26435"/>
                  </a:lnTo>
                  <a:lnTo>
                    <a:pt x="14788" y="26246"/>
                  </a:lnTo>
                  <a:lnTo>
                    <a:pt x="15128" y="26095"/>
                  </a:lnTo>
                  <a:lnTo>
                    <a:pt x="15431" y="25982"/>
                  </a:lnTo>
                  <a:lnTo>
                    <a:pt x="15771" y="25906"/>
                  </a:lnTo>
                  <a:lnTo>
                    <a:pt x="16149" y="25906"/>
                  </a:lnTo>
                  <a:lnTo>
                    <a:pt x="23183" y="25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75"/>
            <p:cNvSpPr/>
            <p:nvPr/>
          </p:nvSpPr>
          <p:spPr>
            <a:xfrm>
              <a:off x="2232050" y="2186225"/>
              <a:ext cx="5149825" cy="1342525"/>
            </a:xfrm>
            <a:custGeom>
              <a:rect b="b" l="l" r="r" t="t"/>
              <a:pathLst>
                <a:path extrusionOk="0" h="53701" w="205993">
                  <a:moveTo>
                    <a:pt x="59034" y="19854"/>
                  </a:moveTo>
                  <a:lnTo>
                    <a:pt x="60093" y="19892"/>
                  </a:lnTo>
                  <a:lnTo>
                    <a:pt x="61076" y="20006"/>
                  </a:lnTo>
                  <a:lnTo>
                    <a:pt x="61983" y="20195"/>
                  </a:lnTo>
                  <a:lnTo>
                    <a:pt x="62399" y="20308"/>
                  </a:lnTo>
                  <a:lnTo>
                    <a:pt x="62815" y="20459"/>
                  </a:lnTo>
                  <a:lnTo>
                    <a:pt x="63194" y="20611"/>
                  </a:lnTo>
                  <a:lnTo>
                    <a:pt x="63534" y="20762"/>
                  </a:lnTo>
                  <a:lnTo>
                    <a:pt x="63874" y="20989"/>
                  </a:lnTo>
                  <a:lnTo>
                    <a:pt x="64215" y="21178"/>
                  </a:lnTo>
                  <a:lnTo>
                    <a:pt x="64517" y="21405"/>
                  </a:lnTo>
                  <a:lnTo>
                    <a:pt x="64782" y="21669"/>
                  </a:lnTo>
                  <a:lnTo>
                    <a:pt x="65047" y="21934"/>
                  </a:lnTo>
                  <a:lnTo>
                    <a:pt x="65274" y="22237"/>
                  </a:lnTo>
                  <a:lnTo>
                    <a:pt x="65690" y="22842"/>
                  </a:lnTo>
                  <a:lnTo>
                    <a:pt x="66068" y="23523"/>
                  </a:lnTo>
                  <a:lnTo>
                    <a:pt x="66408" y="24279"/>
                  </a:lnTo>
                  <a:lnTo>
                    <a:pt x="66673" y="25073"/>
                  </a:lnTo>
                  <a:lnTo>
                    <a:pt x="66862" y="25943"/>
                  </a:lnTo>
                  <a:lnTo>
                    <a:pt x="67013" y="26888"/>
                  </a:lnTo>
                  <a:lnTo>
                    <a:pt x="67089" y="27872"/>
                  </a:lnTo>
                  <a:lnTo>
                    <a:pt x="67127" y="28893"/>
                  </a:lnTo>
                  <a:lnTo>
                    <a:pt x="67127" y="35473"/>
                  </a:lnTo>
                  <a:lnTo>
                    <a:pt x="67089" y="36494"/>
                  </a:lnTo>
                  <a:lnTo>
                    <a:pt x="67013" y="37477"/>
                  </a:lnTo>
                  <a:lnTo>
                    <a:pt x="66862" y="38423"/>
                  </a:lnTo>
                  <a:lnTo>
                    <a:pt x="66673" y="39292"/>
                  </a:lnTo>
                  <a:lnTo>
                    <a:pt x="66408" y="40087"/>
                  </a:lnTo>
                  <a:lnTo>
                    <a:pt x="66068" y="40843"/>
                  </a:lnTo>
                  <a:lnTo>
                    <a:pt x="65690" y="41524"/>
                  </a:lnTo>
                  <a:lnTo>
                    <a:pt x="65274" y="42129"/>
                  </a:lnTo>
                  <a:lnTo>
                    <a:pt x="65047" y="42431"/>
                  </a:lnTo>
                  <a:lnTo>
                    <a:pt x="64782" y="42696"/>
                  </a:lnTo>
                  <a:lnTo>
                    <a:pt x="64517" y="42961"/>
                  </a:lnTo>
                  <a:lnTo>
                    <a:pt x="64215" y="43188"/>
                  </a:lnTo>
                  <a:lnTo>
                    <a:pt x="63874" y="43377"/>
                  </a:lnTo>
                  <a:lnTo>
                    <a:pt x="63534" y="43566"/>
                  </a:lnTo>
                  <a:lnTo>
                    <a:pt x="63194" y="43755"/>
                  </a:lnTo>
                  <a:lnTo>
                    <a:pt x="62815" y="43906"/>
                  </a:lnTo>
                  <a:lnTo>
                    <a:pt x="62399" y="44058"/>
                  </a:lnTo>
                  <a:lnTo>
                    <a:pt x="61983" y="44171"/>
                  </a:lnTo>
                  <a:lnTo>
                    <a:pt x="61076" y="44360"/>
                  </a:lnTo>
                  <a:lnTo>
                    <a:pt x="60093" y="44474"/>
                  </a:lnTo>
                  <a:lnTo>
                    <a:pt x="59034" y="44511"/>
                  </a:lnTo>
                  <a:lnTo>
                    <a:pt x="57975" y="44474"/>
                  </a:lnTo>
                  <a:lnTo>
                    <a:pt x="56954" y="44360"/>
                  </a:lnTo>
                  <a:lnTo>
                    <a:pt x="56046" y="44171"/>
                  </a:lnTo>
                  <a:lnTo>
                    <a:pt x="55592" y="44058"/>
                  </a:lnTo>
                  <a:lnTo>
                    <a:pt x="55214" y="43906"/>
                  </a:lnTo>
                  <a:lnTo>
                    <a:pt x="54798" y="43755"/>
                  </a:lnTo>
                  <a:lnTo>
                    <a:pt x="54458" y="43566"/>
                  </a:lnTo>
                  <a:lnTo>
                    <a:pt x="54117" y="43377"/>
                  </a:lnTo>
                  <a:lnTo>
                    <a:pt x="53777" y="43188"/>
                  </a:lnTo>
                  <a:lnTo>
                    <a:pt x="53475" y="42961"/>
                  </a:lnTo>
                  <a:lnTo>
                    <a:pt x="53172" y="42696"/>
                  </a:lnTo>
                  <a:lnTo>
                    <a:pt x="52907" y="42431"/>
                  </a:lnTo>
                  <a:lnTo>
                    <a:pt x="52680" y="42129"/>
                  </a:lnTo>
                  <a:lnTo>
                    <a:pt x="52264" y="41524"/>
                  </a:lnTo>
                  <a:lnTo>
                    <a:pt x="51886" y="40843"/>
                  </a:lnTo>
                  <a:lnTo>
                    <a:pt x="51584" y="40087"/>
                  </a:lnTo>
                  <a:lnTo>
                    <a:pt x="51319" y="39292"/>
                  </a:lnTo>
                  <a:lnTo>
                    <a:pt x="51130" y="38423"/>
                  </a:lnTo>
                  <a:lnTo>
                    <a:pt x="50979" y="37477"/>
                  </a:lnTo>
                  <a:lnTo>
                    <a:pt x="50903" y="36494"/>
                  </a:lnTo>
                  <a:lnTo>
                    <a:pt x="50865" y="35473"/>
                  </a:lnTo>
                  <a:lnTo>
                    <a:pt x="50865" y="28893"/>
                  </a:lnTo>
                  <a:lnTo>
                    <a:pt x="50903" y="27872"/>
                  </a:lnTo>
                  <a:lnTo>
                    <a:pt x="50979" y="26888"/>
                  </a:lnTo>
                  <a:lnTo>
                    <a:pt x="51130" y="25943"/>
                  </a:lnTo>
                  <a:lnTo>
                    <a:pt x="51319" y="25073"/>
                  </a:lnTo>
                  <a:lnTo>
                    <a:pt x="51584" y="24279"/>
                  </a:lnTo>
                  <a:lnTo>
                    <a:pt x="51886" y="23523"/>
                  </a:lnTo>
                  <a:lnTo>
                    <a:pt x="52264" y="22842"/>
                  </a:lnTo>
                  <a:lnTo>
                    <a:pt x="52680" y="22237"/>
                  </a:lnTo>
                  <a:lnTo>
                    <a:pt x="52907" y="21934"/>
                  </a:lnTo>
                  <a:lnTo>
                    <a:pt x="53172" y="21669"/>
                  </a:lnTo>
                  <a:lnTo>
                    <a:pt x="53475" y="21405"/>
                  </a:lnTo>
                  <a:lnTo>
                    <a:pt x="53777" y="21178"/>
                  </a:lnTo>
                  <a:lnTo>
                    <a:pt x="54117" y="20989"/>
                  </a:lnTo>
                  <a:lnTo>
                    <a:pt x="54458" y="20762"/>
                  </a:lnTo>
                  <a:lnTo>
                    <a:pt x="54798" y="20611"/>
                  </a:lnTo>
                  <a:lnTo>
                    <a:pt x="55214" y="20459"/>
                  </a:lnTo>
                  <a:lnTo>
                    <a:pt x="55592" y="20308"/>
                  </a:lnTo>
                  <a:lnTo>
                    <a:pt x="56046" y="20195"/>
                  </a:lnTo>
                  <a:lnTo>
                    <a:pt x="56954" y="20006"/>
                  </a:lnTo>
                  <a:lnTo>
                    <a:pt x="57975" y="19892"/>
                  </a:lnTo>
                  <a:lnTo>
                    <a:pt x="59034" y="19854"/>
                  </a:lnTo>
                  <a:close/>
                  <a:moveTo>
                    <a:pt x="145296" y="19854"/>
                  </a:moveTo>
                  <a:lnTo>
                    <a:pt x="146355" y="19892"/>
                  </a:lnTo>
                  <a:lnTo>
                    <a:pt x="147338" y="20006"/>
                  </a:lnTo>
                  <a:lnTo>
                    <a:pt x="148245" y="20195"/>
                  </a:lnTo>
                  <a:lnTo>
                    <a:pt x="148661" y="20308"/>
                  </a:lnTo>
                  <a:lnTo>
                    <a:pt x="149040" y="20459"/>
                  </a:lnTo>
                  <a:lnTo>
                    <a:pt x="149418" y="20611"/>
                  </a:lnTo>
                  <a:lnTo>
                    <a:pt x="149796" y="20762"/>
                  </a:lnTo>
                  <a:lnTo>
                    <a:pt x="150136" y="20989"/>
                  </a:lnTo>
                  <a:lnTo>
                    <a:pt x="150439" y="21178"/>
                  </a:lnTo>
                  <a:lnTo>
                    <a:pt x="150741" y="21405"/>
                  </a:lnTo>
                  <a:lnTo>
                    <a:pt x="151006" y="21669"/>
                  </a:lnTo>
                  <a:lnTo>
                    <a:pt x="151271" y="21934"/>
                  </a:lnTo>
                  <a:lnTo>
                    <a:pt x="151498" y="22237"/>
                  </a:lnTo>
                  <a:lnTo>
                    <a:pt x="151952" y="22842"/>
                  </a:lnTo>
                  <a:lnTo>
                    <a:pt x="152330" y="23523"/>
                  </a:lnTo>
                  <a:lnTo>
                    <a:pt x="152632" y="24279"/>
                  </a:lnTo>
                  <a:lnTo>
                    <a:pt x="152897" y="25073"/>
                  </a:lnTo>
                  <a:lnTo>
                    <a:pt x="153124" y="25943"/>
                  </a:lnTo>
                  <a:lnTo>
                    <a:pt x="153275" y="26888"/>
                  </a:lnTo>
                  <a:lnTo>
                    <a:pt x="153351" y="27872"/>
                  </a:lnTo>
                  <a:lnTo>
                    <a:pt x="153389" y="28893"/>
                  </a:lnTo>
                  <a:lnTo>
                    <a:pt x="153389" y="35473"/>
                  </a:lnTo>
                  <a:lnTo>
                    <a:pt x="153351" y="36494"/>
                  </a:lnTo>
                  <a:lnTo>
                    <a:pt x="153275" y="37477"/>
                  </a:lnTo>
                  <a:lnTo>
                    <a:pt x="153124" y="38423"/>
                  </a:lnTo>
                  <a:lnTo>
                    <a:pt x="152897" y="39292"/>
                  </a:lnTo>
                  <a:lnTo>
                    <a:pt x="152632" y="40087"/>
                  </a:lnTo>
                  <a:lnTo>
                    <a:pt x="152330" y="40843"/>
                  </a:lnTo>
                  <a:lnTo>
                    <a:pt x="151952" y="41524"/>
                  </a:lnTo>
                  <a:lnTo>
                    <a:pt x="151498" y="42129"/>
                  </a:lnTo>
                  <a:lnTo>
                    <a:pt x="151271" y="42431"/>
                  </a:lnTo>
                  <a:lnTo>
                    <a:pt x="151006" y="42696"/>
                  </a:lnTo>
                  <a:lnTo>
                    <a:pt x="150741" y="42961"/>
                  </a:lnTo>
                  <a:lnTo>
                    <a:pt x="150439" y="43188"/>
                  </a:lnTo>
                  <a:lnTo>
                    <a:pt x="150136" y="43377"/>
                  </a:lnTo>
                  <a:lnTo>
                    <a:pt x="149796" y="43566"/>
                  </a:lnTo>
                  <a:lnTo>
                    <a:pt x="149418" y="43755"/>
                  </a:lnTo>
                  <a:lnTo>
                    <a:pt x="149040" y="43906"/>
                  </a:lnTo>
                  <a:lnTo>
                    <a:pt x="148661" y="44058"/>
                  </a:lnTo>
                  <a:lnTo>
                    <a:pt x="148245" y="44171"/>
                  </a:lnTo>
                  <a:lnTo>
                    <a:pt x="147338" y="44360"/>
                  </a:lnTo>
                  <a:lnTo>
                    <a:pt x="146355" y="44474"/>
                  </a:lnTo>
                  <a:lnTo>
                    <a:pt x="145296" y="44511"/>
                  </a:lnTo>
                  <a:lnTo>
                    <a:pt x="144199" y="44474"/>
                  </a:lnTo>
                  <a:lnTo>
                    <a:pt x="143216" y="44360"/>
                  </a:lnTo>
                  <a:lnTo>
                    <a:pt x="142270" y="44171"/>
                  </a:lnTo>
                  <a:lnTo>
                    <a:pt x="141854" y="44058"/>
                  </a:lnTo>
                  <a:lnTo>
                    <a:pt x="141438" y="43906"/>
                  </a:lnTo>
                  <a:lnTo>
                    <a:pt x="141060" y="43755"/>
                  </a:lnTo>
                  <a:lnTo>
                    <a:pt x="140682" y="43566"/>
                  </a:lnTo>
                  <a:lnTo>
                    <a:pt x="140342" y="43377"/>
                  </a:lnTo>
                  <a:lnTo>
                    <a:pt x="140001" y="43188"/>
                  </a:lnTo>
                  <a:lnTo>
                    <a:pt x="139699" y="42961"/>
                  </a:lnTo>
                  <a:lnTo>
                    <a:pt x="139434" y="42696"/>
                  </a:lnTo>
                  <a:lnTo>
                    <a:pt x="139169" y="42431"/>
                  </a:lnTo>
                  <a:lnTo>
                    <a:pt x="138905" y="42129"/>
                  </a:lnTo>
                  <a:lnTo>
                    <a:pt x="138489" y="41524"/>
                  </a:lnTo>
                  <a:lnTo>
                    <a:pt x="138148" y="40843"/>
                  </a:lnTo>
                  <a:lnTo>
                    <a:pt x="137846" y="40087"/>
                  </a:lnTo>
                  <a:lnTo>
                    <a:pt x="137581" y="39292"/>
                  </a:lnTo>
                  <a:lnTo>
                    <a:pt x="137392" y="38423"/>
                  </a:lnTo>
                  <a:lnTo>
                    <a:pt x="137241" y="37477"/>
                  </a:lnTo>
                  <a:lnTo>
                    <a:pt x="137165" y="36494"/>
                  </a:lnTo>
                  <a:lnTo>
                    <a:pt x="137127" y="35473"/>
                  </a:lnTo>
                  <a:lnTo>
                    <a:pt x="137127" y="28893"/>
                  </a:lnTo>
                  <a:lnTo>
                    <a:pt x="137165" y="27872"/>
                  </a:lnTo>
                  <a:lnTo>
                    <a:pt x="137241" y="26888"/>
                  </a:lnTo>
                  <a:lnTo>
                    <a:pt x="137392" y="25943"/>
                  </a:lnTo>
                  <a:lnTo>
                    <a:pt x="137581" y="25073"/>
                  </a:lnTo>
                  <a:lnTo>
                    <a:pt x="137846" y="24279"/>
                  </a:lnTo>
                  <a:lnTo>
                    <a:pt x="138148" y="23523"/>
                  </a:lnTo>
                  <a:lnTo>
                    <a:pt x="138489" y="22842"/>
                  </a:lnTo>
                  <a:lnTo>
                    <a:pt x="138905" y="22237"/>
                  </a:lnTo>
                  <a:lnTo>
                    <a:pt x="139169" y="21934"/>
                  </a:lnTo>
                  <a:lnTo>
                    <a:pt x="139434" y="21669"/>
                  </a:lnTo>
                  <a:lnTo>
                    <a:pt x="139699" y="21405"/>
                  </a:lnTo>
                  <a:lnTo>
                    <a:pt x="140001" y="21178"/>
                  </a:lnTo>
                  <a:lnTo>
                    <a:pt x="140342" y="20989"/>
                  </a:lnTo>
                  <a:lnTo>
                    <a:pt x="140682" y="20762"/>
                  </a:lnTo>
                  <a:lnTo>
                    <a:pt x="141060" y="20611"/>
                  </a:lnTo>
                  <a:lnTo>
                    <a:pt x="141438" y="20459"/>
                  </a:lnTo>
                  <a:lnTo>
                    <a:pt x="141854" y="20308"/>
                  </a:lnTo>
                  <a:lnTo>
                    <a:pt x="142270" y="20195"/>
                  </a:lnTo>
                  <a:lnTo>
                    <a:pt x="143216" y="20006"/>
                  </a:lnTo>
                  <a:lnTo>
                    <a:pt x="144199" y="19892"/>
                  </a:lnTo>
                  <a:lnTo>
                    <a:pt x="145296" y="19854"/>
                  </a:lnTo>
                  <a:close/>
                  <a:moveTo>
                    <a:pt x="195253" y="32296"/>
                  </a:moveTo>
                  <a:lnTo>
                    <a:pt x="195253" y="36154"/>
                  </a:lnTo>
                  <a:lnTo>
                    <a:pt x="195064" y="37137"/>
                  </a:lnTo>
                  <a:lnTo>
                    <a:pt x="194799" y="38045"/>
                  </a:lnTo>
                  <a:lnTo>
                    <a:pt x="194496" y="38914"/>
                  </a:lnTo>
                  <a:lnTo>
                    <a:pt x="194080" y="39746"/>
                  </a:lnTo>
                  <a:lnTo>
                    <a:pt x="193627" y="40503"/>
                  </a:lnTo>
                  <a:lnTo>
                    <a:pt x="193097" y="41183"/>
                  </a:lnTo>
                  <a:lnTo>
                    <a:pt x="192454" y="41864"/>
                  </a:lnTo>
                  <a:lnTo>
                    <a:pt x="191774" y="42469"/>
                  </a:lnTo>
                  <a:lnTo>
                    <a:pt x="191017" y="42999"/>
                  </a:lnTo>
                  <a:lnTo>
                    <a:pt x="190261" y="43452"/>
                  </a:lnTo>
                  <a:lnTo>
                    <a:pt x="189391" y="43868"/>
                  </a:lnTo>
                  <a:lnTo>
                    <a:pt x="188521" y="44209"/>
                  </a:lnTo>
                  <a:lnTo>
                    <a:pt x="187576" y="44436"/>
                  </a:lnTo>
                  <a:lnTo>
                    <a:pt x="186630" y="44625"/>
                  </a:lnTo>
                  <a:lnTo>
                    <a:pt x="185609" y="44738"/>
                  </a:lnTo>
                  <a:lnTo>
                    <a:pt x="184513" y="44776"/>
                  </a:lnTo>
                  <a:lnTo>
                    <a:pt x="183870" y="44776"/>
                  </a:lnTo>
                  <a:lnTo>
                    <a:pt x="183302" y="44738"/>
                  </a:lnTo>
                  <a:lnTo>
                    <a:pt x="182735" y="44663"/>
                  </a:lnTo>
                  <a:lnTo>
                    <a:pt x="182244" y="44587"/>
                  </a:lnTo>
                  <a:lnTo>
                    <a:pt x="181790" y="44474"/>
                  </a:lnTo>
                  <a:lnTo>
                    <a:pt x="181374" y="44322"/>
                  </a:lnTo>
                  <a:lnTo>
                    <a:pt x="180996" y="44171"/>
                  </a:lnTo>
                  <a:lnTo>
                    <a:pt x="180655" y="43982"/>
                  </a:lnTo>
                  <a:lnTo>
                    <a:pt x="180390" y="43793"/>
                  </a:lnTo>
                  <a:lnTo>
                    <a:pt x="180126" y="43528"/>
                  </a:lnTo>
                  <a:lnTo>
                    <a:pt x="179937" y="43226"/>
                  </a:lnTo>
                  <a:lnTo>
                    <a:pt x="179748" y="42923"/>
                  </a:lnTo>
                  <a:lnTo>
                    <a:pt x="179634" y="42583"/>
                  </a:lnTo>
                  <a:lnTo>
                    <a:pt x="179521" y="42204"/>
                  </a:lnTo>
                  <a:lnTo>
                    <a:pt x="179483" y="41788"/>
                  </a:lnTo>
                  <a:lnTo>
                    <a:pt x="179445" y="41372"/>
                  </a:lnTo>
                  <a:lnTo>
                    <a:pt x="179483" y="40994"/>
                  </a:lnTo>
                  <a:lnTo>
                    <a:pt x="179521" y="40654"/>
                  </a:lnTo>
                  <a:lnTo>
                    <a:pt x="179596" y="40351"/>
                  </a:lnTo>
                  <a:lnTo>
                    <a:pt x="179710" y="40049"/>
                  </a:lnTo>
                  <a:lnTo>
                    <a:pt x="179861" y="39746"/>
                  </a:lnTo>
                  <a:lnTo>
                    <a:pt x="180050" y="39482"/>
                  </a:lnTo>
                  <a:lnTo>
                    <a:pt x="180277" y="39217"/>
                  </a:lnTo>
                  <a:lnTo>
                    <a:pt x="180542" y="38990"/>
                  </a:lnTo>
                  <a:lnTo>
                    <a:pt x="180844" y="38763"/>
                  </a:lnTo>
                  <a:lnTo>
                    <a:pt x="181185" y="38536"/>
                  </a:lnTo>
                  <a:lnTo>
                    <a:pt x="181563" y="38309"/>
                  </a:lnTo>
                  <a:lnTo>
                    <a:pt x="182017" y="38082"/>
                  </a:lnTo>
                  <a:lnTo>
                    <a:pt x="182470" y="37855"/>
                  </a:lnTo>
                  <a:lnTo>
                    <a:pt x="183000" y="37666"/>
                  </a:lnTo>
                  <a:lnTo>
                    <a:pt x="184210" y="37250"/>
                  </a:lnTo>
                  <a:lnTo>
                    <a:pt x="188257" y="36154"/>
                  </a:lnTo>
                  <a:lnTo>
                    <a:pt x="189542" y="35775"/>
                  </a:lnTo>
                  <a:lnTo>
                    <a:pt x="190753" y="35359"/>
                  </a:lnTo>
                  <a:lnTo>
                    <a:pt x="191811" y="34981"/>
                  </a:lnTo>
                  <a:lnTo>
                    <a:pt x="192681" y="34641"/>
                  </a:lnTo>
                  <a:lnTo>
                    <a:pt x="193400" y="34301"/>
                  </a:lnTo>
                  <a:lnTo>
                    <a:pt x="193702" y="34111"/>
                  </a:lnTo>
                  <a:lnTo>
                    <a:pt x="193967" y="33922"/>
                  </a:lnTo>
                  <a:lnTo>
                    <a:pt x="194270" y="33695"/>
                  </a:lnTo>
                  <a:lnTo>
                    <a:pt x="194496" y="33469"/>
                  </a:lnTo>
                  <a:lnTo>
                    <a:pt x="194723" y="33204"/>
                  </a:lnTo>
                  <a:lnTo>
                    <a:pt x="194912" y="32901"/>
                  </a:lnTo>
                  <a:lnTo>
                    <a:pt x="195102" y="32637"/>
                  </a:lnTo>
                  <a:lnTo>
                    <a:pt x="195253" y="32296"/>
                  </a:lnTo>
                  <a:close/>
                  <a:moveTo>
                    <a:pt x="0" y="0"/>
                  </a:moveTo>
                  <a:lnTo>
                    <a:pt x="0" y="53058"/>
                  </a:lnTo>
                  <a:lnTo>
                    <a:pt x="11157" y="53058"/>
                  </a:lnTo>
                  <a:lnTo>
                    <a:pt x="11157" y="33204"/>
                  </a:lnTo>
                  <a:lnTo>
                    <a:pt x="35133" y="33204"/>
                  </a:lnTo>
                  <a:lnTo>
                    <a:pt x="35133" y="23447"/>
                  </a:lnTo>
                  <a:lnTo>
                    <a:pt x="11157" y="23447"/>
                  </a:lnTo>
                  <a:lnTo>
                    <a:pt x="11157" y="9757"/>
                  </a:lnTo>
                  <a:lnTo>
                    <a:pt x="36721" y="9757"/>
                  </a:lnTo>
                  <a:lnTo>
                    <a:pt x="36721" y="0"/>
                  </a:lnTo>
                  <a:close/>
                  <a:moveTo>
                    <a:pt x="107138" y="10665"/>
                  </a:moveTo>
                  <a:lnTo>
                    <a:pt x="106154" y="10702"/>
                  </a:lnTo>
                  <a:lnTo>
                    <a:pt x="105171" y="10778"/>
                  </a:lnTo>
                  <a:lnTo>
                    <a:pt x="104226" y="10929"/>
                  </a:lnTo>
                  <a:lnTo>
                    <a:pt x="103318" y="11118"/>
                  </a:lnTo>
                  <a:lnTo>
                    <a:pt x="102448" y="11383"/>
                  </a:lnTo>
                  <a:lnTo>
                    <a:pt x="101579" y="11686"/>
                  </a:lnTo>
                  <a:lnTo>
                    <a:pt x="100747" y="12026"/>
                  </a:lnTo>
                  <a:lnTo>
                    <a:pt x="99952" y="12480"/>
                  </a:lnTo>
                  <a:lnTo>
                    <a:pt x="99196" y="12934"/>
                  </a:lnTo>
                  <a:lnTo>
                    <a:pt x="98477" y="13463"/>
                  </a:lnTo>
                  <a:lnTo>
                    <a:pt x="97759" y="13993"/>
                  </a:lnTo>
                  <a:lnTo>
                    <a:pt x="97116" y="14598"/>
                  </a:lnTo>
                  <a:lnTo>
                    <a:pt x="96473" y="15278"/>
                  </a:lnTo>
                  <a:lnTo>
                    <a:pt x="95868" y="15959"/>
                  </a:lnTo>
                  <a:lnTo>
                    <a:pt x="95301" y="16678"/>
                  </a:lnTo>
                  <a:lnTo>
                    <a:pt x="94734" y="17472"/>
                  </a:lnTo>
                  <a:lnTo>
                    <a:pt x="94734" y="11307"/>
                  </a:lnTo>
                  <a:lnTo>
                    <a:pt x="84031" y="11307"/>
                  </a:lnTo>
                  <a:lnTo>
                    <a:pt x="84031" y="53058"/>
                  </a:lnTo>
                  <a:lnTo>
                    <a:pt x="94734" y="53058"/>
                  </a:lnTo>
                  <a:lnTo>
                    <a:pt x="94734" y="28250"/>
                  </a:lnTo>
                  <a:lnTo>
                    <a:pt x="94771" y="27418"/>
                  </a:lnTo>
                  <a:lnTo>
                    <a:pt x="94847" y="26624"/>
                  </a:lnTo>
                  <a:lnTo>
                    <a:pt x="94998" y="25829"/>
                  </a:lnTo>
                  <a:lnTo>
                    <a:pt x="95150" y="25073"/>
                  </a:lnTo>
                  <a:lnTo>
                    <a:pt x="95414" y="24355"/>
                  </a:lnTo>
                  <a:lnTo>
                    <a:pt x="95679" y="23674"/>
                  </a:lnTo>
                  <a:lnTo>
                    <a:pt x="96019" y="22993"/>
                  </a:lnTo>
                  <a:lnTo>
                    <a:pt x="96435" y="22350"/>
                  </a:lnTo>
                  <a:lnTo>
                    <a:pt x="96662" y="22048"/>
                  </a:lnTo>
                  <a:lnTo>
                    <a:pt x="96889" y="21783"/>
                  </a:lnTo>
                  <a:lnTo>
                    <a:pt x="97154" y="21518"/>
                  </a:lnTo>
                  <a:lnTo>
                    <a:pt x="97456" y="21253"/>
                  </a:lnTo>
                  <a:lnTo>
                    <a:pt x="97759" y="21027"/>
                  </a:lnTo>
                  <a:lnTo>
                    <a:pt x="98099" y="20838"/>
                  </a:lnTo>
                  <a:lnTo>
                    <a:pt x="98440" y="20648"/>
                  </a:lnTo>
                  <a:lnTo>
                    <a:pt x="98818" y="20459"/>
                  </a:lnTo>
                  <a:lnTo>
                    <a:pt x="99234" y="20346"/>
                  </a:lnTo>
                  <a:lnTo>
                    <a:pt x="99650" y="20195"/>
                  </a:lnTo>
                  <a:lnTo>
                    <a:pt x="100066" y="20081"/>
                  </a:lnTo>
                  <a:lnTo>
                    <a:pt x="100520" y="20006"/>
                  </a:lnTo>
                  <a:lnTo>
                    <a:pt x="101503" y="19892"/>
                  </a:lnTo>
                  <a:lnTo>
                    <a:pt x="102600" y="19854"/>
                  </a:lnTo>
                  <a:lnTo>
                    <a:pt x="103507" y="19892"/>
                  </a:lnTo>
                  <a:lnTo>
                    <a:pt x="104339" y="19968"/>
                  </a:lnTo>
                  <a:lnTo>
                    <a:pt x="105133" y="20157"/>
                  </a:lnTo>
                  <a:lnTo>
                    <a:pt x="105852" y="20346"/>
                  </a:lnTo>
                  <a:lnTo>
                    <a:pt x="106533" y="20648"/>
                  </a:lnTo>
                  <a:lnTo>
                    <a:pt x="107100" y="20989"/>
                  </a:lnTo>
                  <a:lnTo>
                    <a:pt x="107629" y="21405"/>
                  </a:lnTo>
                  <a:lnTo>
                    <a:pt x="107894" y="21669"/>
                  </a:lnTo>
                  <a:lnTo>
                    <a:pt x="108121" y="21896"/>
                  </a:lnTo>
                  <a:lnTo>
                    <a:pt x="108537" y="22464"/>
                  </a:lnTo>
                  <a:lnTo>
                    <a:pt x="108877" y="23069"/>
                  </a:lnTo>
                  <a:lnTo>
                    <a:pt x="109218" y="23749"/>
                  </a:lnTo>
                  <a:lnTo>
                    <a:pt x="109445" y="24468"/>
                  </a:lnTo>
                  <a:lnTo>
                    <a:pt x="109672" y="25262"/>
                  </a:lnTo>
                  <a:lnTo>
                    <a:pt x="109785" y="26132"/>
                  </a:lnTo>
                  <a:lnTo>
                    <a:pt x="109861" y="27077"/>
                  </a:lnTo>
                  <a:lnTo>
                    <a:pt x="109898" y="28061"/>
                  </a:lnTo>
                  <a:lnTo>
                    <a:pt x="109898" y="53058"/>
                  </a:lnTo>
                  <a:lnTo>
                    <a:pt x="120639" y="53058"/>
                  </a:lnTo>
                  <a:lnTo>
                    <a:pt x="120639" y="26851"/>
                  </a:lnTo>
                  <a:lnTo>
                    <a:pt x="120601" y="25943"/>
                  </a:lnTo>
                  <a:lnTo>
                    <a:pt x="120563" y="25035"/>
                  </a:lnTo>
                  <a:lnTo>
                    <a:pt x="120525" y="24203"/>
                  </a:lnTo>
                  <a:lnTo>
                    <a:pt x="120412" y="23333"/>
                  </a:lnTo>
                  <a:lnTo>
                    <a:pt x="120298" y="22539"/>
                  </a:lnTo>
                  <a:lnTo>
                    <a:pt x="120147" y="21745"/>
                  </a:lnTo>
                  <a:lnTo>
                    <a:pt x="119958" y="20951"/>
                  </a:lnTo>
                  <a:lnTo>
                    <a:pt x="119731" y="20232"/>
                  </a:lnTo>
                  <a:lnTo>
                    <a:pt x="119504" y="19514"/>
                  </a:lnTo>
                  <a:lnTo>
                    <a:pt x="119239" y="18795"/>
                  </a:lnTo>
                  <a:lnTo>
                    <a:pt x="118975" y="18115"/>
                  </a:lnTo>
                  <a:lnTo>
                    <a:pt x="118634" y="17472"/>
                  </a:lnTo>
                  <a:lnTo>
                    <a:pt x="118294" y="16829"/>
                  </a:lnTo>
                  <a:lnTo>
                    <a:pt x="117916" y="16224"/>
                  </a:lnTo>
                  <a:lnTo>
                    <a:pt x="117538" y="15656"/>
                  </a:lnTo>
                  <a:lnTo>
                    <a:pt x="117084" y="15089"/>
                  </a:lnTo>
                  <a:lnTo>
                    <a:pt x="116630" y="14560"/>
                  </a:lnTo>
                  <a:lnTo>
                    <a:pt x="116176" y="14068"/>
                  </a:lnTo>
                  <a:lnTo>
                    <a:pt x="115685" y="13577"/>
                  </a:lnTo>
                  <a:lnTo>
                    <a:pt x="115155" y="13161"/>
                  </a:lnTo>
                  <a:lnTo>
                    <a:pt x="114626" y="12745"/>
                  </a:lnTo>
                  <a:lnTo>
                    <a:pt x="114058" y="12404"/>
                  </a:lnTo>
                  <a:lnTo>
                    <a:pt x="113453" y="12064"/>
                  </a:lnTo>
                  <a:lnTo>
                    <a:pt x="112848" y="11761"/>
                  </a:lnTo>
                  <a:lnTo>
                    <a:pt x="112205" y="11497"/>
                  </a:lnTo>
                  <a:lnTo>
                    <a:pt x="111562" y="11270"/>
                  </a:lnTo>
                  <a:lnTo>
                    <a:pt x="110882" y="11081"/>
                  </a:lnTo>
                  <a:lnTo>
                    <a:pt x="110163" y="10929"/>
                  </a:lnTo>
                  <a:lnTo>
                    <a:pt x="109445" y="10816"/>
                  </a:lnTo>
                  <a:lnTo>
                    <a:pt x="108688" y="10740"/>
                  </a:lnTo>
                  <a:lnTo>
                    <a:pt x="107932" y="10665"/>
                  </a:lnTo>
                  <a:close/>
                  <a:moveTo>
                    <a:pt x="59034" y="10665"/>
                  </a:moveTo>
                  <a:lnTo>
                    <a:pt x="57861" y="10702"/>
                  </a:lnTo>
                  <a:lnTo>
                    <a:pt x="56727" y="10740"/>
                  </a:lnTo>
                  <a:lnTo>
                    <a:pt x="55630" y="10854"/>
                  </a:lnTo>
                  <a:lnTo>
                    <a:pt x="54571" y="10967"/>
                  </a:lnTo>
                  <a:lnTo>
                    <a:pt x="53550" y="11156"/>
                  </a:lnTo>
                  <a:lnTo>
                    <a:pt x="52567" y="11383"/>
                  </a:lnTo>
                  <a:lnTo>
                    <a:pt x="51621" y="11648"/>
                  </a:lnTo>
                  <a:lnTo>
                    <a:pt x="50714" y="11950"/>
                  </a:lnTo>
                  <a:lnTo>
                    <a:pt x="49844" y="12253"/>
                  </a:lnTo>
                  <a:lnTo>
                    <a:pt x="48974" y="12631"/>
                  </a:lnTo>
                  <a:lnTo>
                    <a:pt x="48180" y="13047"/>
                  </a:lnTo>
                  <a:lnTo>
                    <a:pt x="47424" y="13501"/>
                  </a:lnTo>
                  <a:lnTo>
                    <a:pt x="46705" y="14030"/>
                  </a:lnTo>
                  <a:lnTo>
                    <a:pt x="45987" y="14560"/>
                  </a:lnTo>
                  <a:lnTo>
                    <a:pt x="45344" y="15127"/>
                  </a:lnTo>
                  <a:lnTo>
                    <a:pt x="44701" y="15732"/>
                  </a:lnTo>
                  <a:lnTo>
                    <a:pt x="44134" y="16375"/>
                  </a:lnTo>
                  <a:lnTo>
                    <a:pt x="43604" y="17056"/>
                  </a:lnTo>
                  <a:lnTo>
                    <a:pt x="43075" y="17774"/>
                  </a:lnTo>
                  <a:lnTo>
                    <a:pt x="42621" y="18531"/>
                  </a:lnTo>
                  <a:lnTo>
                    <a:pt x="42167" y="19287"/>
                  </a:lnTo>
                  <a:lnTo>
                    <a:pt x="41789" y="20119"/>
                  </a:lnTo>
                  <a:lnTo>
                    <a:pt x="41411" y="20951"/>
                  </a:lnTo>
                  <a:lnTo>
                    <a:pt x="41108" y="21821"/>
                  </a:lnTo>
                  <a:lnTo>
                    <a:pt x="40806" y="22691"/>
                  </a:lnTo>
                  <a:lnTo>
                    <a:pt x="40579" y="23636"/>
                  </a:lnTo>
                  <a:lnTo>
                    <a:pt x="40352" y="24581"/>
                  </a:lnTo>
                  <a:lnTo>
                    <a:pt x="40201" y="25603"/>
                  </a:lnTo>
                  <a:lnTo>
                    <a:pt x="40087" y="26624"/>
                  </a:lnTo>
                  <a:lnTo>
                    <a:pt x="39974" y="27682"/>
                  </a:lnTo>
                  <a:lnTo>
                    <a:pt x="39936" y="28741"/>
                  </a:lnTo>
                  <a:lnTo>
                    <a:pt x="39898" y="29876"/>
                  </a:lnTo>
                  <a:lnTo>
                    <a:pt x="39898" y="34490"/>
                  </a:lnTo>
                  <a:lnTo>
                    <a:pt x="39936" y="35624"/>
                  </a:lnTo>
                  <a:lnTo>
                    <a:pt x="39974" y="36683"/>
                  </a:lnTo>
                  <a:lnTo>
                    <a:pt x="40087" y="37742"/>
                  </a:lnTo>
                  <a:lnTo>
                    <a:pt x="40201" y="38763"/>
                  </a:lnTo>
                  <a:lnTo>
                    <a:pt x="40352" y="39746"/>
                  </a:lnTo>
                  <a:lnTo>
                    <a:pt x="40579" y="40730"/>
                  </a:lnTo>
                  <a:lnTo>
                    <a:pt x="40806" y="41637"/>
                  </a:lnTo>
                  <a:lnTo>
                    <a:pt x="41108" y="42545"/>
                  </a:lnTo>
                  <a:lnTo>
                    <a:pt x="41411" y="43415"/>
                  </a:lnTo>
                  <a:lnTo>
                    <a:pt x="41789" y="44247"/>
                  </a:lnTo>
                  <a:lnTo>
                    <a:pt x="42167" y="45079"/>
                  </a:lnTo>
                  <a:lnTo>
                    <a:pt x="42621" y="45835"/>
                  </a:lnTo>
                  <a:lnTo>
                    <a:pt x="43075" y="46591"/>
                  </a:lnTo>
                  <a:lnTo>
                    <a:pt x="43604" y="47310"/>
                  </a:lnTo>
                  <a:lnTo>
                    <a:pt x="44134" y="47991"/>
                  </a:lnTo>
                  <a:lnTo>
                    <a:pt x="44701" y="48633"/>
                  </a:lnTo>
                  <a:lnTo>
                    <a:pt x="45344" y="49239"/>
                  </a:lnTo>
                  <a:lnTo>
                    <a:pt x="46024" y="49806"/>
                  </a:lnTo>
                  <a:lnTo>
                    <a:pt x="46705" y="50335"/>
                  </a:lnTo>
                  <a:lnTo>
                    <a:pt x="47424" y="50827"/>
                  </a:lnTo>
                  <a:lnTo>
                    <a:pt x="48218" y="51281"/>
                  </a:lnTo>
                  <a:lnTo>
                    <a:pt x="49012" y="51697"/>
                  </a:lnTo>
                  <a:lnTo>
                    <a:pt x="49844" y="52075"/>
                  </a:lnTo>
                  <a:lnTo>
                    <a:pt x="50752" y="52415"/>
                  </a:lnTo>
                  <a:lnTo>
                    <a:pt x="51659" y="52718"/>
                  </a:lnTo>
                  <a:lnTo>
                    <a:pt x="52605" y="52982"/>
                  </a:lnTo>
                  <a:lnTo>
                    <a:pt x="53588" y="53209"/>
                  </a:lnTo>
                  <a:lnTo>
                    <a:pt x="54609" y="53398"/>
                  </a:lnTo>
                  <a:lnTo>
                    <a:pt x="55668" y="53512"/>
                  </a:lnTo>
                  <a:lnTo>
                    <a:pt x="56765" y="53625"/>
                  </a:lnTo>
                  <a:lnTo>
                    <a:pt x="57861" y="53663"/>
                  </a:lnTo>
                  <a:lnTo>
                    <a:pt x="59034" y="53701"/>
                  </a:lnTo>
                  <a:lnTo>
                    <a:pt x="60206" y="53663"/>
                  </a:lnTo>
                  <a:lnTo>
                    <a:pt x="61341" y="53625"/>
                  </a:lnTo>
                  <a:lnTo>
                    <a:pt x="62399" y="53512"/>
                  </a:lnTo>
                  <a:lnTo>
                    <a:pt x="63458" y="53398"/>
                  </a:lnTo>
                  <a:lnTo>
                    <a:pt x="64479" y="53209"/>
                  </a:lnTo>
                  <a:lnTo>
                    <a:pt x="65463" y="52982"/>
                  </a:lnTo>
                  <a:lnTo>
                    <a:pt x="66408" y="52718"/>
                  </a:lnTo>
                  <a:lnTo>
                    <a:pt x="67316" y="52415"/>
                  </a:lnTo>
                  <a:lnTo>
                    <a:pt x="68186" y="52075"/>
                  </a:lnTo>
                  <a:lnTo>
                    <a:pt x="69018" y="51697"/>
                  </a:lnTo>
                  <a:lnTo>
                    <a:pt x="69850" y="51281"/>
                  </a:lnTo>
                  <a:lnTo>
                    <a:pt x="70606" y="50827"/>
                  </a:lnTo>
                  <a:lnTo>
                    <a:pt x="71324" y="50335"/>
                  </a:lnTo>
                  <a:lnTo>
                    <a:pt x="72005" y="49806"/>
                  </a:lnTo>
                  <a:lnTo>
                    <a:pt x="72686" y="49239"/>
                  </a:lnTo>
                  <a:lnTo>
                    <a:pt x="73291" y="48633"/>
                  </a:lnTo>
                  <a:lnTo>
                    <a:pt x="73896" y="47991"/>
                  </a:lnTo>
                  <a:lnTo>
                    <a:pt x="74425" y="47310"/>
                  </a:lnTo>
                  <a:lnTo>
                    <a:pt x="74917" y="46591"/>
                  </a:lnTo>
                  <a:lnTo>
                    <a:pt x="75409" y="45835"/>
                  </a:lnTo>
                  <a:lnTo>
                    <a:pt x="75825" y="45079"/>
                  </a:lnTo>
                  <a:lnTo>
                    <a:pt x="76241" y="44247"/>
                  </a:lnTo>
                  <a:lnTo>
                    <a:pt x="76581" y="43415"/>
                  </a:lnTo>
                  <a:lnTo>
                    <a:pt x="76921" y="42545"/>
                  </a:lnTo>
                  <a:lnTo>
                    <a:pt x="77186" y="41637"/>
                  </a:lnTo>
                  <a:lnTo>
                    <a:pt x="77451" y="40730"/>
                  </a:lnTo>
                  <a:lnTo>
                    <a:pt x="77640" y="39746"/>
                  </a:lnTo>
                  <a:lnTo>
                    <a:pt x="77829" y="38763"/>
                  </a:lnTo>
                  <a:lnTo>
                    <a:pt x="77943" y="37742"/>
                  </a:lnTo>
                  <a:lnTo>
                    <a:pt x="78056" y="36683"/>
                  </a:lnTo>
                  <a:lnTo>
                    <a:pt x="78094" y="35624"/>
                  </a:lnTo>
                  <a:lnTo>
                    <a:pt x="78132" y="34490"/>
                  </a:lnTo>
                  <a:lnTo>
                    <a:pt x="78132" y="29876"/>
                  </a:lnTo>
                  <a:lnTo>
                    <a:pt x="78094" y="28741"/>
                  </a:lnTo>
                  <a:lnTo>
                    <a:pt x="78056" y="27682"/>
                  </a:lnTo>
                  <a:lnTo>
                    <a:pt x="77943" y="26624"/>
                  </a:lnTo>
                  <a:lnTo>
                    <a:pt x="77829" y="25603"/>
                  </a:lnTo>
                  <a:lnTo>
                    <a:pt x="77640" y="24581"/>
                  </a:lnTo>
                  <a:lnTo>
                    <a:pt x="77451" y="23636"/>
                  </a:lnTo>
                  <a:lnTo>
                    <a:pt x="77186" y="22691"/>
                  </a:lnTo>
                  <a:lnTo>
                    <a:pt x="76921" y="21821"/>
                  </a:lnTo>
                  <a:lnTo>
                    <a:pt x="76581" y="20951"/>
                  </a:lnTo>
                  <a:lnTo>
                    <a:pt x="76241" y="20119"/>
                  </a:lnTo>
                  <a:lnTo>
                    <a:pt x="75825" y="19287"/>
                  </a:lnTo>
                  <a:lnTo>
                    <a:pt x="75409" y="18531"/>
                  </a:lnTo>
                  <a:lnTo>
                    <a:pt x="74917" y="17774"/>
                  </a:lnTo>
                  <a:lnTo>
                    <a:pt x="74425" y="17056"/>
                  </a:lnTo>
                  <a:lnTo>
                    <a:pt x="73896" y="16375"/>
                  </a:lnTo>
                  <a:lnTo>
                    <a:pt x="73291" y="15732"/>
                  </a:lnTo>
                  <a:lnTo>
                    <a:pt x="72686" y="15127"/>
                  </a:lnTo>
                  <a:lnTo>
                    <a:pt x="72005" y="14560"/>
                  </a:lnTo>
                  <a:lnTo>
                    <a:pt x="71324" y="14030"/>
                  </a:lnTo>
                  <a:lnTo>
                    <a:pt x="70606" y="13501"/>
                  </a:lnTo>
                  <a:lnTo>
                    <a:pt x="69850" y="13047"/>
                  </a:lnTo>
                  <a:lnTo>
                    <a:pt x="69018" y="12631"/>
                  </a:lnTo>
                  <a:lnTo>
                    <a:pt x="68186" y="12253"/>
                  </a:lnTo>
                  <a:lnTo>
                    <a:pt x="67316" y="11950"/>
                  </a:lnTo>
                  <a:lnTo>
                    <a:pt x="66408" y="11648"/>
                  </a:lnTo>
                  <a:lnTo>
                    <a:pt x="65463" y="11383"/>
                  </a:lnTo>
                  <a:lnTo>
                    <a:pt x="64479" y="11156"/>
                  </a:lnTo>
                  <a:lnTo>
                    <a:pt x="63458" y="10967"/>
                  </a:lnTo>
                  <a:lnTo>
                    <a:pt x="62399" y="10854"/>
                  </a:lnTo>
                  <a:lnTo>
                    <a:pt x="61341" y="10740"/>
                  </a:lnTo>
                  <a:lnTo>
                    <a:pt x="60206" y="10702"/>
                  </a:lnTo>
                  <a:lnTo>
                    <a:pt x="59034" y="10665"/>
                  </a:lnTo>
                  <a:close/>
                  <a:moveTo>
                    <a:pt x="145296" y="10665"/>
                  </a:moveTo>
                  <a:lnTo>
                    <a:pt x="144123" y="10702"/>
                  </a:lnTo>
                  <a:lnTo>
                    <a:pt x="142989" y="10740"/>
                  </a:lnTo>
                  <a:lnTo>
                    <a:pt x="141892" y="10854"/>
                  </a:lnTo>
                  <a:lnTo>
                    <a:pt x="140833" y="10967"/>
                  </a:lnTo>
                  <a:lnTo>
                    <a:pt x="139812" y="11156"/>
                  </a:lnTo>
                  <a:lnTo>
                    <a:pt x="138829" y="11383"/>
                  </a:lnTo>
                  <a:lnTo>
                    <a:pt x="137846" y="11648"/>
                  </a:lnTo>
                  <a:lnTo>
                    <a:pt x="136938" y="11950"/>
                  </a:lnTo>
                  <a:lnTo>
                    <a:pt x="136068" y="12253"/>
                  </a:lnTo>
                  <a:lnTo>
                    <a:pt x="135236" y="12631"/>
                  </a:lnTo>
                  <a:lnTo>
                    <a:pt x="134442" y="13047"/>
                  </a:lnTo>
                  <a:lnTo>
                    <a:pt x="133648" y="13501"/>
                  </a:lnTo>
                  <a:lnTo>
                    <a:pt x="132929" y="14030"/>
                  </a:lnTo>
                  <a:lnTo>
                    <a:pt x="132249" y="14560"/>
                  </a:lnTo>
                  <a:lnTo>
                    <a:pt x="131568" y="15127"/>
                  </a:lnTo>
                  <a:lnTo>
                    <a:pt x="130963" y="15732"/>
                  </a:lnTo>
                  <a:lnTo>
                    <a:pt x="130358" y="16375"/>
                  </a:lnTo>
                  <a:lnTo>
                    <a:pt x="129828" y="17056"/>
                  </a:lnTo>
                  <a:lnTo>
                    <a:pt x="129337" y="17774"/>
                  </a:lnTo>
                  <a:lnTo>
                    <a:pt x="128845" y="18531"/>
                  </a:lnTo>
                  <a:lnTo>
                    <a:pt x="128429" y="19287"/>
                  </a:lnTo>
                  <a:lnTo>
                    <a:pt x="128013" y="20119"/>
                  </a:lnTo>
                  <a:lnTo>
                    <a:pt x="127673" y="20951"/>
                  </a:lnTo>
                  <a:lnTo>
                    <a:pt x="127332" y="21821"/>
                  </a:lnTo>
                  <a:lnTo>
                    <a:pt x="127068" y="22691"/>
                  </a:lnTo>
                  <a:lnTo>
                    <a:pt x="126803" y="23636"/>
                  </a:lnTo>
                  <a:lnTo>
                    <a:pt x="126614" y="24581"/>
                  </a:lnTo>
                  <a:lnTo>
                    <a:pt x="126425" y="25603"/>
                  </a:lnTo>
                  <a:lnTo>
                    <a:pt x="126311" y="26624"/>
                  </a:lnTo>
                  <a:lnTo>
                    <a:pt x="126236" y="27682"/>
                  </a:lnTo>
                  <a:lnTo>
                    <a:pt x="126160" y="28741"/>
                  </a:lnTo>
                  <a:lnTo>
                    <a:pt x="126160" y="29876"/>
                  </a:lnTo>
                  <a:lnTo>
                    <a:pt x="126160" y="34490"/>
                  </a:lnTo>
                  <a:lnTo>
                    <a:pt x="126160" y="35624"/>
                  </a:lnTo>
                  <a:lnTo>
                    <a:pt x="126236" y="36683"/>
                  </a:lnTo>
                  <a:lnTo>
                    <a:pt x="126311" y="37742"/>
                  </a:lnTo>
                  <a:lnTo>
                    <a:pt x="126425" y="38763"/>
                  </a:lnTo>
                  <a:lnTo>
                    <a:pt x="126614" y="39746"/>
                  </a:lnTo>
                  <a:lnTo>
                    <a:pt x="126803" y="40730"/>
                  </a:lnTo>
                  <a:lnTo>
                    <a:pt x="127068" y="41637"/>
                  </a:lnTo>
                  <a:lnTo>
                    <a:pt x="127332" y="42545"/>
                  </a:lnTo>
                  <a:lnTo>
                    <a:pt x="127673" y="43415"/>
                  </a:lnTo>
                  <a:lnTo>
                    <a:pt x="128013" y="44247"/>
                  </a:lnTo>
                  <a:lnTo>
                    <a:pt x="128429" y="45079"/>
                  </a:lnTo>
                  <a:lnTo>
                    <a:pt x="128845" y="45835"/>
                  </a:lnTo>
                  <a:lnTo>
                    <a:pt x="129337" y="46591"/>
                  </a:lnTo>
                  <a:lnTo>
                    <a:pt x="129828" y="47310"/>
                  </a:lnTo>
                  <a:lnTo>
                    <a:pt x="130358" y="47991"/>
                  </a:lnTo>
                  <a:lnTo>
                    <a:pt x="130963" y="48633"/>
                  </a:lnTo>
                  <a:lnTo>
                    <a:pt x="131606" y="49239"/>
                  </a:lnTo>
                  <a:lnTo>
                    <a:pt x="132249" y="49806"/>
                  </a:lnTo>
                  <a:lnTo>
                    <a:pt x="132967" y="50335"/>
                  </a:lnTo>
                  <a:lnTo>
                    <a:pt x="133686" y="50827"/>
                  </a:lnTo>
                  <a:lnTo>
                    <a:pt x="134442" y="51281"/>
                  </a:lnTo>
                  <a:lnTo>
                    <a:pt x="135274" y="51697"/>
                  </a:lnTo>
                  <a:lnTo>
                    <a:pt x="136106" y="52075"/>
                  </a:lnTo>
                  <a:lnTo>
                    <a:pt x="136976" y="52415"/>
                  </a:lnTo>
                  <a:lnTo>
                    <a:pt x="137883" y="52718"/>
                  </a:lnTo>
                  <a:lnTo>
                    <a:pt x="138829" y="52982"/>
                  </a:lnTo>
                  <a:lnTo>
                    <a:pt x="139812" y="53209"/>
                  </a:lnTo>
                  <a:lnTo>
                    <a:pt x="140833" y="53398"/>
                  </a:lnTo>
                  <a:lnTo>
                    <a:pt x="141892" y="53512"/>
                  </a:lnTo>
                  <a:lnTo>
                    <a:pt x="142989" y="53625"/>
                  </a:lnTo>
                  <a:lnTo>
                    <a:pt x="144123" y="53663"/>
                  </a:lnTo>
                  <a:lnTo>
                    <a:pt x="145296" y="53701"/>
                  </a:lnTo>
                  <a:lnTo>
                    <a:pt x="146430" y="53663"/>
                  </a:lnTo>
                  <a:lnTo>
                    <a:pt x="147565" y="53625"/>
                  </a:lnTo>
                  <a:lnTo>
                    <a:pt x="148661" y="53512"/>
                  </a:lnTo>
                  <a:lnTo>
                    <a:pt x="149720" y="53398"/>
                  </a:lnTo>
                  <a:lnTo>
                    <a:pt x="150741" y="53209"/>
                  </a:lnTo>
                  <a:lnTo>
                    <a:pt x="151725" y="52982"/>
                  </a:lnTo>
                  <a:lnTo>
                    <a:pt x="152670" y="52718"/>
                  </a:lnTo>
                  <a:lnTo>
                    <a:pt x="153578" y="52415"/>
                  </a:lnTo>
                  <a:lnTo>
                    <a:pt x="154448" y="52075"/>
                  </a:lnTo>
                  <a:lnTo>
                    <a:pt x="155280" y="51697"/>
                  </a:lnTo>
                  <a:lnTo>
                    <a:pt x="156074" y="51281"/>
                  </a:lnTo>
                  <a:lnTo>
                    <a:pt x="156830" y="50827"/>
                  </a:lnTo>
                  <a:lnTo>
                    <a:pt x="157586" y="50335"/>
                  </a:lnTo>
                  <a:lnTo>
                    <a:pt x="158267" y="49806"/>
                  </a:lnTo>
                  <a:lnTo>
                    <a:pt x="158910" y="49239"/>
                  </a:lnTo>
                  <a:lnTo>
                    <a:pt x="159553" y="48633"/>
                  </a:lnTo>
                  <a:lnTo>
                    <a:pt x="160120" y="47991"/>
                  </a:lnTo>
                  <a:lnTo>
                    <a:pt x="160687" y="47310"/>
                  </a:lnTo>
                  <a:lnTo>
                    <a:pt x="161179" y="46591"/>
                  </a:lnTo>
                  <a:lnTo>
                    <a:pt x="161633" y="45835"/>
                  </a:lnTo>
                  <a:lnTo>
                    <a:pt x="162087" y="45079"/>
                  </a:lnTo>
                  <a:lnTo>
                    <a:pt x="162465" y="44247"/>
                  </a:lnTo>
                  <a:lnTo>
                    <a:pt x="162843" y="43415"/>
                  </a:lnTo>
                  <a:lnTo>
                    <a:pt x="163146" y="42545"/>
                  </a:lnTo>
                  <a:lnTo>
                    <a:pt x="163448" y="41637"/>
                  </a:lnTo>
                  <a:lnTo>
                    <a:pt x="163675" y="40730"/>
                  </a:lnTo>
                  <a:lnTo>
                    <a:pt x="163902" y="39746"/>
                  </a:lnTo>
                  <a:lnTo>
                    <a:pt x="164053" y="38763"/>
                  </a:lnTo>
                  <a:lnTo>
                    <a:pt x="164205" y="37742"/>
                  </a:lnTo>
                  <a:lnTo>
                    <a:pt x="164280" y="36683"/>
                  </a:lnTo>
                  <a:lnTo>
                    <a:pt x="164356" y="35624"/>
                  </a:lnTo>
                  <a:lnTo>
                    <a:pt x="164356" y="34490"/>
                  </a:lnTo>
                  <a:lnTo>
                    <a:pt x="164356" y="29876"/>
                  </a:lnTo>
                  <a:lnTo>
                    <a:pt x="164356" y="28741"/>
                  </a:lnTo>
                  <a:lnTo>
                    <a:pt x="164280" y="27682"/>
                  </a:lnTo>
                  <a:lnTo>
                    <a:pt x="164205" y="26624"/>
                  </a:lnTo>
                  <a:lnTo>
                    <a:pt x="164053" y="25603"/>
                  </a:lnTo>
                  <a:lnTo>
                    <a:pt x="163902" y="24581"/>
                  </a:lnTo>
                  <a:lnTo>
                    <a:pt x="163675" y="23636"/>
                  </a:lnTo>
                  <a:lnTo>
                    <a:pt x="163448" y="22691"/>
                  </a:lnTo>
                  <a:lnTo>
                    <a:pt x="163146" y="21821"/>
                  </a:lnTo>
                  <a:lnTo>
                    <a:pt x="162843" y="20951"/>
                  </a:lnTo>
                  <a:lnTo>
                    <a:pt x="162465" y="20119"/>
                  </a:lnTo>
                  <a:lnTo>
                    <a:pt x="162087" y="19287"/>
                  </a:lnTo>
                  <a:lnTo>
                    <a:pt x="161633" y="18531"/>
                  </a:lnTo>
                  <a:lnTo>
                    <a:pt x="161179" y="17774"/>
                  </a:lnTo>
                  <a:lnTo>
                    <a:pt x="160687" y="17056"/>
                  </a:lnTo>
                  <a:lnTo>
                    <a:pt x="160120" y="16375"/>
                  </a:lnTo>
                  <a:lnTo>
                    <a:pt x="159553" y="15732"/>
                  </a:lnTo>
                  <a:lnTo>
                    <a:pt x="158910" y="15127"/>
                  </a:lnTo>
                  <a:lnTo>
                    <a:pt x="158267" y="14560"/>
                  </a:lnTo>
                  <a:lnTo>
                    <a:pt x="157586" y="14030"/>
                  </a:lnTo>
                  <a:lnTo>
                    <a:pt x="156830" y="13501"/>
                  </a:lnTo>
                  <a:lnTo>
                    <a:pt x="156074" y="13047"/>
                  </a:lnTo>
                  <a:lnTo>
                    <a:pt x="155280" y="12631"/>
                  </a:lnTo>
                  <a:lnTo>
                    <a:pt x="154448" y="12253"/>
                  </a:lnTo>
                  <a:lnTo>
                    <a:pt x="153578" y="11950"/>
                  </a:lnTo>
                  <a:lnTo>
                    <a:pt x="152670" y="11648"/>
                  </a:lnTo>
                  <a:lnTo>
                    <a:pt x="151725" y="11383"/>
                  </a:lnTo>
                  <a:lnTo>
                    <a:pt x="150741" y="11156"/>
                  </a:lnTo>
                  <a:lnTo>
                    <a:pt x="149720" y="10967"/>
                  </a:lnTo>
                  <a:lnTo>
                    <a:pt x="148661" y="10854"/>
                  </a:lnTo>
                  <a:lnTo>
                    <a:pt x="147565" y="10740"/>
                  </a:lnTo>
                  <a:lnTo>
                    <a:pt x="146430" y="10702"/>
                  </a:lnTo>
                  <a:lnTo>
                    <a:pt x="145296" y="10665"/>
                  </a:lnTo>
                  <a:close/>
                  <a:moveTo>
                    <a:pt x="187387" y="10665"/>
                  </a:moveTo>
                  <a:lnTo>
                    <a:pt x="186328" y="10740"/>
                  </a:lnTo>
                  <a:lnTo>
                    <a:pt x="185269" y="10816"/>
                  </a:lnTo>
                  <a:lnTo>
                    <a:pt x="184248" y="10891"/>
                  </a:lnTo>
                  <a:lnTo>
                    <a:pt x="183265" y="11043"/>
                  </a:lnTo>
                  <a:lnTo>
                    <a:pt x="182319" y="11194"/>
                  </a:lnTo>
                  <a:lnTo>
                    <a:pt x="181412" y="11421"/>
                  </a:lnTo>
                  <a:lnTo>
                    <a:pt x="180542" y="11610"/>
                  </a:lnTo>
                  <a:lnTo>
                    <a:pt x="179672" y="11875"/>
                  </a:lnTo>
                  <a:lnTo>
                    <a:pt x="178878" y="12177"/>
                  </a:lnTo>
                  <a:lnTo>
                    <a:pt x="178084" y="12480"/>
                  </a:lnTo>
                  <a:lnTo>
                    <a:pt x="177327" y="12820"/>
                  </a:lnTo>
                  <a:lnTo>
                    <a:pt x="176647" y="13198"/>
                  </a:lnTo>
                  <a:lnTo>
                    <a:pt x="175966" y="13614"/>
                  </a:lnTo>
                  <a:lnTo>
                    <a:pt x="175323" y="14068"/>
                  </a:lnTo>
                  <a:lnTo>
                    <a:pt x="174680" y="14522"/>
                  </a:lnTo>
                  <a:lnTo>
                    <a:pt x="174113" y="15014"/>
                  </a:lnTo>
                  <a:lnTo>
                    <a:pt x="173583" y="15543"/>
                  </a:lnTo>
                  <a:lnTo>
                    <a:pt x="173092" y="16072"/>
                  </a:lnTo>
                  <a:lnTo>
                    <a:pt x="172638" y="16640"/>
                  </a:lnTo>
                  <a:lnTo>
                    <a:pt x="172222" y="17245"/>
                  </a:lnTo>
                  <a:lnTo>
                    <a:pt x="171844" y="17888"/>
                  </a:lnTo>
                  <a:lnTo>
                    <a:pt x="171503" y="18568"/>
                  </a:lnTo>
                  <a:lnTo>
                    <a:pt x="171163" y="19287"/>
                  </a:lnTo>
                  <a:lnTo>
                    <a:pt x="170898" y="20006"/>
                  </a:lnTo>
                  <a:lnTo>
                    <a:pt x="170671" y="20762"/>
                  </a:lnTo>
                  <a:lnTo>
                    <a:pt x="170482" y="21556"/>
                  </a:lnTo>
                  <a:lnTo>
                    <a:pt x="170293" y="22388"/>
                  </a:lnTo>
                  <a:lnTo>
                    <a:pt x="170180" y="23220"/>
                  </a:lnTo>
                  <a:lnTo>
                    <a:pt x="170066" y="24090"/>
                  </a:lnTo>
                  <a:lnTo>
                    <a:pt x="170028" y="24997"/>
                  </a:lnTo>
                  <a:lnTo>
                    <a:pt x="169991" y="25943"/>
                  </a:lnTo>
                  <a:lnTo>
                    <a:pt x="169991" y="27153"/>
                  </a:lnTo>
                  <a:lnTo>
                    <a:pt x="180806" y="27153"/>
                  </a:lnTo>
                  <a:lnTo>
                    <a:pt x="180806" y="25035"/>
                  </a:lnTo>
                  <a:lnTo>
                    <a:pt x="180844" y="24430"/>
                  </a:lnTo>
                  <a:lnTo>
                    <a:pt x="180920" y="23825"/>
                  </a:lnTo>
                  <a:lnTo>
                    <a:pt x="181033" y="23258"/>
                  </a:lnTo>
                  <a:lnTo>
                    <a:pt x="181260" y="22728"/>
                  </a:lnTo>
                  <a:lnTo>
                    <a:pt x="181487" y="22275"/>
                  </a:lnTo>
                  <a:lnTo>
                    <a:pt x="181828" y="21821"/>
                  </a:lnTo>
                  <a:lnTo>
                    <a:pt x="182168" y="21443"/>
                  </a:lnTo>
                  <a:lnTo>
                    <a:pt x="182584" y="21064"/>
                  </a:lnTo>
                  <a:lnTo>
                    <a:pt x="183113" y="20724"/>
                  </a:lnTo>
                  <a:lnTo>
                    <a:pt x="183681" y="20459"/>
                  </a:lnTo>
                  <a:lnTo>
                    <a:pt x="184324" y="20195"/>
                  </a:lnTo>
                  <a:lnTo>
                    <a:pt x="185042" y="20006"/>
                  </a:lnTo>
                  <a:lnTo>
                    <a:pt x="185836" y="19854"/>
                  </a:lnTo>
                  <a:lnTo>
                    <a:pt x="186706" y="19741"/>
                  </a:lnTo>
                  <a:lnTo>
                    <a:pt x="187614" y="19665"/>
                  </a:lnTo>
                  <a:lnTo>
                    <a:pt x="189467" y="19665"/>
                  </a:lnTo>
                  <a:lnTo>
                    <a:pt x="190261" y="19703"/>
                  </a:lnTo>
                  <a:lnTo>
                    <a:pt x="190979" y="19779"/>
                  </a:lnTo>
                  <a:lnTo>
                    <a:pt x="191622" y="19892"/>
                  </a:lnTo>
                  <a:lnTo>
                    <a:pt x="192227" y="20043"/>
                  </a:lnTo>
                  <a:lnTo>
                    <a:pt x="192757" y="20195"/>
                  </a:lnTo>
                  <a:lnTo>
                    <a:pt x="193211" y="20384"/>
                  </a:lnTo>
                  <a:lnTo>
                    <a:pt x="193627" y="20611"/>
                  </a:lnTo>
                  <a:lnTo>
                    <a:pt x="194005" y="20875"/>
                  </a:lnTo>
                  <a:lnTo>
                    <a:pt x="194345" y="21140"/>
                  </a:lnTo>
                  <a:lnTo>
                    <a:pt x="194610" y="21443"/>
                  </a:lnTo>
                  <a:lnTo>
                    <a:pt x="194837" y="21745"/>
                  </a:lnTo>
                  <a:lnTo>
                    <a:pt x="195026" y="22048"/>
                  </a:lnTo>
                  <a:lnTo>
                    <a:pt x="195139" y="22388"/>
                  </a:lnTo>
                  <a:lnTo>
                    <a:pt x="195215" y="22766"/>
                  </a:lnTo>
                  <a:lnTo>
                    <a:pt x="195253" y="23107"/>
                  </a:lnTo>
                  <a:lnTo>
                    <a:pt x="195253" y="23447"/>
                  </a:lnTo>
                  <a:lnTo>
                    <a:pt x="195215" y="23939"/>
                  </a:lnTo>
                  <a:lnTo>
                    <a:pt x="195139" y="24392"/>
                  </a:lnTo>
                  <a:lnTo>
                    <a:pt x="194988" y="24808"/>
                  </a:lnTo>
                  <a:lnTo>
                    <a:pt x="194761" y="25187"/>
                  </a:lnTo>
                  <a:lnTo>
                    <a:pt x="194496" y="25565"/>
                  </a:lnTo>
                  <a:lnTo>
                    <a:pt x="194156" y="25905"/>
                  </a:lnTo>
                  <a:lnTo>
                    <a:pt x="193778" y="26208"/>
                  </a:lnTo>
                  <a:lnTo>
                    <a:pt x="193324" y="26472"/>
                  </a:lnTo>
                  <a:lnTo>
                    <a:pt x="192795" y="26699"/>
                  </a:lnTo>
                  <a:lnTo>
                    <a:pt x="192190" y="26964"/>
                  </a:lnTo>
                  <a:lnTo>
                    <a:pt x="191471" y="27229"/>
                  </a:lnTo>
                  <a:lnTo>
                    <a:pt x="190639" y="27493"/>
                  </a:lnTo>
                  <a:lnTo>
                    <a:pt x="188786" y="28061"/>
                  </a:lnTo>
                  <a:lnTo>
                    <a:pt x="186517" y="28666"/>
                  </a:lnTo>
                  <a:lnTo>
                    <a:pt x="182092" y="29725"/>
                  </a:lnTo>
                  <a:lnTo>
                    <a:pt x="180617" y="30178"/>
                  </a:lnTo>
                  <a:lnTo>
                    <a:pt x="179218" y="30632"/>
                  </a:lnTo>
                  <a:lnTo>
                    <a:pt x="177895" y="31162"/>
                  </a:lnTo>
                  <a:lnTo>
                    <a:pt x="176647" y="31691"/>
                  </a:lnTo>
                  <a:lnTo>
                    <a:pt x="175474" y="32296"/>
                  </a:lnTo>
                  <a:lnTo>
                    <a:pt x="174340" y="32901"/>
                  </a:lnTo>
                  <a:lnTo>
                    <a:pt x="173319" y="33544"/>
                  </a:lnTo>
                  <a:lnTo>
                    <a:pt x="172335" y="34225"/>
                  </a:lnTo>
                  <a:lnTo>
                    <a:pt x="171882" y="34603"/>
                  </a:lnTo>
                  <a:lnTo>
                    <a:pt x="171466" y="34981"/>
                  </a:lnTo>
                  <a:lnTo>
                    <a:pt x="171050" y="35397"/>
                  </a:lnTo>
                  <a:lnTo>
                    <a:pt x="170709" y="35813"/>
                  </a:lnTo>
                  <a:lnTo>
                    <a:pt x="170369" y="36267"/>
                  </a:lnTo>
                  <a:lnTo>
                    <a:pt x="170066" y="36759"/>
                  </a:lnTo>
                  <a:lnTo>
                    <a:pt x="169764" y="37250"/>
                  </a:lnTo>
                  <a:lnTo>
                    <a:pt x="169537" y="37742"/>
                  </a:lnTo>
                  <a:lnTo>
                    <a:pt x="169310" y="38271"/>
                  </a:lnTo>
                  <a:lnTo>
                    <a:pt x="169121" y="38839"/>
                  </a:lnTo>
                  <a:lnTo>
                    <a:pt x="168970" y="39444"/>
                  </a:lnTo>
                  <a:lnTo>
                    <a:pt x="168818" y="40011"/>
                  </a:lnTo>
                  <a:lnTo>
                    <a:pt x="168743" y="40654"/>
                  </a:lnTo>
                  <a:lnTo>
                    <a:pt x="168667" y="41297"/>
                  </a:lnTo>
                  <a:lnTo>
                    <a:pt x="168591" y="41978"/>
                  </a:lnTo>
                  <a:lnTo>
                    <a:pt x="168591" y="42658"/>
                  </a:lnTo>
                  <a:lnTo>
                    <a:pt x="168591" y="43301"/>
                  </a:lnTo>
                  <a:lnTo>
                    <a:pt x="168629" y="43944"/>
                  </a:lnTo>
                  <a:lnTo>
                    <a:pt x="168705" y="44587"/>
                  </a:lnTo>
                  <a:lnTo>
                    <a:pt x="168780" y="45192"/>
                  </a:lnTo>
                  <a:lnTo>
                    <a:pt x="168894" y="45759"/>
                  </a:lnTo>
                  <a:lnTo>
                    <a:pt x="169045" y="46327"/>
                  </a:lnTo>
                  <a:lnTo>
                    <a:pt x="169196" y="46894"/>
                  </a:lnTo>
                  <a:lnTo>
                    <a:pt x="169386" y="47385"/>
                  </a:lnTo>
                  <a:lnTo>
                    <a:pt x="169612" y="47915"/>
                  </a:lnTo>
                  <a:lnTo>
                    <a:pt x="169839" y="48407"/>
                  </a:lnTo>
                  <a:lnTo>
                    <a:pt x="170104" y="48860"/>
                  </a:lnTo>
                  <a:lnTo>
                    <a:pt x="170407" y="49314"/>
                  </a:lnTo>
                  <a:lnTo>
                    <a:pt x="170709" y="49730"/>
                  </a:lnTo>
                  <a:lnTo>
                    <a:pt x="171050" y="50108"/>
                  </a:lnTo>
                  <a:lnTo>
                    <a:pt x="171428" y="50524"/>
                  </a:lnTo>
                  <a:lnTo>
                    <a:pt x="171806" y="50865"/>
                  </a:lnTo>
                  <a:lnTo>
                    <a:pt x="172222" y="51205"/>
                  </a:lnTo>
                  <a:lnTo>
                    <a:pt x="172676" y="51545"/>
                  </a:lnTo>
                  <a:lnTo>
                    <a:pt x="173129" y="51848"/>
                  </a:lnTo>
                  <a:lnTo>
                    <a:pt x="173621" y="52113"/>
                  </a:lnTo>
                  <a:lnTo>
                    <a:pt x="174113" y="52377"/>
                  </a:lnTo>
                  <a:lnTo>
                    <a:pt x="174642" y="52604"/>
                  </a:lnTo>
                  <a:lnTo>
                    <a:pt x="175209" y="52793"/>
                  </a:lnTo>
                  <a:lnTo>
                    <a:pt x="175777" y="52982"/>
                  </a:lnTo>
                  <a:lnTo>
                    <a:pt x="176382" y="53172"/>
                  </a:lnTo>
                  <a:lnTo>
                    <a:pt x="176987" y="53285"/>
                  </a:lnTo>
                  <a:lnTo>
                    <a:pt x="177630" y="53436"/>
                  </a:lnTo>
                  <a:lnTo>
                    <a:pt x="178273" y="53512"/>
                  </a:lnTo>
                  <a:lnTo>
                    <a:pt x="178953" y="53588"/>
                  </a:lnTo>
                  <a:lnTo>
                    <a:pt x="179672" y="53663"/>
                  </a:lnTo>
                  <a:lnTo>
                    <a:pt x="180390" y="53701"/>
                  </a:lnTo>
                  <a:lnTo>
                    <a:pt x="181109" y="53701"/>
                  </a:lnTo>
                  <a:lnTo>
                    <a:pt x="182244" y="53663"/>
                  </a:lnTo>
                  <a:lnTo>
                    <a:pt x="183378" y="53588"/>
                  </a:lnTo>
                  <a:lnTo>
                    <a:pt x="184475" y="53474"/>
                  </a:lnTo>
                  <a:lnTo>
                    <a:pt x="185534" y="53285"/>
                  </a:lnTo>
                  <a:lnTo>
                    <a:pt x="186555" y="53058"/>
                  </a:lnTo>
                  <a:lnTo>
                    <a:pt x="187538" y="52793"/>
                  </a:lnTo>
                  <a:lnTo>
                    <a:pt x="188521" y="52453"/>
                  </a:lnTo>
                  <a:lnTo>
                    <a:pt x="189467" y="52075"/>
                  </a:lnTo>
                  <a:lnTo>
                    <a:pt x="190412" y="51659"/>
                  </a:lnTo>
                  <a:lnTo>
                    <a:pt x="191282" y="51129"/>
                  </a:lnTo>
                  <a:lnTo>
                    <a:pt x="192114" y="50600"/>
                  </a:lnTo>
                  <a:lnTo>
                    <a:pt x="192908" y="49957"/>
                  </a:lnTo>
                  <a:lnTo>
                    <a:pt x="193627" y="49314"/>
                  </a:lnTo>
                  <a:lnTo>
                    <a:pt x="194307" y="48558"/>
                  </a:lnTo>
                  <a:lnTo>
                    <a:pt x="194988" y="47801"/>
                  </a:lnTo>
                  <a:lnTo>
                    <a:pt x="195555" y="46969"/>
                  </a:lnTo>
                  <a:lnTo>
                    <a:pt x="195555" y="53058"/>
                  </a:lnTo>
                  <a:lnTo>
                    <a:pt x="205993" y="53058"/>
                  </a:lnTo>
                  <a:lnTo>
                    <a:pt x="205993" y="25187"/>
                  </a:lnTo>
                  <a:lnTo>
                    <a:pt x="205955" y="24317"/>
                  </a:lnTo>
                  <a:lnTo>
                    <a:pt x="205917" y="23447"/>
                  </a:lnTo>
                  <a:lnTo>
                    <a:pt x="205842" y="22615"/>
                  </a:lnTo>
                  <a:lnTo>
                    <a:pt x="205728" y="21821"/>
                  </a:lnTo>
                  <a:lnTo>
                    <a:pt x="205577" y="21064"/>
                  </a:lnTo>
                  <a:lnTo>
                    <a:pt x="205426" y="20308"/>
                  </a:lnTo>
                  <a:lnTo>
                    <a:pt x="205199" y="19590"/>
                  </a:lnTo>
                  <a:lnTo>
                    <a:pt x="204972" y="18909"/>
                  </a:lnTo>
                  <a:lnTo>
                    <a:pt x="204707" y="18266"/>
                  </a:lnTo>
                  <a:lnTo>
                    <a:pt x="204405" y="17623"/>
                  </a:lnTo>
                  <a:lnTo>
                    <a:pt x="204064" y="17018"/>
                  </a:lnTo>
                  <a:lnTo>
                    <a:pt x="203686" y="16451"/>
                  </a:lnTo>
                  <a:lnTo>
                    <a:pt x="203308" y="15883"/>
                  </a:lnTo>
                  <a:lnTo>
                    <a:pt x="202892" y="15354"/>
                  </a:lnTo>
                  <a:lnTo>
                    <a:pt x="202438" y="14862"/>
                  </a:lnTo>
                  <a:lnTo>
                    <a:pt x="201947" y="14409"/>
                  </a:lnTo>
                  <a:lnTo>
                    <a:pt x="201417" y="13955"/>
                  </a:lnTo>
                  <a:lnTo>
                    <a:pt x="200850" y="13501"/>
                  </a:lnTo>
                  <a:lnTo>
                    <a:pt x="200207" y="13123"/>
                  </a:lnTo>
                  <a:lnTo>
                    <a:pt x="199564" y="12745"/>
                  </a:lnTo>
                  <a:lnTo>
                    <a:pt x="198883" y="12442"/>
                  </a:lnTo>
                  <a:lnTo>
                    <a:pt x="198127" y="12102"/>
                  </a:lnTo>
                  <a:lnTo>
                    <a:pt x="197371" y="11837"/>
                  </a:lnTo>
                  <a:lnTo>
                    <a:pt x="196539" y="11610"/>
                  </a:lnTo>
                  <a:lnTo>
                    <a:pt x="195707" y="11383"/>
                  </a:lnTo>
                  <a:lnTo>
                    <a:pt x="194799" y="11194"/>
                  </a:lnTo>
                  <a:lnTo>
                    <a:pt x="193854" y="11043"/>
                  </a:lnTo>
                  <a:lnTo>
                    <a:pt x="192870" y="10891"/>
                  </a:lnTo>
                  <a:lnTo>
                    <a:pt x="191849" y="10778"/>
                  </a:lnTo>
                  <a:lnTo>
                    <a:pt x="190753" y="10740"/>
                  </a:lnTo>
                  <a:lnTo>
                    <a:pt x="189656" y="1066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. Content Slide_Grey">
  <p:cSld name="TITLE_2_3_1_1_2">
    <p:bg>
      <p:bgPr>
        <a:solidFill>
          <a:schemeClr val="lt1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76"/>
          <p:cNvPicPr preferRelativeResize="0"/>
          <p:nvPr/>
        </p:nvPicPr>
        <p:blipFill rotWithShape="1">
          <a:blip r:embed="rId2">
            <a:alphaModFix/>
          </a:blip>
          <a:srcRect b="0" l="0" r="33660" t="0"/>
          <a:stretch/>
        </p:blipFill>
        <p:spPr>
          <a:xfrm>
            <a:off x="3650950" y="0"/>
            <a:ext cx="5493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76"/>
          <p:cNvSpPr txBox="1"/>
          <p:nvPr>
            <p:ph idx="1" type="subTitle"/>
          </p:nvPr>
        </p:nvSpPr>
        <p:spPr>
          <a:xfrm>
            <a:off x="7384900" y="3330145"/>
            <a:ext cx="1435800" cy="304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None/>
              <a:defRPr b="1"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6" name="Google Shape;756;p76"/>
          <p:cNvSpPr txBox="1"/>
          <p:nvPr>
            <p:ph idx="2" type="subTitle"/>
          </p:nvPr>
        </p:nvSpPr>
        <p:spPr>
          <a:xfrm>
            <a:off x="7384900" y="3870322"/>
            <a:ext cx="1435800" cy="737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ubik"/>
              <a:buNone/>
              <a:defRPr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757" name="Google Shape;757;p76"/>
          <p:cNvSpPr txBox="1"/>
          <p:nvPr>
            <p:ph idx="3" type="subTitle"/>
          </p:nvPr>
        </p:nvSpPr>
        <p:spPr>
          <a:xfrm>
            <a:off x="5693450" y="3330145"/>
            <a:ext cx="1435800" cy="304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None/>
              <a:defRPr b="1"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8" name="Google Shape;758;p76"/>
          <p:cNvSpPr txBox="1"/>
          <p:nvPr>
            <p:ph idx="4" type="subTitle"/>
          </p:nvPr>
        </p:nvSpPr>
        <p:spPr>
          <a:xfrm>
            <a:off x="5693450" y="3870322"/>
            <a:ext cx="1435800" cy="737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ubik"/>
              <a:buNone/>
              <a:defRPr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759" name="Google Shape;759;p76"/>
          <p:cNvSpPr txBox="1"/>
          <p:nvPr>
            <p:ph idx="5" type="subTitle"/>
          </p:nvPr>
        </p:nvSpPr>
        <p:spPr>
          <a:xfrm>
            <a:off x="4002000" y="3330145"/>
            <a:ext cx="1435800" cy="304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None/>
              <a:defRPr b="1"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0" name="Google Shape;760;p76"/>
          <p:cNvSpPr txBox="1"/>
          <p:nvPr>
            <p:ph idx="6" type="subTitle"/>
          </p:nvPr>
        </p:nvSpPr>
        <p:spPr>
          <a:xfrm>
            <a:off x="4002000" y="3870322"/>
            <a:ext cx="1435800" cy="737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ubik"/>
              <a:buNone/>
              <a:defRPr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761" name="Google Shape;761;p76"/>
          <p:cNvSpPr txBox="1"/>
          <p:nvPr>
            <p:ph idx="7" type="subTitle"/>
          </p:nvPr>
        </p:nvSpPr>
        <p:spPr>
          <a:xfrm>
            <a:off x="7384900" y="1159474"/>
            <a:ext cx="1435800" cy="304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None/>
              <a:defRPr b="1"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2" name="Google Shape;762;p76"/>
          <p:cNvSpPr txBox="1"/>
          <p:nvPr>
            <p:ph idx="8" type="subTitle"/>
          </p:nvPr>
        </p:nvSpPr>
        <p:spPr>
          <a:xfrm>
            <a:off x="7384900" y="1699651"/>
            <a:ext cx="1435800" cy="737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ubik"/>
              <a:buNone/>
              <a:defRPr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763" name="Google Shape;763;p76"/>
          <p:cNvSpPr txBox="1"/>
          <p:nvPr>
            <p:ph idx="9" type="subTitle"/>
          </p:nvPr>
        </p:nvSpPr>
        <p:spPr>
          <a:xfrm>
            <a:off x="5693450" y="1159474"/>
            <a:ext cx="1435800" cy="304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None/>
              <a:defRPr b="1"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4" name="Google Shape;764;p76"/>
          <p:cNvSpPr txBox="1"/>
          <p:nvPr>
            <p:ph idx="13" type="subTitle"/>
          </p:nvPr>
        </p:nvSpPr>
        <p:spPr>
          <a:xfrm>
            <a:off x="5693450" y="1699651"/>
            <a:ext cx="1435800" cy="737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ubik"/>
              <a:buNone/>
              <a:defRPr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765" name="Google Shape;765;p76"/>
          <p:cNvSpPr txBox="1"/>
          <p:nvPr>
            <p:ph type="ctrTitle"/>
          </p:nvPr>
        </p:nvSpPr>
        <p:spPr>
          <a:xfrm>
            <a:off x="413300" y="1699659"/>
            <a:ext cx="3114600" cy="17442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6" name="Google Shape;766;p76"/>
          <p:cNvSpPr txBox="1"/>
          <p:nvPr/>
        </p:nvSpPr>
        <p:spPr>
          <a:xfrm>
            <a:off x="419467" y="4736175"/>
            <a:ext cx="3975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Rubik"/>
                <a:ea typeface="Rubik"/>
                <a:cs typeface="Rubik"/>
                <a:sym typeface="Rubik"/>
              </a:rPr>
              <a:t>  </a:t>
            </a:r>
            <a:fld id="{00000000-1234-1234-1234-123412341234}" type="slidenum">
              <a:rPr lang="en" sz="800">
                <a:solidFill>
                  <a:schemeClr val="accent1"/>
                </a:solidFill>
                <a:latin typeface="Rubik"/>
                <a:ea typeface="Rubik"/>
                <a:cs typeface="Rubik"/>
                <a:sym typeface="Rubik"/>
              </a:rPr>
              <a:t>‹#›</a:t>
            </a:fld>
            <a:endParaRPr sz="800">
              <a:solidFill>
                <a:schemeClr val="accen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767" name="Google Shape;76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4492" y="253250"/>
            <a:ext cx="733095" cy="15407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76"/>
          <p:cNvSpPr txBox="1"/>
          <p:nvPr/>
        </p:nvSpPr>
        <p:spPr>
          <a:xfrm>
            <a:off x="5730800" y="4736175"/>
            <a:ext cx="30000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Fonoa Technologies Ltd.</a:t>
            </a:r>
            <a:endParaRPr sz="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9" name="Google Shape;769;p76"/>
          <p:cNvSpPr txBox="1"/>
          <p:nvPr>
            <p:ph idx="14" type="subTitle"/>
          </p:nvPr>
        </p:nvSpPr>
        <p:spPr>
          <a:xfrm>
            <a:off x="4002000" y="1159474"/>
            <a:ext cx="1435800" cy="304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None/>
              <a:defRPr b="1"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0" name="Google Shape;770;p76"/>
          <p:cNvSpPr txBox="1"/>
          <p:nvPr>
            <p:ph idx="15" type="subTitle"/>
          </p:nvPr>
        </p:nvSpPr>
        <p:spPr>
          <a:xfrm>
            <a:off x="4002000" y="1699651"/>
            <a:ext cx="1435800" cy="737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ubik"/>
              <a:buNone/>
              <a:defRPr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Rubik"/>
              <a:buNone/>
              <a:defRPr sz="9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73" name="Google Shape;773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774" name="Google Shape;774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94492" y="253250"/>
            <a:ext cx="733095" cy="154075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77"/>
          <p:cNvSpPr txBox="1"/>
          <p:nvPr/>
        </p:nvSpPr>
        <p:spPr>
          <a:xfrm>
            <a:off x="419467" y="4736175"/>
            <a:ext cx="3975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Rubik"/>
                <a:ea typeface="Rubik"/>
                <a:cs typeface="Rubik"/>
                <a:sym typeface="Rubik"/>
              </a:rPr>
              <a:t>  </a:t>
            </a:r>
            <a:fld id="{00000000-1234-1234-1234-123412341234}" type="slidenum">
              <a:rPr lang="en" sz="800">
                <a:solidFill>
                  <a:schemeClr val="accent1"/>
                </a:solidFill>
                <a:latin typeface="Rubik"/>
                <a:ea typeface="Rubik"/>
                <a:cs typeface="Rubik"/>
                <a:sym typeface="Rubik"/>
              </a:rPr>
              <a:t>‹#›</a:t>
            </a:fld>
            <a:endParaRPr sz="800">
              <a:solidFill>
                <a:schemeClr val="accen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76" name="Google Shape;776;p77"/>
          <p:cNvSpPr txBox="1"/>
          <p:nvPr/>
        </p:nvSpPr>
        <p:spPr>
          <a:xfrm>
            <a:off x="5730800" y="4736175"/>
            <a:ext cx="30000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A8B1C0"/>
                </a:solidFill>
                <a:latin typeface="Proxima Nova"/>
                <a:ea typeface="Proxima Nova"/>
                <a:cs typeface="Proxima Nova"/>
                <a:sym typeface="Proxima Nova"/>
              </a:rPr>
              <a:t>Fonoa Technologies Ltd. </a:t>
            </a:r>
            <a:endParaRPr sz="800">
              <a:solidFill>
                <a:srgbClr val="A8B1C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77" Type="http://schemas.openxmlformats.org/officeDocument/2006/relationships/theme" Target="../theme/theme2.xml"/><Relationship Id="rId32" Type="http://schemas.openxmlformats.org/officeDocument/2006/relationships/slideLayout" Target="../slideLayouts/slideLayout32.xml"/><Relationship Id="rId76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3300" y="413975"/>
            <a:ext cx="83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b="1" i="0" sz="2400" u="none" cap="none" strike="noStrik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b="1" i="0" sz="2400" u="none" cap="none" strike="noStrik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b="1" i="0" sz="2400" u="none" cap="none" strike="noStrik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b="1" i="0" sz="2400" u="none" cap="none" strike="noStrik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b="1" i="0" sz="2400" u="none" cap="none" strike="noStrik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b="1" i="0" sz="2400" u="none" cap="none" strike="noStrik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b="1" i="0" sz="2400" u="none" cap="none" strike="noStrik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b="1" i="0" sz="2400" u="none" cap="none" strike="noStrik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b="1" i="0" sz="2400" u="none" cap="none" strike="noStrik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3300" y="1121425"/>
            <a:ext cx="83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Medium"/>
              <a:buChar char="●"/>
              <a:defRPr b="0" i="0" sz="18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○"/>
              <a:defRPr b="0" i="0" sz="14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■"/>
              <a:defRPr b="0" i="0" sz="14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●"/>
              <a:defRPr b="0" i="0" sz="14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○"/>
              <a:defRPr b="0" i="0" sz="14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■"/>
              <a:defRPr b="0" i="0" sz="14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●"/>
              <a:defRPr b="0" i="0" sz="14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○"/>
              <a:defRPr b="0" i="0" sz="14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■"/>
              <a:defRPr b="0" i="0" sz="14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B4C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7201775" y="4729517"/>
            <a:ext cx="1528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3B4C1"/>
                </a:solidFill>
                <a:latin typeface="Open Sans"/>
                <a:ea typeface="Open Sans"/>
                <a:cs typeface="Open Sans"/>
                <a:sym typeface="Open Sans"/>
              </a:rPr>
              <a:t>Fonoa Technologies Ltd. </a:t>
            </a:r>
            <a:endParaRPr b="0" i="0" sz="700" u="none" cap="none" strike="noStrike">
              <a:solidFill>
                <a:srgbClr val="A3B4C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60">
          <p15:clr>
            <a:srgbClr val="E46962"/>
          </p15:clr>
        </p15:guide>
        <p15:guide id="2" orient="horz" pos="261">
          <p15:clr>
            <a:srgbClr val="E46962"/>
          </p15:clr>
        </p15:guide>
        <p15:guide id="3" pos="5500">
          <p15:clr>
            <a:srgbClr val="E46962"/>
          </p15:clr>
        </p15:guide>
        <p15:guide id="4" orient="horz" pos="297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8"/>
          <p:cNvSpPr txBox="1"/>
          <p:nvPr>
            <p:ph type="ctrTitle"/>
          </p:nvPr>
        </p:nvSpPr>
        <p:spPr>
          <a:xfrm>
            <a:off x="413300" y="1091820"/>
            <a:ext cx="5049300" cy="1275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5600">
                <a:latin typeface="Rubik"/>
                <a:ea typeface="Rubik"/>
                <a:cs typeface="Rubik"/>
                <a:sym typeface="Rubik"/>
              </a:rPr>
              <a:t>GoTalks 2026.01</a:t>
            </a:r>
            <a:endParaRPr/>
          </a:p>
        </p:txBody>
      </p:sp>
      <p:sp>
        <p:nvSpPr>
          <p:cNvPr id="782" name="Google Shape;782;p78"/>
          <p:cNvSpPr txBox="1"/>
          <p:nvPr>
            <p:ph idx="1" type="subTitle"/>
          </p:nvPr>
        </p:nvSpPr>
        <p:spPr>
          <a:xfrm>
            <a:off x="413300" y="2536728"/>
            <a:ext cx="3176100" cy="714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78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9"/>
          <p:cNvSpPr txBox="1"/>
          <p:nvPr>
            <p:ph type="ctrTitle"/>
          </p:nvPr>
        </p:nvSpPr>
        <p:spPr>
          <a:xfrm>
            <a:off x="413300" y="1091825"/>
            <a:ext cx="6318000" cy="1275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Preventing Drift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by Design</a:t>
            </a:r>
            <a:endParaRPr sz="3400"/>
          </a:p>
        </p:txBody>
      </p:sp>
      <p:sp>
        <p:nvSpPr>
          <p:cNvPr id="789" name="Google Shape;789;p79"/>
          <p:cNvSpPr txBox="1"/>
          <p:nvPr>
            <p:ph idx="1" type="subTitle"/>
          </p:nvPr>
        </p:nvSpPr>
        <p:spPr>
          <a:xfrm>
            <a:off x="413300" y="2536725"/>
            <a:ext cx="6513600" cy="714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generation, contracts, and Go tooling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79"/>
          <p:cNvSpPr txBox="1"/>
          <p:nvPr>
            <p:ph idx="2" type="subTitle"/>
          </p:nvPr>
        </p:nvSpPr>
        <p:spPr>
          <a:xfrm>
            <a:off x="413300" y="3702475"/>
            <a:ext cx="25275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Google Shape;79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450" y="2230975"/>
            <a:ext cx="1721249" cy="1721249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80"/>
          <p:cNvSpPr txBox="1"/>
          <p:nvPr>
            <p:ph type="ctrTitle"/>
          </p:nvPr>
        </p:nvSpPr>
        <p:spPr>
          <a:xfrm>
            <a:off x="413300" y="407325"/>
            <a:ext cx="8317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Who am I?</a:t>
            </a:r>
            <a:endParaRPr/>
          </a:p>
        </p:txBody>
      </p:sp>
      <p:grpSp>
        <p:nvGrpSpPr>
          <p:cNvPr id="797" name="Google Shape;797;p80"/>
          <p:cNvGrpSpPr/>
          <p:nvPr/>
        </p:nvGrpSpPr>
        <p:grpSpPr>
          <a:xfrm>
            <a:off x="235715" y="3715403"/>
            <a:ext cx="2807315" cy="817800"/>
            <a:chOff x="211715" y="3866684"/>
            <a:chExt cx="2807315" cy="817800"/>
          </a:xfrm>
        </p:grpSpPr>
        <p:sp>
          <p:nvSpPr>
            <p:cNvPr id="798" name="Google Shape;798;p80"/>
            <p:cNvSpPr/>
            <p:nvPr/>
          </p:nvSpPr>
          <p:spPr>
            <a:xfrm>
              <a:off x="603130" y="3952226"/>
              <a:ext cx="2415900" cy="676500"/>
            </a:xfrm>
            <a:prstGeom prst="roundRect">
              <a:avLst>
                <a:gd fmla="val 10058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rotWithShape="0" algn="bl" dir="3000000" dist="304800">
                <a:srgbClr val="000000">
                  <a:alpha val="7840"/>
                </a:srgbClr>
              </a:outerShdw>
            </a:effectLst>
          </p:spPr>
          <p:txBody>
            <a:bodyPr anchorCtr="0" anchor="ctr" bIns="91425" lIns="457200" spcFirstLastPara="1" rIns="457200" wrap="square" tIns="91425">
              <a:noAutofit/>
            </a:bodyPr>
            <a:lstStyle/>
            <a:p>
              <a:pPr indent="45720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55D287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  <p:sp>
          <p:nvSpPr>
            <p:cNvPr id="799" name="Google Shape;799;p80"/>
            <p:cNvSpPr/>
            <p:nvPr/>
          </p:nvSpPr>
          <p:spPr>
            <a:xfrm rot="-8100000">
              <a:off x="331479" y="3986448"/>
              <a:ext cx="578272" cy="578272"/>
            </a:xfrm>
            <a:prstGeom prst="chord">
              <a:avLst>
                <a:gd fmla="val 2397096" name="adj1"/>
                <a:gd fmla="val 13804833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80"/>
            <p:cNvSpPr/>
            <p:nvPr/>
          </p:nvSpPr>
          <p:spPr>
            <a:xfrm>
              <a:off x="719417" y="3983451"/>
              <a:ext cx="2207700" cy="548700"/>
            </a:xfrm>
            <a:prstGeom prst="roundRect">
              <a:avLst>
                <a:gd fmla="val 25874" name="adj"/>
              </a:avLst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rPr>
                <a:t>Tomas Espeleta</a:t>
              </a:r>
              <a:endParaRPr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ubik"/>
                  <a:ea typeface="Rubik"/>
                  <a:cs typeface="Rubik"/>
                  <a:sym typeface="Rubik"/>
                </a:rPr>
                <a:t>Senior Software Engineer</a:t>
              </a:r>
              <a:endParaRPr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sp>
        <p:nvSpPr>
          <p:cNvPr id="801" name="Google Shape;801;p80"/>
          <p:cNvSpPr txBox="1"/>
          <p:nvPr/>
        </p:nvSpPr>
        <p:spPr>
          <a:xfrm>
            <a:off x="5422300" y="3924201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tomas.espeleta@fonoa.com</a:t>
            </a:r>
            <a:endParaRPr b="1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81"/>
          <p:cNvSpPr txBox="1"/>
          <p:nvPr/>
        </p:nvSpPr>
        <p:spPr>
          <a:xfrm>
            <a:off x="3826475" y="1276925"/>
            <a:ext cx="4904100" cy="24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600"/>
              <a:buFont typeface="Roboto"/>
              <a:buNone/>
            </a:pPr>
            <a:r>
              <a:rPr lang="en" sz="16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Code generation and SSOT</a:t>
            </a:r>
            <a:endParaRPr sz="12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80868B"/>
              </a:buClr>
              <a:buSzPts val="600"/>
              <a:buFont typeface="Roboto"/>
              <a:buNone/>
            </a:pPr>
            <a:r>
              <a:rPr lang="en" sz="16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Generating models and validators</a:t>
            </a:r>
            <a:endParaRPr i="0" sz="1600" u="none" cap="none" strike="noStrike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80868B"/>
              </a:buClr>
              <a:buSzPts val="600"/>
              <a:buFont typeface="Roboto"/>
              <a:buNone/>
            </a:pPr>
            <a:r>
              <a:rPr lang="en" sz="16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Lisa DSL</a:t>
            </a:r>
            <a:endParaRPr sz="16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80868B"/>
              </a:buClr>
              <a:buSzPts val="600"/>
              <a:buFont typeface="Roboto"/>
              <a:buNone/>
            </a:pPr>
            <a:r>
              <a:rPr lang="en" sz="16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Conclusions</a:t>
            </a:r>
            <a:endParaRPr sz="16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80868B"/>
              </a:buClr>
              <a:buSzPts val="600"/>
              <a:buFont typeface="Roboto"/>
              <a:buNone/>
            </a:pPr>
            <a:r>
              <a:rPr lang="en" sz="16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Appendix: more examples</a:t>
            </a:r>
            <a:endParaRPr sz="16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807" name="Google Shape;807;p81"/>
          <p:cNvSpPr/>
          <p:nvPr/>
        </p:nvSpPr>
        <p:spPr>
          <a:xfrm>
            <a:off x="3151301" y="1276922"/>
            <a:ext cx="519300" cy="292200"/>
          </a:xfrm>
          <a:prstGeom prst="roundRect">
            <a:avLst>
              <a:gd fmla="val 50000" name="adj"/>
            </a:avLst>
          </a:prstGeom>
          <a:solidFill>
            <a:srgbClr val="4D9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n" sz="1400" u="none" cap="none" strike="noStrike">
                <a:solidFill>
                  <a:schemeClr val="lt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01</a:t>
            </a:r>
            <a:endParaRPr i="0" sz="1900" u="none" cap="none" strike="noStrike">
              <a:solidFill>
                <a:schemeClr val="lt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</p:txBody>
      </p:sp>
      <p:sp>
        <p:nvSpPr>
          <p:cNvPr id="808" name="Google Shape;808;p81"/>
          <p:cNvSpPr/>
          <p:nvPr/>
        </p:nvSpPr>
        <p:spPr>
          <a:xfrm>
            <a:off x="3151301" y="1828639"/>
            <a:ext cx="519300" cy="292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n" sz="1400" u="none" cap="none" strike="noStrike">
                <a:solidFill>
                  <a:schemeClr val="lt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02</a:t>
            </a:r>
            <a:endParaRPr i="0" sz="1900" u="none" cap="none" strike="noStrike">
              <a:solidFill>
                <a:schemeClr val="lt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</p:txBody>
      </p:sp>
      <p:sp>
        <p:nvSpPr>
          <p:cNvPr id="809" name="Google Shape;809;p81"/>
          <p:cNvSpPr/>
          <p:nvPr/>
        </p:nvSpPr>
        <p:spPr>
          <a:xfrm>
            <a:off x="3151301" y="2371198"/>
            <a:ext cx="519300" cy="292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n" sz="1400" u="none" cap="none" strike="noStrike">
                <a:solidFill>
                  <a:schemeClr val="lt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03</a:t>
            </a:r>
            <a:endParaRPr i="0" sz="1900" u="none" cap="none" strike="noStrike">
              <a:solidFill>
                <a:schemeClr val="lt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</p:txBody>
      </p:sp>
      <p:sp>
        <p:nvSpPr>
          <p:cNvPr id="810" name="Google Shape;810;p81"/>
          <p:cNvSpPr/>
          <p:nvPr/>
        </p:nvSpPr>
        <p:spPr>
          <a:xfrm>
            <a:off x="3151301" y="2904598"/>
            <a:ext cx="519300" cy="292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n" sz="1400" u="none" cap="none" strike="noStrike">
                <a:solidFill>
                  <a:schemeClr val="lt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04</a:t>
            </a:r>
            <a:endParaRPr i="0" sz="1900" u="none" cap="none" strike="noStrike">
              <a:solidFill>
                <a:schemeClr val="lt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</p:txBody>
      </p:sp>
      <p:sp>
        <p:nvSpPr>
          <p:cNvPr id="811" name="Google Shape;811;p81"/>
          <p:cNvSpPr/>
          <p:nvPr/>
        </p:nvSpPr>
        <p:spPr>
          <a:xfrm>
            <a:off x="3151301" y="3437998"/>
            <a:ext cx="519300" cy="292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n" sz="1400" u="none" cap="none" strike="noStrike">
                <a:solidFill>
                  <a:schemeClr val="lt1"/>
                </a:solidFill>
                <a:latin typeface="Anybody SemiBold"/>
                <a:ea typeface="Anybody SemiBold"/>
                <a:cs typeface="Anybody SemiBold"/>
                <a:sym typeface="Anybody SemiBold"/>
              </a:rPr>
              <a:t>05</a:t>
            </a:r>
            <a:endParaRPr i="0" sz="1900" u="none" cap="none" strike="noStrike">
              <a:solidFill>
                <a:schemeClr val="lt1"/>
              </a:solidFill>
              <a:latin typeface="Anybody SemiBold"/>
              <a:ea typeface="Anybody SemiBold"/>
              <a:cs typeface="Anybody SemiBold"/>
              <a:sym typeface="Anybody SemiBold"/>
            </a:endParaRPr>
          </a:p>
        </p:txBody>
      </p:sp>
      <p:sp>
        <p:nvSpPr>
          <p:cNvPr id="812" name="Google Shape;812;p81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3" name="Google Shape;813;p81"/>
          <p:cNvSpPr txBox="1"/>
          <p:nvPr>
            <p:ph type="title"/>
          </p:nvPr>
        </p:nvSpPr>
        <p:spPr>
          <a:xfrm>
            <a:off x="413300" y="1979600"/>
            <a:ext cx="2991300" cy="125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82"/>
          <p:cNvSpPr txBox="1"/>
          <p:nvPr>
            <p:ph idx="1" type="body"/>
          </p:nvPr>
        </p:nvSpPr>
        <p:spPr>
          <a:xfrm>
            <a:off x="444300" y="1757025"/>
            <a:ext cx="8317500" cy="27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Fonoa we have multiple: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Schemas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Validations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Data Models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Documentation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Model Mappings</a:t>
            </a:r>
            <a:endParaRPr/>
          </a:p>
        </p:txBody>
      </p:sp>
      <p:sp>
        <p:nvSpPr>
          <p:cNvPr id="819" name="Google Shape;819;p82"/>
          <p:cNvSpPr txBox="1"/>
          <p:nvPr>
            <p:ph type="title"/>
          </p:nvPr>
        </p:nvSpPr>
        <p:spPr>
          <a:xfrm>
            <a:off x="413300" y="413975"/>
            <a:ext cx="62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Distributed </a:t>
            </a:r>
            <a:r>
              <a:rPr lang="en"/>
              <a:t>Systems</a:t>
            </a:r>
            <a:endParaRPr/>
          </a:p>
        </p:txBody>
      </p:sp>
      <p:sp>
        <p:nvSpPr>
          <p:cNvPr id="820" name="Google Shape;820;p82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1" name="Google Shape;821;p82"/>
          <p:cNvSpPr txBox="1"/>
          <p:nvPr/>
        </p:nvSpPr>
        <p:spPr>
          <a:xfrm>
            <a:off x="3504250" y="1159450"/>
            <a:ext cx="460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/>
              <a:t>Facts</a:t>
            </a:r>
            <a:r>
              <a:rPr lang="en" sz="1600"/>
              <a:t> about the system are fragmented.</a:t>
            </a:r>
            <a:endParaRPr sz="1600"/>
          </a:p>
        </p:txBody>
      </p:sp>
      <p:sp>
        <p:nvSpPr>
          <p:cNvPr id="822" name="Google Shape;822;p82"/>
          <p:cNvSpPr/>
          <p:nvPr/>
        </p:nvSpPr>
        <p:spPr>
          <a:xfrm>
            <a:off x="2620825" y="2251250"/>
            <a:ext cx="191700" cy="1370700"/>
          </a:xfrm>
          <a:prstGeom prst="rightBrace">
            <a:avLst>
              <a:gd fmla="val 115046" name="adj1"/>
              <a:gd fmla="val 5066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823" name="Google Shape;823;p82"/>
          <p:cNvSpPr/>
          <p:nvPr/>
        </p:nvSpPr>
        <p:spPr>
          <a:xfrm rot="5400000">
            <a:off x="5190072" y="-573600"/>
            <a:ext cx="1488900" cy="5810100"/>
          </a:xfrm>
          <a:prstGeom prst="roundRect">
            <a:avLst>
              <a:gd fmla="val 9742" name="adj"/>
            </a:avLst>
          </a:prstGeom>
          <a:gradFill>
            <a:gsLst>
              <a:gs pos="0">
                <a:srgbClr val="2D69DC">
                  <a:alpha val="9411"/>
                </a:srgbClr>
              </a:gs>
              <a:gs pos="100000">
                <a:srgbClr val="2D69D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4" name="Google Shape;824;p82"/>
          <p:cNvSpPr/>
          <p:nvPr/>
        </p:nvSpPr>
        <p:spPr>
          <a:xfrm rot="5400000">
            <a:off x="5110575" y="1039823"/>
            <a:ext cx="1647900" cy="5805000"/>
          </a:xfrm>
          <a:prstGeom prst="roundRect">
            <a:avLst>
              <a:gd fmla="val 9742" name="adj"/>
            </a:avLst>
          </a:prstGeom>
          <a:gradFill>
            <a:gsLst>
              <a:gs pos="0">
                <a:srgbClr val="2D69DC">
                  <a:alpha val="9411"/>
                </a:srgbClr>
              </a:gs>
              <a:gs pos="100000">
                <a:srgbClr val="2D69D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5" name="Google Shape;825;p82"/>
          <p:cNvSpPr txBox="1"/>
          <p:nvPr/>
        </p:nvSpPr>
        <p:spPr>
          <a:xfrm>
            <a:off x="3204850" y="3168948"/>
            <a:ext cx="142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2"/>
                </a:solidFill>
                <a:latin typeface="Rubik Medium"/>
                <a:ea typeface="Rubik Medium"/>
                <a:cs typeface="Rubik Medium"/>
                <a:sym typeface="Rubik Medium"/>
              </a:rPr>
              <a:t>Documentation</a:t>
            </a:r>
            <a:endParaRPr sz="1300">
              <a:solidFill>
                <a:schemeClr val="dk2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826" name="Google Shape;826;p82"/>
          <p:cNvSpPr txBox="1"/>
          <p:nvPr/>
        </p:nvSpPr>
        <p:spPr>
          <a:xfrm>
            <a:off x="3204850" y="1688000"/>
            <a:ext cx="71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2"/>
                </a:solidFill>
                <a:latin typeface="Rubik Medium"/>
                <a:ea typeface="Rubik Medium"/>
                <a:cs typeface="Rubik Medium"/>
                <a:sym typeface="Rubik Medium"/>
              </a:rPr>
              <a:t>Code</a:t>
            </a:r>
            <a:endParaRPr sz="1300">
              <a:solidFill>
                <a:schemeClr val="dk2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827" name="Google Shape;827;p82"/>
          <p:cNvSpPr txBox="1"/>
          <p:nvPr/>
        </p:nvSpPr>
        <p:spPr>
          <a:xfrm>
            <a:off x="3204850" y="3553848"/>
            <a:ext cx="5204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country_code:</a:t>
            </a:r>
            <a:r>
              <a:rPr lang="en"/>
              <a:t> ISO 3166-1 alpha-2 uppercase country code the transaction is taking place 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82"/>
          <p:cNvSpPr txBox="1"/>
          <p:nvPr/>
        </p:nvSpPr>
        <p:spPr>
          <a:xfrm>
            <a:off x="3236850" y="2094150"/>
            <a:ext cx="4605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consolata"/>
                <a:ea typeface="Inconsolata"/>
                <a:cs typeface="Inconsolata"/>
                <a:sym typeface="Inconsolata"/>
              </a:rPr>
              <a:t>type MyRequest struct {</a:t>
            </a:r>
            <a:endParaRPr sz="13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consolata"/>
                <a:ea typeface="Inconsolata"/>
                <a:cs typeface="Inconsolata"/>
                <a:sym typeface="Inconsolata"/>
              </a:rPr>
              <a:t>  CountryCode string `json:"country_code"`</a:t>
            </a:r>
            <a:endParaRPr sz="13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sz="13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29" name="Google Shape;829;p82"/>
          <p:cNvSpPr txBox="1"/>
          <p:nvPr>
            <p:ph idx="2" type="subTitle"/>
          </p:nvPr>
        </p:nvSpPr>
        <p:spPr>
          <a:xfrm>
            <a:off x="413300" y="866950"/>
            <a:ext cx="7189800" cy="29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….means  </a:t>
            </a:r>
            <a:r>
              <a:rPr b="1" lang="en" sz="1300"/>
              <a:t>Distributed</a:t>
            </a:r>
            <a:r>
              <a:rPr lang="en" sz="1300"/>
              <a:t> </a:t>
            </a:r>
            <a:r>
              <a:rPr b="1" lang="en" sz="1300"/>
              <a:t>Truth</a:t>
            </a:r>
            <a:endParaRPr b="1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83"/>
          <p:cNvSpPr txBox="1"/>
          <p:nvPr>
            <p:ph idx="1" type="body"/>
          </p:nvPr>
        </p:nvSpPr>
        <p:spPr>
          <a:xfrm>
            <a:off x="444300" y="1583800"/>
            <a:ext cx="8317500" cy="28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Contracts</a:t>
            </a:r>
            <a:r>
              <a:rPr lang="en" sz="1500"/>
              <a:t> define a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shared reality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Need to be optimised for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reading</a:t>
            </a:r>
            <a:r>
              <a:rPr lang="en" sz="1500"/>
              <a:t> and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change control</a:t>
            </a:r>
            <a:endParaRPr b="1" sz="1500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Data Models</a:t>
            </a:r>
            <a:r>
              <a:rPr lang="en" sz="1500"/>
              <a:t>: we need them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language-specific!</a:t>
            </a:r>
            <a:endParaRPr b="1" sz="1500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Data Validations</a:t>
            </a:r>
            <a:r>
              <a:rPr lang="en" sz="1500"/>
              <a:t>: we want them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fast!</a:t>
            </a:r>
            <a:endParaRPr b="1" sz="1500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Documentation</a:t>
            </a:r>
            <a:r>
              <a:rPr lang="en" sz="1500"/>
              <a:t>: we want it beautiful and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readable</a:t>
            </a:r>
            <a:r>
              <a:rPr lang="en" sz="1500"/>
              <a:t>!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Model Mappings</a:t>
            </a:r>
            <a:r>
              <a:rPr lang="en" sz="1500"/>
              <a:t>: we want them… to disappear! :(</a:t>
            </a:r>
            <a:endParaRPr sz="1500"/>
          </a:p>
          <a:p>
            <a:pPr indent="0" lvl="0" marL="45720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Anybody"/>
              <a:ea typeface="Anybody"/>
              <a:cs typeface="Anybody"/>
              <a:sym typeface="Anybody"/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Anybody"/>
                <a:ea typeface="Anybody"/>
                <a:cs typeface="Anybody"/>
                <a:sym typeface="Anybody"/>
              </a:rPr>
              <a:t>Each specific problem needs a specialised technology</a:t>
            </a:r>
            <a:endParaRPr i="1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500"/>
          </a:p>
        </p:txBody>
      </p:sp>
      <p:sp>
        <p:nvSpPr>
          <p:cNvPr id="835" name="Google Shape;835;p83"/>
          <p:cNvSpPr txBox="1"/>
          <p:nvPr>
            <p:ph type="title"/>
          </p:nvPr>
        </p:nvSpPr>
        <p:spPr>
          <a:xfrm>
            <a:off x="413300" y="414350"/>
            <a:ext cx="62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the fragmentation?</a:t>
            </a:r>
            <a:endParaRPr/>
          </a:p>
        </p:txBody>
      </p:sp>
      <p:sp>
        <p:nvSpPr>
          <p:cNvPr id="836" name="Google Shape;836;p83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7" name="Google Shape;837;p83"/>
          <p:cNvSpPr txBox="1"/>
          <p:nvPr>
            <p:ph idx="2" type="subTitle"/>
          </p:nvPr>
        </p:nvSpPr>
        <p:spPr>
          <a:xfrm>
            <a:off x="413300" y="882450"/>
            <a:ext cx="7189800" cy="29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300">
                <a:solidFill>
                  <a:srgbClr val="000000"/>
                </a:solidFill>
              </a:rPr>
              <a:t>We need optimisations that solve </a:t>
            </a:r>
            <a:r>
              <a:rPr b="1" i="1" lang="en" sz="1300">
                <a:solidFill>
                  <a:srgbClr val="000000"/>
                </a:solidFill>
              </a:rPr>
              <a:t>specific problems</a:t>
            </a:r>
            <a:endParaRPr b="1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84"/>
          <p:cNvSpPr txBox="1"/>
          <p:nvPr>
            <p:ph type="title"/>
          </p:nvPr>
        </p:nvSpPr>
        <p:spPr>
          <a:xfrm>
            <a:off x="413300" y="413975"/>
            <a:ext cx="62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The problem: Drift</a:t>
            </a:r>
            <a:endParaRPr/>
          </a:p>
        </p:txBody>
      </p:sp>
      <p:sp>
        <p:nvSpPr>
          <p:cNvPr id="843" name="Google Shape;843;p84"/>
          <p:cNvSpPr txBox="1"/>
          <p:nvPr>
            <p:ph idx="1" type="body"/>
          </p:nvPr>
        </p:nvSpPr>
        <p:spPr>
          <a:xfrm>
            <a:off x="444300" y="1723425"/>
            <a:ext cx="8317500" cy="27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Documentation go stale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Comments lie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APIs diverge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Different models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Different life cycles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844" name="Google Shape;844;p84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5" name="Google Shape;84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4450" y="1440025"/>
            <a:ext cx="3003126" cy="221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520000" dist="76200">
              <a:srgbClr val="000000">
                <a:alpha val="8000"/>
              </a:srgbClr>
            </a:outerShdw>
          </a:effectLst>
        </p:spPr>
      </p:pic>
      <p:sp>
        <p:nvSpPr>
          <p:cNvPr id="846" name="Google Shape;846;p84"/>
          <p:cNvSpPr txBox="1"/>
          <p:nvPr>
            <p:ph idx="2" type="subTitle"/>
          </p:nvPr>
        </p:nvSpPr>
        <p:spPr>
          <a:xfrm>
            <a:off x="413300" y="882450"/>
            <a:ext cx="7189800" cy="29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Drift is the gap between what we think the system does and what it actually does</a:t>
            </a:r>
            <a:endParaRPr sz="1700"/>
          </a:p>
        </p:txBody>
      </p:sp>
      <p:sp>
        <p:nvSpPr>
          <p:cNvPr id="847" name="Google Shape;847;p84"/>
          <p:cNvSpPr txBox="1"/>
          <p:nvPr>
            <p:ph idx="2" type="subTitle"/>
          </p:nvPr>
        </p:nvSpPr>
        <p:spPr>
          <a:xfrm>
            <a:off x="1447425" y="4136450"/>
            <a:ext cx="6491700" cy="32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We end up spending a lot of time synchronizing them!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85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3" name="Google Shape;853;p85"/>
          <p:cNvSpPr txBox="1"/>
          <p:nvPr>
            <p:ph type="title"/>
          </p:nvPr>
        </p:nvSpPr>
        <p:spPr>
          <a:xfrm>
            <a:off x="413300" y="413975"/>
            <a:ext cx="83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Do not repeat yourself?</a:t>
            </a:r>
            <a:endParaRPr/>
          </a:p>
        </p:txBody>
      </p:sp>
      <p:sp>
        <p:nvSpPr>
          <p:cNvPr id="854" name="Google Shape;854;p85"/>
          <p:cNvSpPr/>
          <p:nvPr/>
        </p:nvSpPr>
        <p:spPr>
          <a:xfrm>
            <a:off x="412748" y="1333501"/>
            <a:ext cx="4069800" cy="3206400"/>
          </a:xfrm>
          <a:prstGeom prst="roundRect">
            <a:avLst>
              <a:gd fmla="val 5740" name="adj"/>
            </a:avLst>
          </a:prstGeom>
          <a:gradFill>
            <a:gsLst>
              <a:gs pos="0">
                <a:srgbClr val="E0F3DC"/>
              </a:gs>
              <a:gs pos="100000">
                <a:srgbClr val="FEFEF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5" name="Google Shape;855;p85"/>
          <p:cNvSpPr txBox="1"/>
          <p:nvPr/>
        </p:nvSpPr>
        <p:spPr>
          <a:xfrm>
            <a:off x="660470" y="1566125"/>
            <a:ext cx="32658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 Medium"/>
              <a:buNone/>
            </a:pPr>
            <a:r>
              <a:rPr b="1" lang="en" sz="16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DRY…</a:t>
            </a:r>
            <a:endParaRPr>
              <a:solidFill>
                <a:srgbClr val="0C2534"/>
              </a:solidFill>
            </a:endParaRPr>
          </a:p>
        </p:txBody>
      </p:sp>
      <p:sp>
        <p:nvSpPr>
          <p:cNvPr id="856" name="Google Shape;856;p85"/>
          <p:cNvSpPr/>
          <p:nvPr/>
        </p:nvSpPr>
        <p:spPr>
          <a:xfrm>
            <a:off x="4660671" y="1333501"/>
            <a:ext cx="4069800" cy="3206400"/>
          </a:xfrm>
          <a:prstGeom prst="roundRect">
            <a:avLst>
              <a:gd fmla="val 5740" name="adj"/>
            </a:avLst>
          </a:prstGeom>
          <a:gradFill>
            <a:gsLst>
              <a:gs pos="0">
                <a:srgbClr val="DCE9FB"/>
              </a:gs>
              <a:gs pos="100000">
                <a:srgbClr val="FEFEF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7" name="Google Shape;857;p85"/>
          <p:cNvSpPr txBox="1"/>
          <p:nvPr/>
        </p:nvSpPr>
        <p:spPr>
          <a:xfrm>
            <a:off x="660475" y="2062800"/>
            <a:ext cx="3589800" cy="1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Changes are </a:t>
            </a:r>
            <a:r>
              <a:rPr b="1"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expensive</a:t>
            </a:r>
            <a:r>
              <a:rPr lang="en" sz="13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and error-prone</a:t>
            </a:r>
            <a:endParaRPr sz="13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Change becomes a maintenance nightmare.</a:t>
            </a:r>
            <a:endParaRPr sz="1200"/>
          </a:p>
        </p:txBody>
      </p:sp>
      <p:sp>
        <p:nvSpPr>
          <p:cNvPr id="858" name="Google Shape;858;p85"/>
          <p:cNvSpPr txBox="1"/>
          <p:nvPr/>
        </p:nvSpPr>
        <p:spPr>
          <a:xfrm>
            <a:off x="6801685" y="1566125"/>
            <a:ext cx="1654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 fontScale="925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534"/>
              </a:buClr>
              <a:buSzPct val="81250"/>
              <a:buFont typeface="Open Sans Medium"/>
              <a:buNone/>
            </a:pPr>
            <a:r>
              <a:rPr b="1" lang="en" sz="1600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…or not to DRY?</a:t>
            </a:r>
            <a:endParaRPr>
              <a:solidFill>
                <a:srgbClr val="0C2534"/>
              </a:solidFill>
            </a:endParaRPr>
          </a:p>
        </p:txBody>
      </p:sp>
      <p:sp>
        <p:nvSpPr>
          <p:cNvPr id="859" name="Google Shape;859;p85"/>
          <p:cNvSpPr txBox="1"/>
          <p:nvPr/>
        </p:nvSpPr>
        <p:spPr>
          <a:xfrm>
            <a:off x="4895335" y="2062800"/>
            <a:ext cx="3589800" cy="1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DRY </a:t>
            </a:r>
            <a:r>
              <a:rPr b="1"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increases coupling</a:t>
            </a:r>
            <a:endParaRPr sz="13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Difficult with multiple technologies</a:t>
            </a:r>
            <a:endParaRPr sz="13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Repetition</a:t>
            </a:r>
            <a:r>
              <a:rPr lang="en" sz="13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is generally preferable to coupling</a:t>
            </a:r>
            <a:endParaRPr sz="13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“A little copying is better than</a:t>
            </a:r>
            <a:br>
              <a:rPr i="1" lang="en" sz="13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i="1" lang="en" sz="13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 little dependency”</a:t>
            </a:r>
            <a:br>
              <a:rPr i="1" lang="en" sz="13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i="1" lang="en" sz="13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- Rob Pike</a:t>
            </a:r>
            <a:endParaRPr i="1" sz="13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6"/>
          <p:cNvSpPr/>
          <p:nvPr/>
        </p:nvSpPr>
        <p:spPr>
          <a:xfrm>
            <a:off x="412750" y="1295850"/>
            <a:ext cx="8928300" cy="3145200"/>
          </a:xfrm>
          <a:prstGeom prst="roundRect">
            <a:avLst>
              <a:gd fmla="val 7180" name="adj"/>
            </a:avLst>
          </a:prstGeom>
          <a:solidFill>
            <a:srgbClr val="FEFEFC"/>
          </a:solidFill>
          <a:ln>
            <a:noFill/>
          </a:ln>
          <a:effectLst>
            <a:outerShdw blurRad="190500" rotWithShape="0" algn="ctr" dir="3600000" dist="190500">
              <a:srgbClr val="133C55">
                <a:alpha val="7840"/>
              </a:srgbClr>
            </a:outerShdw>
          </a:effectLst>
        </p:spPr>
        <p:txBody>
          <a:bodyPr anchorCtr="0" anchor="t" bIns="91425" lIns="91425" spcFirstLastPara="1" rIns="91425" wrap="square" tIns="457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133C5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133C5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33C55"/>
                </a:solidFill>
                <a:latin typeface="Open Sans"/>
                <a:ea typeface="Open Sans"/>
                <a:cs typeface="Open Sans"/>
                <a:sym typeface="Open Sans"/>
              </a:rPr>
              <a:t>		</a:t>
            </a:r>
            <a:endParaRPr b="0" i="0" sz="1100" u="none" cap="none" strike="noStrike">
              <a:solidFill>
                <a:srgbClr val="133C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86"/>
          <p:cNvSpPr txBox="1"/>
          <p:nvPr>
            <p:ph type="title"/>
          </p:nvPr>
        </p:nvSpPr>
        <p:spPr>
          <a:xfrm>
            <a:off x="413300" y="413975"/>
            <a:ext cx="586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Single Source Of Truth</a:t>
            </a:r>
            <a:endParaRPr/>
          </a:p>
        </p:txBody>
      </p:sp>
      <p:sp>
        <p:nvSpPr>
          <p:cNvPr id="866" name="Google Shape;866;p86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7" name="Google Shape;867;p86"/>
          <p:cNvSpPr txBox="1"/>
          <p:nvPr/>
        </p:nvSpPr>
        <p:spPr>
          <a:xfrm>
            <a:off x="742925" y="1542350"/>
            <a:ext cx="5425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5A95ED"/>
                </a:solidFill>
                <a:latin typeface="Anybody"/>
                <a:ea typeface="Anybody"/>
                <a:cs typeface="Anybody"/>
                <a:sym typeface="Anybody"/>
              </a:rPr>
              <a:t>Authoritative representation in </a:t>
            </a:r>
            <a:r>
              <a:rPr b="1" lang="en" sz="1600">
                <a:solidFill>
                  <a:srgbClr val="5A95ED"/>
                </a:solidFill>
                <a:latin typeface="Anybody"/>
                <a:ea typeface="Anybody"/>
                <a:cs typeface="Anybody"/>
                <a:sym typeface="Anybody"/>
              </a:rPr>
              <a:t>one</a:t>
            </a:r>
            <a:r>
              <a:rPr lang="en" sz="1600">
                <a:solidFill>
                  <a:srgbClr val="5A95ED"/>
                </a:solidFill>
                <a:latin typeface="Anybody"/>
                <a:ea typeface="Anybody"/>
                <a:cs typeface="Anybody"/>
                <a:sym typeface="Anybody"/>
              </a:rPr>
              <a:t> place</a:t>
            </a:r>
            <a:endParaRPr sz="1600">
              <a:solidFill>
                <a:srgbClr val="5A95ED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A95ED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5A95ED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grpSp>
        <p:nvGrpSpPr>
          <p:cNvPr id="868" name="Google Shape;868;p86"/>
          <p:cNvGrpSpPr/>
          <p:nvPr/>
        </p:nvGrpSpPr>
        <p:grpSpPr>
          <a:xfrm flipH="1">
            <a:off x="742933" y="1993972"/>
            <a:ext cx="199043" cy="236087"/>
            <a:chOff x="2000250" y="0"/>
            <a:chExt cx="4336452" cy="5143500"/>
          </a:xfrm>
        </p:grpSpPr>
        <p:sp>
          <p:nvSpPr>
            <p:cNvPr id="869" name="Google Shape;869;p86"/>
            <p:cNvSpPr/>
            <p:nvPr/>
          </p:nvSpPr>
          <p:spPr>
            <a:xfrm>
              <a:off x="4259914" y="2098256"/>
              <a:ext cx="301376" cy="301376"/>
            </a:xfrm>
            <a:custGeom>
              <a:rect b="b" l="l" r="r" t="t"/>
              <a:pathLst>
                <a:path extrusionOk="0" h="301376" w="301376">
                  <a:moveTo>
                    <a:pt x="301377" y="150688"/>
                  </a:moveTo>
                  <a:cubicBezTo>
                    <a:pt x="301377" y="233919"/>
                    <a:pt x="233919" y="301377"/>
                    <a:pt x="150688" y="301377"/>
                  </a:cubicBezTo>
                  <a:cubicBezTo>
                    <a:pt x="67448" y="301377"/>
                    <a:pt x="0" y="233919"/>
                    <a:pt x="0" y="150688"/>
                  </a:cubicBezTo>
                  <a:cubicBezTo>
                    <a:pt x="0" y="67458"/>
                    <a:pt x="67448" y="0"/>
                    <a:pt x="150688" y="0"/>
                  </a:cubicBezTo>
                  <a:cubicBezTo>
                    <a:pt x="233919" y="0"/>
                    <a:pt x="301377" y="67458"/>
                    <a:pt x="301377" y="150688"/>
                  </a:cubicBezTo>
                  <a:close/>
                </a:path>
              </a:pathLst>
            </a:custGeom>
            <a:solidFill>
              <a:srgbClr val="0C253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86"/>
            <p:cNvSpPr/>
            <p:nvPr/>
          </p:nvSpPr>
          <p:spPr>
            <a:xfrm>
              <a:off x="3175480" y="646071"/>
              <a:ext cx="2470234" cy="2237764"/>
            </a:xfrm>
            <a:custGeom>
              <a:rect b="b" l="l" r="r" t="t"/>
              <a:pathLst>
                <a:path extrusionOk="0" h="2237764" w="2470234">
                  <a:moveTo>
                    <a:pt x="861454" y="211126"/>
                  </a:moveTo>
                  <a:lnTo>
                    <a:pt x="68421" y="1532864"/>
                  </a:lnTo>
                  <a:cubicBezTo>
                    <a:pt x="-16065" y="1673546"/>
                    <a:pt x="-22695" y="1845231"/>
                    <a:pt x="50680" y="1992152"/>
                  </a:cubicBezTo>
                  <a:cubicBezTo>
                    <a:pt x="171974" y="2232631"/>
                    <a:pt x="409469" y="2237765"/>
                    <a:pt x="448046" y="2237765"/>
                  </a:cubicBezTo>
                  <a:lnTo>
                    <a:pt x="2022188" y="2237765"/>
                  </a:lnTo>
                  <a:cubicBezTo>
                    <a:pt x="2060764" y="2237765"/>
                    <a:pt x="2297586" y="2232942"/>
                    <a:pt x="2419513" y="1992152"/>
                  </a:cubicBezTo>
                  <a:cubicBezTo>
                    <a:pt x="2492938" y="1845231"/>
                    <a:pt x="2486298" y="1673546"/>
                    <a:pt x="2401852" y="1532944"/>
                  </a:cubicBezTo>
                  <a:lnTo>
                    <a:pt x="1608779" y="211126"/>
                  </a:lnTo>
                  <a:cubicBezTo>
                    <a:pt x="1440158" y="-70120"/>
                    <a:pt x="1030396" y="-70630"/>
                    <a:pt x="861454" y="211126"/>
                  </a:cubicBezTo>
                  <a:close/>
                  <a:moveTo>
                    <a:pt x="2143452" y="1688033"/>
                  </a:moveTo>
                  <a:cubicBezTo>
                    <a:pt x="2206630" y="1793193"/>
                    <a:pt x="2145019" y="1936388"/>
                    <a:pt x="2022188" y="1936388"/>
                  </a:cubicBezTo>
                  <a:lnTo>
                    <a:pt x="448046" y="1936388"/>
                  </a:lnTo>
                  <a:cubicBezTo>
                    <a:pt x="325255" y="1936388"/>
                    <a:pt x="263573" y="1793274"/>
                    <a:pt x="326832" y="1687952"/>
                  </a:cubicBezTo>
                  <a:cubicBezTo>
                    <a:pt x="455620" y="1473261"/>
                    <a:pt x="695587" y="1073344"/>
                    <a:pt x="891833" y="746270"/>
                  </a:cubicBezTo>
                  <a:lnTo>
                    <a:pt x="1119905" y="366173"/>
                  </a:lnTo>
                  <a:cubicBezTo>
                    <a:pt x="1119905" y="366173"/>
                    <a:pt x="1119905" y="366173"/>
                    <a:pt x="1119905" y="366133"/>
                  </a:cubicBezTo>
                  <a:cubicBezTo>
                    <a:pt x="1171863" y="279524"/>
                    <a:pt x="1298180" y="279211"/>
                    <a:pt x="1350328" y="366173"/>
                  </a:cubicBezTo>
                  <a:lnTo>
                    <a:pt x="1618945" y="813879"/>
                  </a:lnTo>
                  <a:cubicBezTo>
                    <a:pt x="1806753" y="1126829"/>
                    <a:pt x="2023363" y="1487818"/>
                    <a:pt x="2143452" y="1688033"/>
                  </a:cubicBezTo>
                  <a:close/>
                </a:path>
              </a:pathLst>
            </a:custGeom>
            <a:solidFill>
              <a:srgbClr val="0C253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86"/>
            <p:cNvSpPr/>
            <p:nvPr/>
          </p:nvSpPr>
          <p:spPr>
            <a:xfrm>
              <a:off x="4259914" y="1291209"/>
              <a:ext cx="301376" cy="624181"/>
            </a:xfrm>
            <a:custGeom>
              <a:rect b="b" l="l" r="r" t="t"/>
              <a:pathLst>
                <a:path extrusionOk="0" h="624181" w="301376">
                  <a:moveTo>
                    <a:pt x="150688" y="0"/>
                  </a:moveTo>
                  <a:cubicBezTo>
                    <a:pt x="67448" y="0"/>
                    <a:pt x="0" y="67498"/>
                    <a:pt x="0" y="150688"/>
                  </a:cubicBezTo>
                  <a:lnTo>
                    <a:pt x="0" y="473493"/>
                  </a:lnTo>
                  <a:cubicBezTo>
                    <a:pt x="0" y="556724"/>
                    <a:pt x="67448" y="624182"/>
                    <a:pt x="150688" y="624182"/>
                  </a:cubicBezTo>
                  <a:cubicBezTo>
                    <a:pt x="233919" y="624182"/>
                    <a:pt x="301377" y="556724"/>
                    <a:pt x="301377" y="473493"/>
                  </a:cubicBezTo>
                  <a:lnTo>
                    <a:pt x="301377" y="150688"/>
                  </a:lnTo>
                  <a:cubicBezTo>
                    <a:pt x="301377" y="67498"/>
                    <a:pt x="233919" y="0"/>
                    <a:pt x="150688" y="0"/>
                  </a:cubicBezTo>
                  <a:close/>
                </a:path>
              </a:pathLst>
            </a:custGeom>
            <a:solidFill>
              <a:srgbClr val="0C253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86"/>
            <p:cNvSpPr/>
            <p:nvPr/>
          </p:nvSpPr>
          <p:spPr>
            <a:xfrm>
              <a:off x="2000250" y="0"/>
              <a:ext cx="4336452" cy="5143500"/>
            </a:xfrm>
            <a:custGeom>
              <a:rect b="b" l="l" r="r" t="t"/>
              <a:pathLst>
                <a:path extrusionOk="0" h="5143500" w="4336452">
                  <a:moveTo>
                    <a:pt x="4336453" y="2105952"/>
                  </a:moveTo>
                  <a:cubicBezTo>
                    <a:pt x="4336453" y="184554"/>
                    <a:pt x="2649134" y="0"/>
                    <a:pt x="2363378" y="0"/>
                  </a:cubicBezTo>
                  <a:cubicBezTo>
                    <a:pt x="1272142" y="0"/>
                    <a:pt x="564925" y="947728"/>
                    <a:pt x="564925" y="1686686"/>
                  </a:cubicBezTo>
                  <a:lnTo>
                    <a:pt x="564925" y="1955143"/>
                  </a:lnTo>
                  <a:cubicBezTo>
                    <a:pt x="475375" y="2070239"/>
                    <a:pt x="219519" y="2399202"/>
                    <a:pt x="97751" y="2555777"/>
                  </a:cubicBezTo>
                  <a:cubicBezTo>
                    <a:pt x="34729" y="2636817"/>
                    <a:pt x="0" y="2737980"/>
                    <a:pt x="0" y="2840639"/>
                  </a:cubicBezTo>
                  <a:cubicBezTo>
                    <a:pt x="0" y="3033349"/>
                    <a:pt x="115606" y="3204170"/>
                    <a:pt x="294627" y="3275867"/>
                  </a:cubicBezTo>
                  <a:lnTo>
                    <a:pt x="435152" y="3332064"/>
                  </a:lnTo>
                  <a:lnTo>
                    <a:pt x="662794" y="3969426"/>
                  </a:lnTo>
                  <a:cubicBezTo>
                    <a:pt x="775653" y="4285520"/>
                    <a:pt x="1077031" y="4497891"/>
                    <a:pt x="1412705" y="4497891"/>
                  </a:cubicBezTo>
                  <a:lnTo>
                    <a:pt x="1647055" y="4497891"/>
                  </a:lnTo>
                  <a:lnTo>
                    <a:pt x="1779932" y="5029389"/>
                  </a:lnTo>
                  <a:cubicBezTo>
                    <a:pt x="1796729" y="5096445"/>
                    <a:pt x="1857005" y="5143500"/>
                    <a:pt x="1926140" y="5143500"/>
                  </a:cubicBezTo>
                  <a:lnTo>
                    <a:pt x="3862960" y="5143500"/>
                  </a:lnTo>
                  <a:cubicBezTo>
                    <a:pt x="3910246" y="5143500"/>
                    <a:pt x="3954829" y="5121289"/>
                    <a:pt x="3983279" y="5083536"/>
                  </a:cubicBezTo>
                  <a:cubicBezTo>
                    <a:pt x="4011769" y="5045824"/>
                    <a:pt x="4020871" y="4996890"/>
                    <a:pt x="4007882" y="4951413"/>
                  </a:cubicBezTo>
                  <a:lnTo>
                    <a:pt x="3700106" y="3874181"/>
                  </a:lnTo>
                  <a:lnTo>
                    <a:pt x="4199849" y="2749713"/>
                  </a:lnTo>
                  <a:cubicBezTo>
                    <a:pt x="4290503" y="2545691"/>
                    <a:pt x="4336453" y="2329122"/>
                    <a:pt x="4336453" y="2105952"/>
                  </a:cubicBezTo>
                  <a:close/>
                  <a:moveTo>
                    <a:pt x="3924451" y="2627314"/>
                  </a:moveTo>
                  <a:lnTo>
                    <a:pt x="3402456" y="3801780"/>
                  </a:lnTo>
                  <a:cubicBezTo>
                    <a:pt x="3388140" y="3834078"/>
                    <a:pt x="3385588" y="3870383"/>
                    <a:pt x="3395283" y="3904359"/>
                  </a:cubicBezTo>
                  <a:lnTo>
                    <a:pt x="3663217" y="4842123"/>
                  </a:lnTo>
                  <a:lnTo>
                    <a:pt x="2043788" y="4842123"/>
                  </a:lnTo>
                  <a:lnTo>
                    <a:pt x="1910921" y="4310635"/>
                  </a:lnTo>
                  <a:cubicBezTo>
                    <a:pt x="1894164" y="4243569"/>
                    <a:pt x="1833889" y="4196514"/>
                    <a:pt x="1764743" y="4196514"/>
                  </a:cubicBezTo>
                  <a:lnTo>
                    <a:pt x="1412705" y="4196514"/>
                  </a:lnTo>
                  <a:cubicBezTo>
                    <a:pt x="1204051" y="4196514"/>
                    <a:pt x="1016755" y="4064510"/>
                    <a:pt x="946591" y="3868063"/>
                  </a:cubicBezTo>
                  <a:lnTo>
                    <a:pt x="696110" y="3166698"/>
                  </a:lnTo>
                  <a:cubicBezTo>
                    <a:pt x="681591" y="3126002"/>
                    <a:pt x="650276" y="3093474"/>
                    <a:pt x="610132" y="3077461"/>
                  </a:cubicBezTo>
                  <a:lnTo>
                    <a:pt x="406585" y="2996029"/>
                  </a:lnTo>
                  <a:cubicBezTo>
                    <a:pt x="302201" y="2954238"/>
                    <a:pt x="269552" y="2825721"/>
                    <a:pt x="335635" y="2740843"/>
                  </a:cubicBezTo>
                  <a:cubicBezTo>
                    <a:pt x="462700" y="2577396"/>
                    <a:pt x="735666" y="2226463"/>
                    <a:pt x="813522" y="2126355"/>
                  </a:cubicBezTo>
                  <a:cubicBezTo>
                    <a:pt x="847544" y="2082565"/>
                    <a:pt x="866302" y="2027935"/>
                    <a:pt x="866302" y="1972532"/>
                  </a:cubicBezTo>
                  <a:lnTo>
                    <a:pt x="866302" y="1686686"/>
                  </a:lnTo>
                  <a:cubicBezTo>
                    <a:pt x="866302" y="1281907"/>
                    <a:pt x="1295137" y="301377"/>
                    <a:pt x="2363529" y="301377"/>
                  </a:cubicBezTo>
                  <a:cubicBezTo>
                    <a:pt x="2600240" y="301377"/>
                    <a:pt x="4035076" y="445355"/>
                    <a:pt x="4035076" y="2105952"/>
                  </a:cubicBezTo>
                  <a:cubicBezTo>
                    <a:pt x="4035076" y="2286698"/>
                    <a:pt x="3997876" y="2462109"/>
                    <a:pt x="3924451" y="2627314"/>
                  </a:cubicBezTo>
                  <a:close/>
                </a:path>
              </a:pathLst>
            </a:custGeom>
            <a:solidFill>
              <a:srgbClr val="0C253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3" name="Google Shape;873;p86"/>
          <p:cNvGrpSpPr/>
          <p:nvPr/>
        </p:nvGrpSpPr>
        <p:grpSpPr>
          <a:xfrm>
            <a:off x="701743" y="3550313"/>
            <a:ext cx="240244" cy="240258"/>
            <a:chOff x="2387863" y="387613"/>
            <a:chExt cx="4368073" cy="4368333"/>
          </a:xfrm>
        </p:grpSpPr>
        <p:sp>
          <p:nvSpPr>
            <p:cNvPr id="874" name="Google Shape;874;p86"/>
            <p:cNvSpPr/>
            <p:nvPr/>
          </p:nvSpPr>
          <p:spPr>
            <a:xfrm>
              <a:off x="2387863" y="387613"/>
              <a:ext cx="4368073" cy="4368333"/>
            </a:xfrm>
            <a:custGeom>
              <a:rect b="b" l="l" r="r" t="t"/>
              <a:pathLst>
                <a:path extrusionOk="0" h="4368333" w="4368073">
                  <a:moveTo>
                    <a:pt x="2184136" y="4368333"/>
                  </a:moveTo>
                  <a:cubicBezTo>
                    <a:pt x="2026229" y="4368556"/>
                    <a:pt x="1874723" y="4305890"/>
                    <a:pt x="1763106" y="4194191"/>
                  </a:cubicBezTo>
                  <a:lnTo>
                    <a:pt x="1541414" y="3972296"/>
                  </a:lnTo>
                  <a:cubicBezTo>
                    <a:pt x="1487048" y="3917635"/>
                    <a:pt x="1413077" y="3886973"/>
                    <a:pt x="1335979" y="3887155"/>
                  </a:cubicBezTo>
                  <a:lnTo>
                    <a:pt x="1076290" y="3887155"/>
                  </a:lnTo>
                  <a:cubicBezTo>
                    <a:pt x="747612" y="3886810"/>
                    <a:pt x="481249" y="3620455"/>
                    <a:pt x="480914" y="3291779"/>
                  </a:cubicBezTo>
                  <a:lnTo>
                    <a:pt x="480914" y="3032293"/>
                  </a:lnTo>
                  <a:cubicBezTo>
                    <a:pt x="481151" y="2955219"/>
                    <a:pt x="450570" y="2881254"/>
                    <a:pt x="395976" y="2826858"/>
                  </a:cubicBezTo>
                  <a:lnTo>
                    <a:pt x="174082" y="2605166"/>
                  </a:lnTo>
                  <a:cubicBezTo>
                    <a:pt x="-58027" y="2372462"/>
                    <a:pt x="-58027" y="1995810"/>
                    <a:pt x="174082" y="1763106"/>
                  </a:cubicBezTo>
                  <a:lnTo>
                    <a:pt x="395976" y="1541414"/>
                  </a:lnTo>
                  <a:cubicBezTo>
                    <a:pt x="450645" y="1487048"/>
                    <a:pt x="481302" y="1413077"/>
                    <a:pt x="481117" y="1335979"/>
                  </a:cubicBezTo>
                  <a:lnTo>
                    <a:pt x="481117" y="1076290"/>
                  </a:lnTo>
                  <a:cubicBezTo>
                    <a:pt x="481452" y="747612"/>
                    <a:pt x="747815" y="481249"/>
                    <a:pt x="1076493" y="480914"/>
                  </a:cubicBezTo>
                  <a:lnTo>
                    <a:pt x="1335979" y="480914"/>
                  </a:lnTo>
                  <a:cubicBezTo>
                    <a:pt x="1413049" y="481151"/>
                    <a:pt x="1487016" y="450570"/>
                    <a:pt x="1541414" y="395976"/>
                  </a:cubicBezTo>
                  <a:lnTo>
                    <a:pt x="1763106" y="174082"/>
                  </a:lnTo>
                  <a:cubicBezTo>
                    <a:pt x="1995810" y="-58027"/>
                    <a:pt x="2372462" y="-58027"/>
                    <a:pt x="2605166" y="174082"/>
                  </a:cubicBezTo>
                  <a:lnTo>
                    <a:pt x="2826858" y="395976"/>
                  </a:lnTo>
                  <a:cubicBezTo>
                    <a:pt x="2881214" y="450645"/>
                    <a:pt x="2955199" y="481302"/>
                    <a:pt x="3032293" y="481117"/>
                  </a:cubicBezTo>
                  <a:lnTo>
                    <a:pt x="3291983" y="481117"/>
                  </a:lnTo>
                  <a:cubicBezTo>
                    <a:pt x="3620659" y="481452"/>
                    <a:pt x="3887013" y="747815"/>
                    <a:pt x="3887359" y="1076493"/>
                  </a:cubicBezTo>
                  <a:lnTo>
                    <a:pt x="3887359" y="1335979"/>
                  </a:lnTo>
                  <a:cubicBezTo>
                    <a:pt x="3887115" y="1413049"/>
                    <a:pt x="3917696" y="1487016"/>
                    <a:pt x="3972296" y="1541414"/>
                  </a:cubicBezTo>
                  <a:lnTo>
                    <a:pt x="4193988" y="1763106"/>
                  </a:lnTo>
                  <a:cubicBezTo>
                    <a:pt x="4426103" y="1995810"/>
                    <a:pt x="4426103" y="2372462"/>
                    <a:pt x="4193988" y="2605166"/>
                  </a:cubicBezTo>
                  <a:lnTo>
                    <a:pt x="3972296" y="2826858"/>
                  </a:lnTo>
                  <a:cubicBezTo>
                    <a:pt x="3917635" y="2881214"/>
                    <a:pt x="3886973" y="2955199"/>
                    <a:pt x="3887155" y="3032293"/>
                  </a:cubicBezTo>
                  <a:lnTo>
                    <a:pt x="3887155" y="3291983"/>
                  </a:lnTo>
                  <a:cubicBezTo>
                    <a:pt x="3886810" y="3620659"/>
                    <a:pt x="3620455" y="3887013"/>
                    <a:pt x="3291779" y="3887359"/>
                  </a:cubicBezTo>
                  <a:lnTo>
                    <a:pt x="3032293" y="3887359"/>
                  </a:lnTo>
                  <a:cubicBezTo>
                    <a:pt x="2955199" y="3887176"/>
                    <a:pt x="2881214" y="3917838"/>
                    <a:pt x="2826858" y="3972499"/>
                  </a:cubicBezTo>
                  <a:lnTo>
                    <a:pt x="2605166" y="4194191"/>
                  </a:lnTo>
                  <a:cubicBezTo>
                    <a:pt x="2493549" y="4305890"/>
                    <a:pt x="2342043" y="4368556"/>
                    <a:pt x="2184136" y="4368333"/>
                  </a:cubicBezTo>
                  <a:close/>
                  <a:moveTo>
                    <a:pt x="1076290" y="785714"/>
                  </a:moveTo>
                  <a:cubicBezTo>
                    <a:pt x="915855" y="785825"/>
                    <a:pt x="785825" y="915855"/>
                    <a:pt x="785714" y="1076290"/>
                  </a:cubicBezTo>
                  <a:lnTo>
                    <a:pt x="785714" y="1335979"/>
                  </a:lnTo>
                  <a:cubicBezTo>
                    <a:pt x="786283" y="1494158"/>
                    <a:pt x="723411" y="1645963"/>
                    <a:pt x="611165" y="1757416"/>
                  </a:cubicBezTo>
                  <a:lnTo>
                    <a:pt x="389677" y="1978904"/>
                  </a:lnTo>
                  <a:cubicBezTo>
                    <a:pt x="276310" y="2092554"/>
                    <a:pt x="276310" y="2276531"/>
                    <a:pt x="389677" y="2390181"/>
                  </a:cubicBezTo>
                  <a:lnTo>
                    <a:pt x="611165" y="2611669"/>
                  </a:lnTo>
                  <a:cubicBezTo>
                    <a:pt x="723309" y="2723023"/>
                    <a:pt x="786175" y="2874671"/>
                    <a:pt x="785714" y="3032699"/>
                  </a:cubicBezTo>
                  <a:lnTo>
                    <a:pt x="785714" y="3292389"/>
                  </a:lnTo>
                  <a:cubicBezTo>
                    <a:pt x="785825" y="3452815"/>
                    <a:pt x="915855" y="3582843"/>
                    <a:pt x="1076290" y="3582965"/>
                  </a:cubicBezTo>
                  <a:lnTo>
                    <a:pt x="1335979" y="3582965"/>
                  </a:lnTo>
                  <a:cubicBezTo>
                    <a:pt x="1494000" y="3582599"/>
                    <a:pt x="1645603" y="3645449"/>
                    <a:pt x="1757010" y="3757514"/>
                  </a:cubicBezTo>
                  <a:lnTo>
                    <a:pt x="1978498" y="3979002"/>
                  </a:lnTo>
                  <a:cubicBezTo>
                    <a:pt x="2092148" y="4092367"/>
                    <a:pt x="2276125" y="4092367"/>
                    <a:pt x="2389775" y="3979002"/>
                  </a:cubicBezTo>
                  <a:lnTo>
                    <a:pt x="2611263" y="3757514"/>
                  </a:lnTo>
                  <a:cubicBezTo>
                    <a:pt x="2722677" y="3645449"/>
                    <a:pt x="2874264" y="3582599"/>
                    <a:pt x="3032293" y="3582965"/>
                  </a:cubicBezTo>
                  <a:lnTo>
                    <a:pt x="3291983" y="3582965"/>
                  </a:lnTo>
                  <a:cubicBezTo>
                    <a:pt x="3452409" y="3582843"/>
                    <a:pt x="3582436" y="3452815"/>
                    <a:pt x="3582559" y="3292389"/>
                  </a:cubicBezTo>
                  <a:lnTo>
                    <a:pt x="3582559" y="3032293"/>
                  </a:lnTo>
                  <a:cubicBezTo>
                    <a:pt x="3582091" y="2874264"/>
                    <a:pt x="3644961" y="2722616"/>
                    <a:pt x="3757107" y="2611263"/>
                  </a:cubicBezTo>
                  <a:lnTo>
                    <a:pt x="3978595" y="2389775"/>
                  </a:lnTo>
                  <a:cubicBezTo>
                    <a:pt x="4091961" y="2276125"/>
                    <a:pt x="4091961" y="2092148"/>
                    <a:pt x="3978595" y="1978498"/>
                  </a:cubicBezTo>
                  <a:lnTo>
                    <a:pt x="3757107" y="1757416"/>
                  </a:lnTo>
                  <a:cubicBezTo>
                    <a:pt x="3645043" y="1646010"/>
                    <a:pt x="3582193" y="1494406"/>
                    <a:pt x="3582559" y="1336386"/>
                  </a:cubicBezTo>
                  <a:lnTo>
                    <a:pt x="3582559" y="1076290"/>
                  </a:lnTo>
                  <a:cubicBezTo>
                    <a:pt x="3582436" y="915855"/>
                    <a:pt x="3452409" y="785825"/>
                    <a:pt x="3291983" y="785714"/>
                  </a:cubicBezTo>
                  <a:lnTo>
                    <a:pt x="3032293" y="785714"/>
                  </a:lnTo>
                  <a:cubicBezTo>
                    <a:pt x="2874122" y="786283"/>
                    <a:pt x="2722311" y="723411"/>
                    <a:pt x="2610856" y="611165"/>
                  </a:cubicBezTo>
                  <a:lnTo>
                    <a:pt x="2389368" y="389677"/>
                  </a:lnTo>
                  <a:cubicBezTo>
                    <a:pt x="2275718" y="276310"/>
                    <a:pt x="2091741" y="276310"/>
                    <a:pt x="1978091" y="389677"/>
                  </a:cubicBezTo>
                  <a:lnTo>
                    <a:pt x="1757416" y="611165"/>
                  </a:lnTo>
                  <a:cubicBezTo>
                    <a:pt x="1646060" y="723309"/>
                    <a:pt x="1494425" y="786175"/>
                    <a:pt x="1336386" y="785714"/>
                  </a:cubicBezTo>
                  <a:close/>
                </a:path>
              </a:pathLst>
            </a:custGeom>
            <a:solidFill>
              <a:srgbClr val="0C253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86"/>
            <p:cNvSpPr/>
            <p:nvPr/>
          </p:nvSpPr>
          <p:spPr>
            <a:xfrm>
              <a:off x="3813800" y="2016750"/>
              <a:ext cx="1516399" cy="1113799"/>
            </a:xfrm>
            <a:custGeom>
              <a:rect b="b" l="l" r="r" t="t"/>
              <a:pathLst>
                <a:path extrusionOk="0" h="1113799" w="1516399">
                  <a:moveTo>
                    <a:pt x="554999" y="1113799"/>
                  </a:moveTo>
                  <a:cubicBezTo>
                    <a:pt x="514563" y="1113901"/>
                    <a:pt x="475772" y="1097808"/>
                    <a:pt x="447303" y="1069095"/>
                  </a:cubicBezTo>
                  <a:lnTo>
                    <a:pt x="40903" y="662695"/>
                  </a:lnTo>
                  <a:cubicBezTo>
                    <a:pt x="-16476" y="601126"/>
                    <a:pt x="-13073" y="504687"/>
                    <a:pt x="48507" y="447303"/>
                  </a:cubicBezTo>
                  <a:cubicBezTo>
                    <a:pt x="107035" y="392765"/>
                    <a:pt x="197768" y="392765"/>
                    <a:pt x="256295" y="447303"/>
                  </a:cubicBezTo>
                  <a:lnTo>
                    <a:pt x="554999" y="745804"/>
                  </a:lnTo>
                  <a:lnTo>
                    <a:pt x="1260103" y="40903"/>
                  </a:lnTo>
                  <a:cubicBezTo>
                    <a:pt x="1321673" y="-16476"/>
                    <a:pt x="1418112" y="-13073"/>
                    <a:pt x="1475495" y="48507"/>
                  </a:cubicBezTo>
                  <a:cubicBezTo>
                    <a:pt x="1530034" y="107035"/>
                    <a:pt x="1530034" y="197774"/>
                    <a:pt x="1475495" y="256295"/>
                  </a:cubicBezTo>
                  <a:lnTo>
                    <a:pt x="662695" y="1069095"/>
                  </a:lnTo>
                  <a:cubicBezTo>
                    <a:pt x="634227" y="1097808"/>
                    <a:pt x="595436" y="1113901"/>
                    <a:pt x="554999" y="1113799"/>
                  </a:cubicBezTo>
                  <a:close/>
                </a:path>
              </a:pathLst>
            </a:custGeom>
            <a:solidFill>
              <a:srgbClr val="0C253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6" name="Google Shape;876;p86"/>
          <p:cNvSpPr txBox="1"/>
          <p:nvPr/>
        </p:nvSpPr>
        <p:spPr>
          <a:xfrm>
            <a:off x="1089850" y="3493966"/>
            <a:ext cx="63954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Solution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Code generation</a:t>
            </a:r>
            <a:r>
              <a:rPr lang="en"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“copy and paste </a:t>
            </a: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at scale</a:t>
            </a:r>
            <a:r>
              <a:rPr lang="en"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!!!”</a:t>
            </a:r>
            <a:endParaRPr sz="12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33C55"/>
              </a:buClr>
              <a:buSzPts val="1800"/>
              <a:buFont typeface="Open Sans"/>
              <a:buNone/>
            </a:pPr>
            <a:r>
              <a:t/>
            </a:r>
            <a:endParaRPr b="0" i="0" sz="1200" u="none" cap="none" strike="noStrike">
              <a:solidFill>
                <a:srgbClr val="0C25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77" name="Google Shape;87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3050" y="2950975"/>
            <a:ext cx="2098750" cy="149014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86"/>
          <p:cNvSpPr txBox="1"/>
          <p:nvPr/>
        </p:nvSpPr>
        <p:spPr>
          <a:xfrm>
            <a:off x="1089850" y="1951050"/>
            <a:ext cx="70725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Challenge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Choosing an expressive and easy to read SSOT is important for maintenance</a:t>
            </a:r>
            <a:endParaRPr b="0" i="0" sz="1200" u="none" cap="none" strike="noStrike">
              <a:solidFill>
                <a:srgbClr val="0C25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9" name="Google Shape;879;p86"/>
          <p:cNvSpPr txBox="1"/>
          <p:nvPr/>
        </p:nvSpPr>
        <p:spPr>
          <a:xfrm>
            <a:off x="1089850" y="2713050"/>
            <a:ext cx="70725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Targets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Systems need specialized artifacts (</a:t>
            </a: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Go code</a:t>
            </a:r>
            <a:r>
              <a:rPr lang="en"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for speed, </a:t>
            </a: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JSON</a:t>
            </a:r>
            <a:r>
              <a:rPr lang="en"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for UI, </a:t>
            </a: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HTML</a:t>
            </a:r>
            <a:r>
              <a:rPr lang="en"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for browsers)</a:t>
            </a:r>
            <a:endParaRPr b="0" i="0" sz="1200" u="none" cap="none" strike="noStrike">
              <a:solidFill>
                <a:srgbClr val="0C25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0" name="Google Shape;880;p86"/>
          <p:cNvSpPr/>
          <p:nvPr/>
        </p:nvSpPr>
        <p:spPr>
          <a:xfrm>
            <a:off x="722641" y="2775769"/>
            <a:ext cx="239612" cy="239830"/>
          </a:xfrm>
          <a:custGeom>
            <a:rect b="b" l="l" r="r" t="t"/>
            <a:pathLst>
              <a:path extrusionOk="0" h="561007" w="567130">
                <a:moveTo>
                  <a:pt x="367861" y="88163"/>
                </a:moveTo>
                <a:cubicBezTo>
                  <a:pt x="360289" y="84457"/>
                  <a:pt x="352555" y="81074"/>
                  <a:pt x="344596" y="78141"/>
                </a:cubicBezTo>
                <a:cubicBezTo>
                  <a:pt x="316530" y="67572"/>
                  <a:pt x="286014" y="61804"/>
                  <a:pt x="254209" y="61804"/>
                </a:cubicBezTo>
                <a:cubicBezTo>
                  <a:pt x="114038" y="61804"/>
                  <a:pt x="0" y="173748"/>
                  <a:pt x="0" y="311406"/>
                </a:cubicBezTo>
                <a:cubicBezTo>
                  <a:pt x="0" y="449064"/>
                  <a:pt x="114038" y="561007"/>
                  <a:pt x="254209" y="561007"/>
                </a:cubicBezTo>
                <a:cubicBezTo>
                  <a:pt x="394381" y="561007"/>
                  <a:pt x="508387" y="449032"/>
                  <a:pt x="508387" y="311406"/>
                </a:cubicBezTo>
                <a:cubicBezTo>
                  <a:pt x="508387" y="279505"/>
                  <a:pt x="502265" y="248957"/>
                  <a:pt x="491115" y="220890"/>
                </a:cubicBezTo>
                <a:moveTo>
                  <a:pt x="341793" y="169011"/>
                </a:moveTo>
                <a:cubicBezTo>
                  <a:pt x="333930" y="164307"/>
                  <a:pt x="325681" y="160246"/>
                  <a:pt x="317077" y="156863"/>
                </a:cubicBezTo>
                <a:cubicBezTo>
                  <a:pt x="297614" y="149226"/>
                  <a:pt x="276411" y="144973"/>
                  <a:pt x="254209" y="144973"/>
                </a:cubicBezTo>
                <a:cubicBezTo>
                  <a:pt x="160762" y="144973"/>
                  <a:pt x="84747" y="219666"/>
                  <a:pt x="84747" y="311406"/>
                </a:cubicBezTo>
                <a:cubicBezTo>
                  <a:pt x="84747" y="403146"/>
                  <a:pt x="160762" y="477807"/>
                  <a:pt x="254209" y="477807"/>
                </a:cubicBezTo>
                <a:cubicBezTo>
                  <a:pt x="347657" y="477807"/>
                  <a:pt x="423672" y="403178"/>
                  <a:pt x="423672" y="311406"/>
                </a:cubicBezTo>
                <a:cubicBezTo>
                  <a:pt x="423672" y="289687"/>
                  <a:pt x="419418" y="268935"/>
                  <a:pt x="411653" y="249891"/>
                </a:cubicBezTo>
                <a:moveTo>
                  <a:pt x="314274" y="252759"/>
                </a:moveTo>
                <a:cubicBezTo>
                  <a:pt x="308377" y="246959"/>
                  <a:pt x="301642" y="241997"/>
                  <a:pt x="294231" y="238098"/>
                </a:cubicBezTo>
                <a:cubicBezTo>
                  <a:pt x="282308" y="231782"/>
                  <a:pt x="268678" y="228205"/>
                  <a:pt x="254209" y="228205"/>
                </a:cubicBezTo>
                <a:cubicBezTo>
                  <a:pt x="207486" y="228205"/>
                  <a:pt x="169462" y="265520"/>
                  <a:pt x="169462" y="311406"/>
                </a:cubicBezTo>
                <a:cubicBezTo>
                  <a:pt x="169462" y="357292"/>
                  <a:pt x="207486" y="394606"/>
                  <a:pt x="254209" y="394606"/>
                </a:cubicBezTo>
                <a:cubicBezTo>
                  <a:pt x="300933" y="394606"/>
                  <a:pt x="338925" y="357292"/>
                  <a:pt x="338925" y="311406"/>
                </a:cubicBezTo>
                <a:cubicBezTo>
                  <a:pt x="338925" y="297356"/>
                  <a:pt x="335380" y="284145"/>
                  <a:pt x="329129" y="272577"/>
                </a:cubicBezTo>
                <a:moveTo>
                  <a:pt x="469848" y="97250"/>
                </a:moveTo>
                <a:lnTo>
                  <a:pt x="455347" y="0"/>
                </a:lnTo>
                <a:lnTo>
                  <a:pt x="375111" y="80203"/>
                </a:lnTo>
                <a:cubicBezTo>
                  <a:pt x="349397" y="105886"/>
                  <a:pt x="337410" y="142233"/>
                  <a:pt x="342759" y="178162"/>
                </a:cubicBezTo>
                <a:lnTo>
                  <a:pt x="348721" y="218281"/>
                </a:lnTo>
                <a:lnTo>
                  <a:pt x="388871" y="224274"/>
                </a:lnTo>
                <a:cubicBezTo>
                  <a:pt x="424832" y="229623"/>
                  <a:pt x="461180" y="217636"/>
                  <a:pt x="486894" y="191922"/>
                </a:cubicBezTo>
                <a:lnTo>
                  <a:pt x="567130" y="111718"/>
                </a:lnTo>
                <a:lnTo>
                  <a:pt x="469848" y="97250"/>
                </a:lnTo>
                <a:lnTo>
                  <a:pt x="469848" y="97250"/>
                </a:lnTo>
                <a:close/>
                <a:moveTo>
                  <a:pt x="469945" y="97153"/>
                </a:moveTo>
                <a:lnTo>
                  <a:pt x="254532" y="312437"/>
                </a:lnTo>
              </a:path>
            </a:pathLst>
          </a:custGeom>
          <a:noFill/>
          <a:ln cap="rnd" cmpd="sng" w="12700">
            <a:solidFill>
              <a:srgbClr val="0C2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86"/>
          <p:cNvSpPr txBox="1"/>
          <p:nvPr>
            <p:ph idx="4294967295" type="subTitle"/>
          </p:nvPr>
        </p:nvSpPr>
        <p:spPr>
          <a:xfrm>
            <a:off x="337100" y="779113"/>
            <a:ext cx="71898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nybody Medium"/>
                <a:ea typeface="Anybody Medium"/>
                <a:cs typeface="Anybody Medium"/>
                <a:sym typeface="Anybody Medium"/>
              </a:rPr>
              <a:t>And its challenges</a:t>
            </a:r>
            <a:endParaRPr b="1" sz="1300">
              <a:latin typeface="Anybody"/>
              <a:ea typeface="Anybody"/>
              <a:cs typeface="Anybody"/>
              <a:sym typeface="Anybod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87"/>
          <p:cNvSpPr txBox="1"/>
          <p:nvPr>
            <p:ph type="title"/>
          </p:nvPr>
        </p:nvSpPr>
        <p:spPr>
          <a:xfrm>
            <a:off x="413300" y="413975"/>
            <a:ext cx="6222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Generation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87" name="Google Shape;887;p87"/>
          <p:cNvSpPr txBox="1"/>
          <p:nvPr>
            <p:ph idx="1" type="body"/>
          </p:nvPr>
        </p:nvSpPr>
        <p:spPr>
          <a:xfrm>
            <a:off x="413250" y="1346050"/>
            <a:ext cx="8317500" cy="27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generation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solves coupling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embracing repetition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Automates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synchronization of multiple “copies”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targets (e.g. documentation and multiple programming languages)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87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89" name="Google Shape;88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8450" y="2489450"/>
            <a:ext cx="3791351" cy="252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7"/>
          <p:cNvSpPr txBox="1"/>
          <p:nvPr>
            <p:ph type="title"/>
          </p:nvPr>
        </p:nvSpPr>
        <p:spPr>
          <a:xfrm>
            <a:off x="6368550" y="3392475"/>
            <a:ext cx="161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Targets</a:t>
            </a:r>
            <a:endParaRPr/>
          </a:p>
        </p:txBody>
      </p:sp>
      <p:sp>
        <p:nvSpPr>
          <p:cNvPr id="891" name="Google Shape;891;p87"/>
          <p:cNvSpPr txBox="1"/>
          <p:nvPr>
            <p:ph type="title"/>
          </p:nvPr>
        </p:nvSpPr>
        <p:spPr>
          <a:xfrm>
            <a:off x="899375" y="3392475"/>
            <a:ext cx="9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SSOT</a:t>
            </a:r>
            <a:endParaRPr/>
          </a:p>
        </p:txBody>
      </p:sp>
      <p:sp>
        <p:nvSpPr>
          <p:cNvPr id="892" name="Google Shape;892;p87"/>
          <p:cNvSpPr txBox="1"/>
          <p:nvPr>
            <p:ph idx="2" type="subTitle"/>
          </p:nvPr>
        </p:nvSpPr>
        <p:spPr>
          <a:xfrm>
            <a:off x="413300" y="866950"/>
            <a:ext cx="7189800" cy="29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 better solution</a:t>
            </a:r>
            <a:endParaRPr b="1"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7" name="Google Shape;897;p88"/>
          <p:cNvGrpSpPr/>
          <p:nvPr/>
        </p:nvGrpSpPr>
        <p:grpSpPr>
          <a:xfrm>
            <a:off x="2878222" y="2556751"/>
            <a:ext cx="689601" cy="725891"/>
            <a:chOff x="384797" y="5797266"/>
            <a:chExt cx="865354" cy="904875"/>
          </a:xfrm>
        </p:grpSpPr>
        <p:sp>
          <p:nvSpPr>
            <p:cNvPr id="898" name="Google Shape;898;p88"/>
            <p:cNvSpPr/>
            <p:nvPr/>
          </p:nvSpPr>
          <p:spPr>
            <a:xfrm>
              <a:off x="541621" y="5961140"/>
              <a:ext cx="572700" cy="556200"/>
            </a:xfrm>
            <a:prstGeom prst="ellipse">
              <a:avLst/>
            </a:prstGeom>
            <a:solidFill>
              <a:srgbClr val="ADF99C"/>
            </a:solidFill>
            <a:ln>
              <a:noFill/>
            </a:ln>
          </p:spPr>
          <p:txBody>
            <a:bodyPr anchorCtr="0" anchor="ctr" bIns="172850" lIns="345800" spcFirstLastPara="1" rIns="345800" wrap="square" tIns="172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529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88"/>
            <p:cNvSpPr/>
            <p:nvPr/>
          </p:nvSpPr>
          <p:spPr>
            <a:xfrm>
              <a:off x="384797" y="5797266"/>
              <a:ext cx="865354" cy="904875"/>
            </a:xfrm>
            <a:custGeom>
              <a:rect b="b" l="l" r="r" t="t"/>
              <a:pathLst>
                <a:path extrusionOk="0" h="904875" w="865354">
                  <a:moveTo>
                    <a:pt x="832229" y="467486"/>
                  </a:moveTo>
                  <a:cubicBezTo>
                    <a:pt x="829087" y="457677"/>
                    <a:pt x="829087" y="447104"/>
                    <a:pt x="832229" y="437293"/>
                  </a:cubicBezTo>
                  <a:lnTo>
                    <a:pt x="862993" y="342811"/>
                  </a:lnTo>
                  <a:cubicBezTo>
                    <a:pt x="869471" y="322715"/>
                    <a:pt x="862327" y="300618"/>
                    <a:pt x="845184" y="288236"/>
                  </a:cubicBezTo>
                  <a:lnTo>
                    <a:pt x="764796" y="229755"/>
                  </a:lnTo>
                  <a:cubicBezTo>
                    <a:pt x="756510" y="223755"/>
                    <a:pt x="750225" y="215182"/>
                    <a:pt x="747081" y="205373"/>
                  </a:cubicBezTo>
                  <a:lnTo>
                    <a:pt x="716318" y="110795"/>
                  </a:lnTo>
                  <a:cubicBezTo>
                    <a:pt x="709840" y="90698"/>
                    <a:pt x="691077" y="77077"/>
                    <a:pt x="669837" y="77077"/>
                  </a:cubicBezTo>
                  <a:lnTo>
                    <a:pt x="570496" y="77077"/>
                  </a:lnTo>
                  <a:cubicBezTo>
                    <a:pt x="560210" y="77077"/>
                    <a:pt x="550115" y="73840"/>
                    <a:pt x="541732" y="67743"/>
                  </a:cubicBezTo>
                  <a:lnTo>
                    <a:pt x="461346" y="9358"/>
                  </a:lnTo>
                  <a:cubicBezTo>
                    <a:pt x="444297" y="-3119"/>
                    <a:pt x="421058" y="-3119"/>
                    <a:pt x="404009" y="9358"/>
                  </a:cubicBezTo>
                  <a:lnTo>
                    <a:pt x="323527" y="67743"/>
                  </a:lnTo>
                  <a:cubicBezTo>
                    <a:pt x="315240" y="73840"/>
                    <a:pt x="305144" y="77077"/>
                    <a:pt x="294858" y="77077"/>
                  </a:cubicBezTo>
                  <a:lnTo>
                    <a:pt x="195423" y="77077"/>
                  </a:lnTo>
                  <a:cubicBezTo>
                    <a:pt x="174277" y="77077"/>
                    <a:pt x="155515" y="90698"/>
                    <a:pt x="149037" y="110890"/>
                  </a:cubicBezTo>
                  <a:lnTo>
                    <a:pt x="118273" y="205373"/>
                  </a:lnTo>
                  <a:cubicBezTo>
                    <a:pt x="115130" y="215182"/>
                    <a:pt x="108844" y="223755"/>
                    <a:pt x="100462" y="229851"/>
                  </a:cubicBezTo>
                  <a:lnTo>
                    <a:pt x="20171" y="288236"/>
                  </a:lnTo>
                  <a:cubicBezTo>
                    <a:pt x="3027" y="300618"/>
                    <a:pt x="-4116" y="322715"/>
                    <a:pt x="2361" y="342811"/>
                  </a:cubicBezTo>
                  <a:lnTo>
                    <a:pt x="33125" y="437293"/>
                  </a:lnTo>
                  <a:cubicBezTo>
                    <a:pt x="36268" y="447104"/>
                    <a:pt x="36268" y="457677"/>
                    <a:pt x="33125" y="467486"/>
                  </a:cubicBezTo>
                  <a:lnTo>
                    <a:pt x="2361" y="562065"/>
                  </a:lnTo>
                  <a:cubicBezTo>
                    <a:pt x="-4116" y="582161"/>
                    <a:pt x="3027" y="604258"/>
                    <a:pt x="20171" y="616640"/>
                  </a:cubicBezTo>
                  <a:lnTo>
                    <a:pt x="100559" y="675025"/>
                  </a:lnTo>
                  <a:cubicBezTo>
                    <a:pt x="108844" y="681121"/>
                    <a:pt x="115036" y="689692"/>
                    <a:pt x="118273" y="699503"/>
                  </a:cubicBezTo>
                  <a:lnTo>
                    <a:pt x="148942" y="793986"/>
                  </a:lnTo>
                  <a:cubicBezTo>
                    <a:pt x="155515" y="814178"/>
                    <a:pt x="174277" y="827798"/>
                    <a:pt x="195423" y="827798"/>
                  </a:cubicBezTo>
                  <a:lnTo>
                    <a:pt x="294858" y="827798"/>
                  </a:lnTo>
                  <a:cubicBezTo>
                    <a:pt x="305144" y="827798"/>
                    <a:pt x="315145" y="831036"/>
                    <a:pt x="323527" y="837037"/>
                  </a:cubicBezTo>
                  <a:lnTo>
                    <a:pt x="404009" y="895518"/>
                  </a:lnTo>
                  <a:cubicBezTo>
                    <a:pt x="421058" y="907994"/>
                    <a:pt x="444297" y="907994"/>
                    <a:pt x="461346" y="895518"/>
                  </a:cubicBezTo>
                  <a:lnTo>
                    <a:pt x="541828" y="837037"/>
                  </a:lnTo>
                  <a:cubicBezTo>
                    <a:pt x="550115" y="831036"/>
                    <a:pt x="560210" y="827798"/>
                    <a:pt x="570496" y="827798"/>
                  </a:cubicBezTo>
                  <a:lnTo>
                    <a:pt x="669932" y="827798"/>
                  </a:lnTo>
                  <a:cubicBezTo>
                    <a:pt x="691077" y="827798"/>
                    <a:pt x="709840" y="814178"/>
                    <a:pt x="716318" y="793986"/>
                  </a:cubicBezTo>
                  <a:lnTo>
                    <a:pt x="747081" y="699503"/>
                  </a:lnTo>
                  <a:cubicBezTo>
                    <a:pt x="750225" y="689692"/>
                    <a:pt x="756510" y="681121"/>
                    <a:pt x="764796" y="675025"/>
                  </a:cubicBezTo>
                  <a:lnTo>
                    <a:pt x="845184" y="616640"/>
                  </a:lnTo>
                  <a:cubicBezTo>
                    <a:pt x="862327" y="604258"/>
                    <a:pt x="869471" y="582161"/>
                    <a:pt x="862993" y="562065"/>
                  </a:cubicBezTo>
                  <a:close/>
                  <a:moveTo>
                    <a:pt x="632501" y="358432"/>
                  </a:moveTo>
                  <a:cubicBezTo>
                    <a:pt x="632501" y="371004"/>
                    <a:pt x="627548" y="382814"/>
                    <a:pt x="618691" y="391672"/>
                  </a:cubicBezTo>
                  <a:lnTo>
                    <a:pt x="430869" y="579399"/>
                  </a:lnTo>
                  <a:cubicBezTo>
                    <a:pt x="422390" y="587876"/>
                    <a:pt x="410389" y="592733"/>
                    <a:pt x="397819" y="592733"/>
                  </a:cubicBezTo>
                  <a:cubicBezTo>
                    <a:pt x="385246" y="592733"/>
                    <a:pt x="373149" y="587876"/>
                    <a:pt x="364673" y="579399"/>
                  </a:cubicBezTo>
                  <a:lnTo>
                    <a:pt x="246473" y="461390"/>
                  </a:lnTo>
                  <a:cubicBezTo>
                    <a:pt x="228282" y="443199"/>
                    <a:pt x="228282" y="413482"/>
                    <a:pt x="246378" y="395100"/>
                  </a:cubicBezTo>
                  <a:cubicBezTo>
                    <a:pt x="264190" y="377290"/>
                    <a:pt x="295144" y="377290"/>
                    <a:pt x="312859" y="395005"/>
                  </a:cubicBezTo>
                  <a:lnTo>
                    <a:pt x="397723" y="479869"/>
                  </a:lnTo>
                  <a:lnTo>
                    <a:pt x="552306" y="325285"/>
                  </a:lnTo>
                  <a:cubicBezTo>
                    <a:pt x="570115" y="307761"/>
                    <a:pt x="601165" y="307761"/>
                    <a:pt x="618691" y="325285"/>
                  </a:cubicBezTo>
                  <a:cubicBezTo>
                    <a:pt x="627548" y="334144"/>
                    <a:pt x="632501" y="345955"/>
                    <a:pt x="632501" y="358432"/>
                  </a:cubicBezTo>
                  <a:close/>
                </a:path>
              </a:pathLst>
            </a:custGeom>
            <a:solidFill>
              <a:srgbClr val="5A95ED"/>
            </a:solidFill>
            <a:ln>
              <a:noFill/>
            </a:ln>
          </p:spPr>
          <p:txBody>
            <a:bodyPr anchorCtr="0" anchor="ctr" bIns="172850" lIns="345800" spcFirstLastPara="1" rIns="345800" wrap="square" tIns="17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52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0" name="Google Shape;900;p88"/>
          <p:cNvSpPr txBox="1"/>
          <p:nvPr>
            <p:ph type="title"/>
          </p:nvPr>
        </p:nvSpPr>
        <p:spPr>
          <a:xfrm>
            <a:off x="413300" y="954425"/>
            <a:ext cx="48504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/>
              <a:t>First example:</a:t>
            </a:r>
            <a:endParaRPr sz="2100"/>
          </a:p>
        </p:txBody>
      </p:sp>
      <p:sp>
        <p:nvSpPr>
          <p:cNvPr id="901" name="Google Shape;901;p88"/>
          <p:cNvSpPr txBox="1"/>
          <p:nvPr>
            <p:ph type="title"/>
          </p:nvPr>
        </p:nvSpPr>
        <p:spPr>
          <a:xfrm>
            <a:off x="4011200" y="2482388"/>
            <a:ext cx="48504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188038"/>
                </a:solidFill>
              </a:rPr>
              <a:t>Models and</a:t>
            </a:r>
            <a:endParaRPr sz="2900">
              <a:solidFill>
                <a:srgbClr val="188038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188038"/>
                </a:solidFill>
              </a:rPr>
              <a:t>API validators</a:t>
            </a:r>
            <a:endParaRPr sz="3300">
              <a:solidFill>
                <a:srgbClr val="18803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89"/>
          <p:cNvSpPr txBox="1"/>
          <p:nvPr>
            <p:ph type="title"/>
          </p:nvPr>
        </p:nvSpPr>
        <p:spPr>
          <a:xfrm>
            <a:off x="413300" y="413975"/>
            <a:ext cx="622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API Model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07" name="Google Shape;907;p89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8" name="Google Shape;908;p89"/>
          <p:cNvSpPr txBox="1"/>
          <p:nvPr/>
        </p:nvSpPr>
        <p:spPr>
          <a:xfrm>
            <a:off x="472650" y="1298775"/>
            <a:ext cx="8198700" cy="3163800"/>
          </a:xfrm>
          <a:prstGeom prst="rect">
            <a:avLst/>
          </a:prstGeom>
          <a:solidFill>
            <a:srgbClr val="30384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TransactionRequest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650">
              <a:solidFill>
                <a:srgbClr val="F77A56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properties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650">
              <a:solidFill>
                <a:srgbClr val="F77A56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language_code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650">
              <a:solidFill>
                <a:srgbClr val="F77A56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endParaRPr sz="6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"Language of the transaction document represented as ISO 639-1 uppercase language code. Required when document generation is enabled. Defaults to EN (English) if not provided."</a:t>
            </a:r>
            <a:endParaRPr sz="65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example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"EN"</a:t>
            </a:r>
            <a:endParaRPr sz="65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country_code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650">
              <a:solidFill>
                <a:srgbClr val="F77A56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endParaRPr sz="6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"ISO 3166-1 alpha-2 uppercase country code the transaction is taking place in."</a:t>
            </a:r>
            <a:endParaRPr sz="65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example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"PT"</a:t>
            </a:r>
            <a:endParaRPr sz="65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different when operation regime is EXPORT."</a:t>
            </a:r>
            <a:endParaRPr sz="65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transaction_date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650">
              <a:solidFill>
                <a:srgbClr val="F77A56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google.protobuf.Timestamp</a:t>
            </a:r>
            <a:endParaRPr sz="6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"RFC3339 datetime string representing the point in time when transaction is executed."</a:t>
            </a:r>
            <a:endParaRPr sz="65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example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"2021-01-07T01:00:00+00:00"</a:t>
            </a:r>
            <a:endParaRPr sz="65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6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repeated TransactionLineItem</a:t>
            </a:r>
            <a:endParaRPr sz="6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"Goods, services, and discounts exchanged in a transaction."</a:t>
            </a:r>
            <a:endParaRPr sz="65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supplier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650">
              <a:solidFill>
                <a:srgbClr val="F77A56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TransactionEntity</a:t>
            </a:r>
            <a:endParaRPr sz="6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total_amount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650">
              <a:solidFill>
                <a:srgbClr val="F77A56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common.Decimal</a:t>
            </a:r>
            <a:endParaRPr sz="6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"A high precision decimal representing the total amount. If you are using the legacy integer representation for this field refer to this documentation on how to migrate to decimals: https://docs.fonoa.com/reference/amounts-and-rounding"</a:t>
            </a:r>
            <a:endParaRPr sz="65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example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122.00</a:t>
            </a:r>
            <a:endParaRPr sz="6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issue_date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650">
              <a:solidFill>
                <a:srgbClr val="F77A56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google.protobuf.Timestamp</a:t>
            </a:r>
            <a:endParaRPr sz="6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"The date when the transaction was issued by an external application."</a:t>
            </a:r>
            <a:endParaRPr sz="65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solidFill>
                <a:srgbClr val="5FB3B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09" name="Google Shape;909;p89"/>
          <p:cNvSpPr txBox="1"/>
          <p:nvPr/>
        </p:nvSpPr>
        <p:spPr>
          <a:xfrm>
            <a:off x="5073050" y="623325"/>
            <a:ext cx="1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910" name="Google Shape;910;p89"/>
          <p:cNvSpPr/>
          <p:nvPr/>
        </p:nvSpPr>
        <p:spPr>
          <a:xfrm>
            <a:off x="7276900" y="783680"/>
            <a:ext cx="1453800" cy="591600"/>
          </a:xfrm>
          <a:prstGeom prst="roundRect">
            <a:avLst>
              <a:gd fmla="val 16667" name="adj"/>
            </a:avLst>
          </a:prstGeom>
          <a:solidFill>
            <a:srgbClr val="98E3B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182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SSOT:</a:t>
            </a:r>
            <a:b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</a:br>
            <a:r>
              <a:rPr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Custom YAML</a:t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911" name="Google Shape;911;p89"/>
          <p:cNvSpPr txBox="1"/>
          <p:nvPr>
            <p:ph idx="2" type="subTitle"/>
          </p:nvPr>
        </p:nvSpPr>
        <p:spPr>
          <a:xfrm>
            <a:off x="413300" y="866950"/>
            <a:ext cx="718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Declarative API model, </a:t>
            </a:r>
            <a:r>
              <a:rPr b="1" i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generated go structs</a:t>
            </a:r>
            <a:endParaRPr b="1"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90"/>
          <p:cNvSpPr txBox="1"/>
          <p:nvPr>
            <p:ph type="title"/>
          </p:nvPr>
        </p:nvSpPr>
        <p:spPr>
          <a:xfrm>
            <a:off x="413300" y="413975"/>
            <a:ext cx="62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API Model</a:t>
            </a:r>
            <a:r>
              <a:rPr lang="en"/>
              <a:t> (I)</a:t>
            </a:r>
            <a:endParaRPr/>
          </a:p>
        </p:txBody>
      </p:sp>
      <p:sp>
        <p:nvSpPr>
          <p:cNvPr id="917" name="Google Shape;917;p90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8" name="Google Shape;918;p90"/>
          <p:cNvSpPr txBox="1"/>
          <p:nvPr/>
        </p:nvSpPr>
        <p:spPr>
          <a:xfrm>
            <a:off x="472650" y="1298775"/>
            <a:ext cx="8198700" cy="3584700"/>
          </a:xfrm>
          <a:prstGeom prst="rect">
            <a:avLst/>
          </a:prstGeom>
          <a:solidFill>
            <a:srgbClr val="30384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package 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 </a:t>
            </a:r>
            <a:r>
              <a:rPr lang="en" sz="9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PackageName 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lang="en" sz="90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i="1" lang="en" sz="90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9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Imports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lang="en" sz="90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i="1" lang="en" sz="90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range </a:t>
            </a:r>
            <a:r>
              <a:rPr lang="en" sz="9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Imports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{{</a:t>
            </a:r>
            <a:r>
              <a:rPr lang="en" sz="9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 </a:t>
            </a:r>
            <a:r>
              <a:rPr lang="en" sz="9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){{</a:t>
            </a:r>
            <a:r>
              <a:rPr lang="en" sz="90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9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end 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lang="en" sz="90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i="1" lang="en" sz="90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range </a:t>
            </a:r>
            <a:r>
              <a:rPr lang="en" sz="9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Types 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lang="en" sz="90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9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$modelName </a:t>
            </a:r>
            <a:r>
              <a:rPr lang="en" sz="90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9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Name 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 (</a:t>
            </a:r>
            <a:r>
              <a:rPr lang="en" sz="9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printf </a:t>
            </a:r>
            <a:r>
              <a:rPr lang="en" sz="9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"%s is in need of a description." </a:t>
            </a:r>
            <a:r>
              <a:rPr lang="en" sz="9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90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| </a:t>
            </a:r>
            <a:r>
              <a:rPr lang="en" sz="9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commentBlock 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lang="en" sz="90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i="1" lang="en" sz="90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9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OneOfTypes 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type 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lang="en" sz="9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 </a:t>
            </a:r>
            <a:r>
              <a:rPr i="1" lang="en" sz="90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{{</a:t>
            </a:r>
            <a:r>
              <a:rPr lang="en" sz="90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i="1" lang="en" sz="90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range </a:t>
            </a:r>
            <a:r>
              <a:rPr lang="en" sz="9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OneOfTypes 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{{ </a:t>
            </a:r>
            <a:r>
              <a:rPr lang="en" sz="9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Name 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{{</a:t>
            </a:r>
            <a:r>
              <a:rPr lang="en" sz="90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9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C494C4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i="1" sz="900">
              <a:solidFill>
                <a:srgbClr val="C494C4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9" name="Google Shape;919;p90"/>
          <p:cNvSpPr txBox="1"/>
          <p:nvPr/>
        </p:nvSpPr>
        <p:spPr>
          <a:xfrm>
            <a:off x="5073050" y="623325"/>
            <a:ext cx="1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920" name="Google Shape;920;p90"/>
          <p:cNvSpPr txBox="1"/>
          <p:nvPr>
            <p:ph idx="2" type="subTitle"/>
          </p:nvPr>
        </p:nvSpPr>
        <p:spPr>
          <a:xfrm>
            <a:off x="413300" y="866950"/>
            <a:ext cx="718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The tool</a:t>
            </a:r>
            <a:r>
              <a:rPr lang="en" sz="1300"/>
              <a:t>: go template</a:t>
            </a:r>
            <a:endParaRPr sz="1700"/>
          </a:p>
        </p:txBody>
      </p:sp>
      <p:sp>
        <p:nvSpPr>
          <p:cNvPr id="921" name="Google Shape;921;p90"/>
          <p:cNvSpPr/>
          <p:nvPr/>
        </p:nvSpPr>
        <p:spPr>
          <a:xfrm>
            <a:off x="7276900" y="783680"/>
            <a:ext cx="1453800" cy="591600"/>
          </a:xfrm>
          <a:prstGeom prst="roundRect">
            <a:avLst>
              <a:gd fmla="val 16667" name="adj"/>
            </a:avLst>
          </a:prstGeom>
          <a:solidFill>
            <a:srgbClr val="BAD3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182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Tool:</a:t>
            </a:r>
            <a:b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</a:br>
            <a:r>
              <a:rPr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go template</a:t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91"/>
          <p:cNvSpPr txBox="1"/>
          <p:nvPr>
            <p:ph type="title"/>
          </p:nvPr>
        </p:nvSpPr>
        <p:spPr>
          <a:xfrm>
            <a:off x="413300" y="413975"/>
            <a:ext cx="62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API Model</a:t>
            </a:r>
            <a:r>
              <a:rPr lang="en"/>
              <a:t> (III)</a:t>
            </a:r>
            <a:endParaRPr/>
          </a:p>
        </p:txBody>
      </p:sp>
      <p:sp>
        <p:nvSpPr>
          <p:cNvPr id="927" name="Google Shape;927;p91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8" name="Google Shape;928;p91"/>
          <p:cNvSpPr txBox="1"/>
          <p:nvPr/>
        </p:nvSpPr>
        <p:spPr>
          <a:xfrm>
            <a:off x="5073050" y="623325"/>
            <a:ext cx="1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929" name="Google Shape;929;p91"/>
          <p:cNvSpPr txBox="1"/>
          <p:nvPr>
            <p:ph idx="2" type="subTitle"/>
          </p:nvPr>
        </p:nvSpPr>
        <p:spPr>
          <a:xfrm>
            <a:off x="413300" y="866950"/>
            <a:ext cx="718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The output</a:t>
            </a:r>
            <a:r>
              <a:rPr lang="en" sz="1300"/>
              <a:t>: Generated go srtruct for our external API</a:t>
            </a:r>
            <a:endParaRPr b="1" sz="1300"/>
          </a:p>
        </p:txBody>
      </p:sp>
      <p:sp>
        <p:nvSpPr>
          <p:cNvPr id="930" name="Google Shape;930;p91"/>
          <p:cNvSpPr txBox="1"/>
          <p:nvPr/>
        </p:nvSpPr>
        <p:spPr>
          <a:xfrm>
            <a:off x="472650" y="1298775"/>
            <a:ext cx="8198700" cy="3163800"/>
          </a:xfrm>
          <a:prstGeom prst="rect">
            <a:avLst/>
          </a:prstGeom>
          <a:solidFill>
            <a:srgbClr val="30384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type </a:t>
            </a:r>
            <a:r>
              <a:rPr lang="en" sz="800">
                <a:solidFill>
                  <a:srgbClr val="F7AD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TransactionRequest </a:t>
            </a:r>
            <a:r>
              <a:rPr i="1" lang="en" sz="80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lang="en" sz="8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b="1" lang="en" sz="800">
                <a:solidFill>
                  <a:srgbClr val="A5ABB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CountryCode</a:t>
            </a: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ISO 3166-1 alpha-2 uppercase country code the transaction is taking place in.</a:t>
            </a:r>
            <a:endParaRPr sz="80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CountryCode </a:t>
            </a:r>
            <a:r>
              <a:rPr i="1" lang="en" sz="800">
                <a:solidFill>
                  <a:srgbClr val="6598CB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`json</a:t>
            </a:r>
            <a:r>
              <a:rPr lang="en" sz="800">
                <a:solidFill>
                  <a:srgbClr val="F77A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"country_code,omitempty"`</a:t>
            </a:r>
            <a:endParaRPr sz="80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80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b="1" lang="en" sz="800">
                <a:solidFill>
                  <a:srgbClr val="A5ABB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IssueDate</a:t>
            </a: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The date when the transaction was issued by an external application.</a:t>
            </a:r>
            <a:endParaRPr sz="80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IssueDate </a:t>
            </a:r>
            <a:r>
              <a:rPr lang="en" sz="80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i="1" lang="en" sz="800">
                <a:solidFill>
                  <a:srgbClr val="6598CB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`json</a:t>
            </a:r>
            <a:r>
              <a:rPr lang="en" sz="800">
                <a:solidFill>
                  <a:srgbClr val="F77A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"issue_date,omitempty"`</a:t>
            </a:r>
            <a:endParaRPr sz="80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80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// </a:t>
            </a:r>
            <a:r>
              <a:rPr b="1" lang="en" sz="800">
                <a:solidFill>
                  <a:srgbClr val="A5ABB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Goods, services, and discounts exchanged in a transaction.</a:t>
            </a:r>
            <a:endParaRPr sz="80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Items </a:t>
            </a:r>
            <a:r>
              <a:rPr lang="en" sz="8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" sz="80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i="1" lang="en" sz="80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TransactionLineItem </a:t>
            </a: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`json</a:t>
            </a:r>
            <a:r>
              <a:rPr lang="en" sz="800">
                <a:solidFill>
                  <a:srgbClr val="F77A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"items"`</a:t>
            </a:r>
            <a:endParaRPr sz="80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80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b="1" lang="en" sz="800">
                <a:solidFill>
                  <a:srgbClr val="A5ABB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TotalAmount</a:t>
            </a: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A high precision decimal representing the total amount. If you are using the legacy integer representation for this field refer to this documentation on how to migrate to decimals: https://docs.fonoa.com/reference/amounts-and-rounding</a:t>
            </a:r>
            <a:endParaRPr sz="80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TotalAmount </a:t>
            </a:r>
            <a:r>
              <a:rPr lang="en" sz="80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80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800">
                <a:solidFill>
                  <a:srgbClr val="C393C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Number </a:t>
            </a: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`json</a:t>
            </a:r>
            <a:r>
              <a:rPr lang="en" sz="800">
                <a:solidFill>
                  <a:srgbClr val="F77A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"total_amount,omitempty"`</a:t>
            </a:r>
            <a:endParaRPr sz="80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80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b="1" lang="en" sz="800">
                <a:solidFill>
                  <a:srgbClr val="A5ABB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IssueDate</a:t>
            </a: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The date when the transaction was issued by an external application.</a:t>
            </a:r>
            <a:endParaRPr sz="80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IssueDate </a:t>
            </a:r>
            <a:r>
              <a:rPr lang="en" sz="80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i="1" lang="en" sz="800">
                <a:solidFill>
                  <a:srgbClr val="6598CB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`json</a:t>
            </a:r>
            <a:r>
              <a:rPr lang="en" sz="800">
                <a:solidFill>
                  <a:srgbClr val="F77A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"issue_date,omitempty"`</a:t>
            </a:r>
            <a:endParaRPr sz="80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b="1" lang="en" sz="800">
                <a:solidFill>
                  <a:srgbClr val="A5ABB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TransactionDate</a:t>
            </a: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RFC3339 datetime string representing the point in time when transaction is executed.</a:t>
            </a:r>
            <a:endParaRPr sz="80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TransactionDate </a:t>
            </a:r>
            <a:r>
              <a:rPr lang="en" sz="80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i="1" lang="en" sz="800">
                <a:solidFill>
                  <a:srgbClr val="6598CB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`json</a:t>
            </a:r>
            <a:r>
              <a:rPr lang="en" sz="800">
                <a:solidFill>
                  <a:srgbClr val="F77A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"transaction_date"`</a:t>
            </a:r>
            <a:endParaRPr sz="80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80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b="1" lang="en" sz="800">
                <a:solidFill>
                  <a:srgbClr val="A5ABB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TransactionId</a:t>
            </a: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Unique external transaction identifier provided by the customer.</a:t>
            </a:r>
            <a:endParaRPr sz="80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0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TransactionId </a:t>
            </a:r>
            <a:r>
              <a:rPr i="1" lang="en" sz="800">
                <a:solidFill>
                  <a:srgbClr val="6598CB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`json</a:t>
            </a:r>
            <a:r>
              <a:rPr lang="en" sz="800">
                <a:solidFill>
                  <a:srgbClr val="F77A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"transaction_id,omitempty"`</a:t>
            </a:r>
            <a:endParaRPr sz="80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0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// [</a:t>
            </a:r>
            <a:r>
              <a:rPr b="1" lang="en" sz="800">
                <a:solidFill>
                  <a:srgbClr val="A5ABB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...]</a:t>
            </a:r>
            <a:endParaRPr sz="80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0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FB3B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1" name="Google Shape;931;p91"/>
          <p:cNvSpPr/>
          <p:nvPr/>
        </p:nvSpPr>
        <p:spPr>
          <a:xfrm>
            <a:off x="7276900" y="783680"/>
            <a:ext cx="1453800" cy="591600"/>
          </a:xfrm>
          <a:prstGeom prst="roundRect">
            <a:avLst>
              <a:gd fmla="val 16667" name="adj"/>
            </a:avLst>
          </a:prstGeom>
          <a:solidFill>
            <a:srgbClr val="F77A5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182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Output:</a:t>
            </a:r>
            <a:b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</a:br>
            <a:r>
              <a:rPr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go validator</a:t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92"/>
          <p:cNvSpPr txBox="1"/>
          <p:nvPr>
            <p:ph type="title"/>
          </p:nvPr>
        </p:nvSpPr>
        <p:spPr>
          <a:xfrm>
            <a:off x="413300" y="413975"/>
            <a:ext cx="622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API Validators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37" name="Google Shape;937;p92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8" name="Google Shape;938;p92"/>
          <p:cNvSpPr txBox="1"/>
          <p:nvPr/>
        </p:nvSpPr>
        <p:spPr>
          <a:xfrm>
            <a:off x="472650" y="1298775"/>
            <a:ext cx="8198700" cy="3163800"/>
          </a:xfrm>
          <a:prstGeom prst="rect">
            <a:avLst/>
          </a:prstGeom>
          <a:solidFill>
            <a:srgbClr val="30384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ExportRequest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50">
              <a:solidFill>
                <a:srgbClr val="F77A56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properties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50">
              <a:solidFill>
                <a:srgbClr val="F77A56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format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50">
              <a:solidFill>
                <a:srgbClr val="F77A56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9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endParaRPr sz="9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9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"One of the supported formats: saft, csv-pt, csv-hr, internal-act-hr, csv-generic, csv-tr"</a:t>
            </a:r>
            <a:endParaRPr sz="95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validation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50">
              <a:solidFill>
                <a:srgbClr val="F77A56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-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required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9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9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value_in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" sz="9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'saft'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9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'csv-pt'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9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'csv-generic'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9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'csv-tr'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9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date_from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50">
              <a:solidFill>
                <a:srgbClr val="F77A56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9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google.protobuf.Timestamp</a:t>
            </a:r>
            <a:endParaRPr sz="9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9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"Starting date to filter transactions"</a:t>
            </a:r>
            <a:endParaRPr sz="95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validation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50">
              <a:solidFill>
                <a:srgbClr val="F77A56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-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rfc3339_string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9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9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required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9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9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9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m.Format != "csv-tr"</a:t>
            </a:r>
            <a:endParaRPr sz="9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must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9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isNullOrEmpty(m.DateTo)</a:t>
            </a:r>
            <a:endParaRPr sz="9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9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m.Format == "csv-tr"</a:t>
            </a:r>
            <a:endParaRPr sz="9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9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with_message</a:t>
            </a:r>
            <a:r>
              <a:rPr lang="en" sz="9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9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"{{.propertyName}} must be empty for the 'csv-tr' format"</a:t>
            </a:r>
            <a:endParaRPr sz="95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50">
              <a:solidFill>
                <a:srgbClr val="C494C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9" name="Google Shape;939;p92"/>
          <p:cNvSpPr txBox="1"/>
          <p:nvPr/>
        </p:nvSpPr>
        <p:spPr>
          <a:xfrm>
            <a:off x="5073050" y="623325"/>
            <a:ext cx="1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940" name="Google Shape;940;p92"/>
          <p:cNvSpPr/>
          <p:nvPr/>
        </p:nvSpPr>
        <p:spPr>
          <a:xfrm>
            <a:off x="7276900" y="783680"/>
            <a:ext cx="1453800" cy="591600"/>
          </a:xfrm>
          <a:prstGeom prst="roundRect">
            <a:avLst>
              <a:gd fmla="val 16667" name="adj"/>
            </a:avLst>
          </a:prstGeom>
          <a:solidFill>
            <a:srgbClr val="98E3B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182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SSOT:</a:t>
            </a:r>
            <a:b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</a:br>
            <a:r>
              <a:rPr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Custom YAML</a:t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941" name="Google Shape;941;p92"/>
          <p:cNvSpPr txBox="1"/>
          <p:nvPr>
            <p:ph idx="2" type="subTitle"/>
          </p:nvPr>
        </p:nvSpPr>
        <p:spPr>
          <a:xfrm>
            <a:off x="413300" y="866950"/>
            <a:ext cx="718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Declarative API Validation, </a:t>
            </a:r>
            <a:r>
              <a:rPr b="1" i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generated go validators</a:t>
            </a:r>
            <a:endParaRPr b="1"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93"/>
          <p:cNvSpPr txBox="1"/>
          <p:nvPr>
            <p:ph type="title"/>
          </p:nvPr>
        </p:nvSpPr>
        <p:spPr>
          <a:xfrm>
            <a:off x="413300" y="413975"/>
            <a:ext cx="62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API Validators (I)</a:t>
            </a:r>
            <a:endParaRPr/>
          </a:p>
        </p:txBody>
      </p:sp>
      <p:sp>
        <p:nvSpPr>
          <p:cNvPr id="947" name="Google Shape;947;p93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8" name="Google Shape;948;p93"/>
          <p:cNvSpPr txBox="1"/>
          <p:nvPr/>
        </p:nvSpPr>
        <p:spPr>
          <a:xfrm>
            <a:off x="472650" y="1298775"/>
            <a:ext cx="8198700" cy="3584700"/>
          </a:xfrm>
          <a:prstGeom prst="rect">
            <a:avLst/>
          </a:prstGeom>
          <a:solidFill>
            <a:srgbClr val="30384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func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i="1" lang="en" sz="850">
                <a:solidFill>
                  <a:srgbClr val="C393C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rule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$modelName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}})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ValidateStruct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 context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 external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}})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error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Fields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helpers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AddAsParent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structErrors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validation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ValidateStructWithContext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range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Fields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{{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$elementType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printf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"%s%s"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upper $country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ElementType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{{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Validation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validation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toPascalCase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validationsList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Validation $country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Name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{{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and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CanBeNested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HasValidations $allTypes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(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not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IsCollection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NewRule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$elementType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}}(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"{{.Name}}"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{{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end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}})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else if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and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CanBeNested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HasValidations $allTypes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(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not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IsCollection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}}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validation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toPascalCase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NewRule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$elementType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}}(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"{{.Name}}"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{{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)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{{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range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Fields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{{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and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IsCollection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HasValidations $allTypes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}}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{{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$elementType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printf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"%s%s"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upper $country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ElementType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}}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structErrors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helpers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ValidateNestedCollection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"{{.Name}}"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toPascalCase 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structErrors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NewRule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$elementType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}}(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"{{.Name}}"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{{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{{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helpers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FlattenErrors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structErrors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{{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end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5FB3B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[...]</a:t>
            </a:r>
            <a:endParaRPr sz="750">
              <a:solidFill>
                <a:srgbClr val="5FB3B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9" name="Google Shape;949;p93"/>
          <p:cNvSpPr txBox="1"/>
          <p:nvPr/>
        </p:nvSpPr>
        <p:spPr>
          <a:xfrm>
            <a:off x="5073050" y="623325"/>
            <a:ext cx="1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950" name="Google Shape;950;p93"/>
          <p:cNvSpPr txBox="1"/>
          <p:nvPr>
            <p:ph idx="2" type="subTitle"/>
          </p:nvPr>
        </p:nvSpPr>
        <p:spPr>
          <a:xfrm>
            <a:off x="413300" y="866950"/>
            <a:ext cx="718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The tool</a:t>
            </a:r>
            <a:r>
              <a:rPr lang="en" sz="1300"/>
              <a:t>: go template</a:t>
            </a:r>
            <a:endParaRPr sz="1700"/>
          </a:p>
        </p:txBody>
      </p:sp>
      <p:sp>
        <p:nvSpPr>
          <p:cNvPr id="951" name="Google Shape;951;p93"/>
          <p:cNvSpPr/>
          <p:nvPr/>
        </p:nvSpPr>
        <p:spPr>
          <a:xfrm>
            <a:off x="7276900" y="783680"/>
            <a:ext cx="1453800" cy="591600"/>
          </a:xfrm>
          <a:prstGeom prst="roundRect">
            <a:avLst>
              <a:gd fmla="val 16667" name="adj"/>
            </a:avLst>
          </a:prstGeom>
          <a:solidFill>
            <a:srgbClr val="BAD3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182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Tool:</a:t>
            </a:r>
            <a:b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</a:br>
            <a:r>
              <a:rPr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go template</a:t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94"/>
          <p:cNvSpPr txBox="1"/>
          <p:nvPr>
            <p:ph type="title"/>
          </p:nvPr>
        </p:nvSpPr>
        <p:spPr>
          <a:xfrm>
            <a:off x="413300" y="413975"/>
            <a:ext cx="622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API Validators (II)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57" name="Google Shape;957;p94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8" name="Google Shape;958;p94"/>
          <p:cNvSpPr txBox="1"/>
          <p:nvPr/>
        </p:nvSpPr>
        <p:spPr>
          <a:xfrm>
            <a:off x="472650" y="1298775"/>
            <a:ext cx="8198700" cy="3584700"/>
          </a:xfrm>
          <a:prstGeom prst="rect">
            <a:avLst/>
          </a:prstGeom>
          <a:solidFill>
            <a:srgbClr val="30384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func </a:t>
            </a:r>
            <a:r>
              <a:rPr lang="en" sz="6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toGo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expression </a:t>
            </a:r>
            <a:r>
              <a:rPr i="1" lang="en" sz="650">
                <a:solidFill>
                  <a:srgbClr val="6598CB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country </a:t>
            </a:r>
            <a:r>
              <a:rPr i="1" lang="en" sz="650">
                <a:solidFill>
                  <a:srgbClr val="6598CB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i="1" lang="en" sz="650">
                <a:solidFill>
                  <a:srgbClr val="6598CB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parsed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err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parser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ParseExpr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expression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6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err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!= </a:t>
            </a:r>
            <a:r>
              <a:rPr i="1" lang="en" sz="650">
                <a:solidFill>
                  <a:srgbClr val="EAF16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nil 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i="1" lang="en" sz="6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panic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"error parsing go expression: '"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expression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"'"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result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astutil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Apply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parsed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" sz="6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cr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astutil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6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Cursor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i="1" lang="en" sz="650">
                <a:solidFill>
                  <a:srgbClr val="6598CB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bool 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cr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// some AST replacements to implement shorter syntax for certain functions</a:t>
            </a:r>
            <a:endParaRPr sz="6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i="1" lang="en" sz="6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ok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ast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6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CallExpr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ok 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i="1" lang="en" sz="6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== </a:t>
            </a:r>
            <a:r>
              <a:rPr i="1" lang="en" sz="650">
                <a:solidFill>
                  <a:srgbClr val="EAF16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nil 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i="1" lang="en" sz="6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i="1" lang="en" sz="650">
                <a:solidFill>
                  <a:srgbClr val="EAF16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i="1" sz="650">
              <a:solidFill>
                <a:srgbClr val="EAF169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50">
                <a:solidFill>
                  <a:srgbClr val="EAF16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i="1" lang="en" sz="6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isId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ast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6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Ident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isId 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i="1" lang="en" sz="6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Name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== 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"pathValue"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&amp;&amp; </a:t>
            </a:r>
            <a:r>
              <a:rPr i="1" lang="en" sz="6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650">
                <a:solidFill>
                  <a:srgbClr val="F7AD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0 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cr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6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Replace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ast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6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CallExpr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Fun: 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ast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NewIdent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"helpers.PathValue"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Args: </a:t>
            </a:r>
            <a:r>
              <a:rPr i="1" lang="en" sz="6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([]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ast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6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Expr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ast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NewIdent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"ctx"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)}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ast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6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IndexExpr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X:     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ast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NewIdent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"expMap"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strings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ToUpper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country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Index: call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650">
                <a:solidFill>
                  <a:srgbClr val="F7AD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i="1" lang="en" sz="6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funcName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exists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functions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exists 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cr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6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Replace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ast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6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CallExpr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Fun:  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ast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NewIdent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funcName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Args: call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}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50">
              <a:solidFill>
                <a:srgbClr val="C494C4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9" name="Google Shape;959;p94"/>
          <p:cNvSpPr txBox="1"/>
          <p:nvPr/>
        </p:nvSpPr>
        <p:spPr>
          <a:xfrm>
            <a:off x="5073050" y="623325"/>
            <a:ext cx="1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960" name="Google Shape;960;p94"/>
          <p:cNvSpPr txBox="1"/>
          <p:nvPr>
            <p:ph idx="2" type="subTitle"/>
          </p:nvPr>
        </p:nvSpPr>
        <p:spPr>
          <a:xfrm>
            <a:off x="413300" y="866950"/>
            <a:ext cx="718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The tool</a:t>
            </a:r>
            <a:r>
              <a:rPr lang="en" sz="1300"/>
              <a:t>: astutils as refinement of the output.</a:t>
            </a:r>
            <a:endParaRPr sz="1700"/>
          </a:p>
        </p:txBody>
      </p:sp>
      <p:sp>
        <p:nvSpPr>
          <p:cNvPr id="961" name="Google Shape;961;p94"/>
          <p:cNvSpPr txBox="1"/>
          <p:nvPr/>
        </p:nvSpPr>
        <p:spPr>
          <a:xfrm>
            <a:off x="4907925" y="1298775"/>
            <a:ext cx="3763500" cy="3584700"/>
          </a:xfrm>
          <a:prstGeom prst="rect">
            <a:avLst/>
          </a:prstGeom>
          <a:solidFill>
            <a:srgbClr val="30384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ident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ok 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ast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6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Ident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ok 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6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switch 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ident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Name 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6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case 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"null"</a:t>
            </a: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6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// null -&gt; nil</a:t>
            </a:r>
            <a:endParaRPr sz="6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cr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Replace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ast</a:t>
            </a:r>
            <a:r>
              <a:rPr lang="en" sz="6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6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NewIdent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6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"nil"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650">
              <a:solidFill>
                <a:srgbClr val="C494C4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2" name="Google Shape;962;p94"/>
          <p:cNvSpPr/>
          <p:nvPr/>
        </p:nvSpPr>
        <p:spPr>
          <a:xfrm>
            <a:off x="7276900" y="783680"/>
            <a:ext cx="1453800" cy="591600"/>
          </a:xfrm>
          <a:prstGeom prst="roundRect">
            <a:avLst>
              <a:gd fmla="val 16667" name="adj"/>
            </a:avLst>
          </a:prstGeom>
          <a:solidFill>
            <a:srgbClr val="BAD3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182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Tool:</a:t>
            </a:r>
            <a:b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</a:br>
            <a:r>
              <a:rPr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go/astutil</a:t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95"/>
          <p:cNvSpPr txBox="1"/>
          <p:nvPr>
            <p:ph type="title"/>
          </p:nvPr>
        </p:nvSpPr>
        <p:spPr>
          <a:xfrm>
            <a:off x="413300" y="413975"/>
            <a:ext cx="62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API Validators (III)</a:t>
            </a:r>
            <a:endParaRPr/>
          </a:p>
        </p:txBody>
      </p:sp>
      <p:sp>
        <p:nvSpPr>
          <p:cNvPr id="968" name="Google Shape;968;p95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95"/>
          <p:cNvSpPr txBox="1"/>
          <p:nvPr/>
        </p:nvSpPr>
        <p:spPr>
          <a:xfrm>
            <a:off x="472650" y="1298775"/>
            <a:ext cx="8198700" cy="2451000"/>
          </a:xfrm>
          <a:prstGeom prst="rect">
            <a:avLst/>
          </a:prstGeom>
          <a:solidFill>
            <a:srgbClr val="30384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func </a:t>
            </a:r>
            <a:r>
              <a:rPr lang="en" sz="7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NewRuleReportedTransactionRequest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 context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7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fieldName </a:t>
            </a:r>
            <a:r>
              <a:rPr i="1" lang="en" sz="750">
                <a:solidFill>
                  <a:srgbClr val="6598CB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i="1" lang="en" sz="750">
                <a:solidFill>
                  <a:srgbClr val="C393C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ruleReportedTransactionRequest 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i="1" lang="en" sz="750">
                <a:solidFill>
                  <a:srgbClr val="C393C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ruleReportedTransactionRequest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fieldCtx: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helpers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AddFieldToPath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fieldName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)}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func 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 </a:t>
            </a:r>
            <a:r>
              <a:rPr i="1" lang="en" sz="750">
                <a:solidFill>
                  <a:srgbClr val="C393C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ruleReportedTransactionRequest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7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ValidateStruct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 context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7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 external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7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ReportedTransactionRequest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i="1" lang="en" sz="750">
                <a:solidFill>
                  <a:srgbClr val="6598CB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error 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 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helpers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AddAsParent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structErrors 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validation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ValidateStructWithContext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validation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CountryCode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rules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Required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NewCountryCodeValidator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validation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TaxAuthorityId1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rules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MaximumLength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AD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150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validation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TransactionDate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rules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Required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rules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RFC3339String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validation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TransactionId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rules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MaximumLength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AD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150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rules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Required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validation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TransactionNumber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rules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MaximumLength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AD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helpers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FlattenErrors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structErrors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[...]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Amount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mapping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ToExternalMoneyAsJsonNumber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Amount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helpers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PathValue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expMap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".CurrencyCode"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]))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0" name="Google Shape;970;p95"/>
          <p:cNvSpPr txBox="1"/>
          <p:nvPr/>
        </p:nvSpPr>
        <p:spPr>
          <a:xfrm>
            <a:off x="5073050" y="623325"/>
            <a:ext cx="1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971" name="Google Shape;971;p95"/>
          <p:cNvSpPr txBox="1"/>
          <p:nvPr>
            <p:ph idx="2" type="subTitle"/>
          </p:nvPr>
        </p:nvSpPr>
        <p:spPr>
          <a:xfrm>
            <a:off x="413300" y="866950"/>
            <a:ext cx="718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The output</a:t>
            </a:r>
            <a:r>
              <a:rPr lang="en" sz="1300"/>
              <a:t>: Generated go validator for our external API</a:t>
            </a:r>
            <a:endParaRPr b="1" sz="1300"/>
          </a:p>
        </p:txBody>
      </p:sp>
      <p:sp>
        <p:nvSpPr>
          <p:cNvPr id="972" name="Google Shape;972;p95"/>
          <p:cNvSpPr/>
          <p:nvPr/>
        </p:nvSpPr>
        <p:spPr>
          <a:xfrm>
            <a:off x="7276900" y="783680"/>
            <a:ext cx="1453800" cy="591600"/>
          </a:xfrm>
          <a:prstGeom prst="roundRect">
            <a:avLst>
              <a:gd fmla="val 16667" name="adj"/>
            </a:avLst>
          </a:prstGeom>
          <a:solidFill>
            <a:srgbClr val="F77A5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182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Output:</a:t>
            </a:r>
            <a:b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</a:br>
            <a:r>
              <a:rPr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go validator</a:t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973" name="Google Shape;973;p95"/>
          <p:cNvSpPr txBox="1"/>
          <p:nvPr>
            <p:ph idx="1" type="body"/>
          </p:nvPr>
        </p:nvSpPr>
        <p:spPr>
          <a:xfrm>
            <a:off x="518675" y="3889100"/>
            <a:ext cx="8258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experimented with HTML generation with another template.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also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 OpenAPI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from the custom descriptors (</a:t>
            </a:r>
            <a:r>
              <a:rPr lang="en" sz="1100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github.com/getkin/kin-openapi/openapi3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96"/>
          <p:cNvSpPr txBox="1"/>
          <p:nvPr>
            <p:ph type="title"/>
          </p:nvPr>
        </p:nvSpPr>
        <p:spPr>
          <a:xfrm>
            <a:off x="413300" y="413975"/>
            <a:ext cx="6222000" cy="461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Models</a:t>
            </a:r>
            <a:endParaRPr/>
          </a:p>
        </p:txBody>
      </p:sp>
      <p:sp>
        <p:nvSpPr>
          <p:cNvPr id="979" name="Google Shape;979;p96"/>
          <p:cNvSpPr txBox="1"/>
          <p:nvPr>
            <p:ph idx="1" type="body"/>
          </p:nvPr>
        </p:nvSpPr>
        <p:spPr>
          <a:xfrm>
            <a:off x="413250" y="1321775"/>
            <a:ext cx="8317500" cy="2749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have a centralised repository of 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protobuf</a:t>
            </a:r>
            <a:r>
              <a:rPr lang="en"/>
              <a:t> models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generate 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go</a:t>
            </a:r>
            <a:r>
              <a:rPr lang="en"/>
              <a:t> specific structs with buf tool, we try to use them everywhere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50">
              <a:solidFill>
                <a:srgbClr val="C494C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0" name="Google Shape;980;p96"/>
          <p:cNvSpPr txBox="1"/>
          <p:nvPr>
            <p:ph idx="2" type="subTitle"/>
          </p:nvPr>
        </p:nvSpPr>
        <p:spPr>
          <a:xfrm>
            <a:off x="413300" y="866950"/>
            <a:ext cx="7189800" cy="32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recap…</a:t>
            </a:r>
            <a:endParaRPr/>
          </a:p>
        </p:txBody>
      </p:sp>
      <p:sp>
        <p:nvSpPr>
          <p:cNvPr id="981" name="Google Shape;981;p96"/>
          <p:cNvSpPr/>
          <p:nvPr/>
        </p:nvSpPr>
        <p:spPr>
          <a:xfrm>
            <a:off x="150050" y="2521675"/>
            <a:ext cx="4281900" cy="220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 </a:t>
            </a: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TransactionRequest </a:t>
            </a: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CountryCode     </a:t>
            </a: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                </a:t>
            </a: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`json:"country_code,omitempty"`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IssueDate       *</a:t>
            </a: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               </a:t>
            </a: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`json:"issue_date,omitempty"`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Items           []*</a:t>
            </a: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TransactionLineItem </a:t>
            </a: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`json:"items"`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TotalAmount     *json.</a:t>
            </a: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Number           </a:t>
            </a: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`json:"total_amount,omitempty"`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IssueDate       *</a:t>
            </a: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               </a:t>
            </a: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`json:"issue_date,omitempty"`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TransactionDate *</a:t>
            </a: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               </a:t>
            </a: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`json:"transaction_date"`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TransactionId   </a:t>
            </a: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                </a:t>
            </a: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`json:"transaction_id,omitempty"`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2" name="Google Shape;982;p96"/>
          <p:cNvSpPr txBox="1"/>
          <p:nvPr>
            <p:ph idx="2" type="subTitle"/>
          </p:nvPr>
        </p:nvSpPr>
        <p:spPr>
          <a:xfrm>
            <a:off x="1401650" y="2268225"/>
            <a:ext cx="1778700" cy="32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External model</a:t>
            </a:r>
            <a:endParaRPr b="1"/>
          </a:p>
        </p:txBody>
      </p:sp>
      <p:sp>
        <p:nvSpPr>
          <p:cNvPr id="983" name="Google Shape;983;p96"/>
          <p:cNvSpPr/>
          <p:nvPr/>
        </p:nvSpPr>
        <p:spPr>
          <a:xfrm>
            <a:off x="4702500" y="2521675"/>
            <a:ext cx="4281900" cy="220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 Transaction struct {</a:t>
            </a:r>
            <a:endParaRPr b="1" i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         protoimpl.MessageState</a:t>
            </a:r>
            <a:endParaRPr b="1" i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sizeCache     protoimpl.SizeCache</a:t>
            </a:r>
            <a:endParaRPr b="1" i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unknownFields protoimpl.UnknownFields</a:t>
            </a:r>
            <a:endParaRPr b="1" i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CountryCode      string                 `protobuf:"..."`</a:t>
            </a:r>
            <a:endParaRPr b="1" i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InvoiceIssueDate *timestamppb.Timestamp `protobuf:"..."`</a:t>
            </a:r>
            <a:endParaRPr b="1" i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Items            []*TransactionItem     `protobuf:"..."`</a:t>
            </a:r>
            <a:endParaRPr b="1" i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TotalAmount      *Money                 `protobuf:"..."`</a:t>
            </a:r>
            <a:endParaRPr b="1" i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TransactionDate  *timestamppb.Timestamp `protobuf:"..."`</a:t>
            </a:r>
            <a:endParaRPr b="1" i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TransactionUid   string                 `protobuf:"..."`</a:t>
            </a:r>
            <a:endParaRPr b="1" i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4" name="Google Shape;984;p96"/>
          <p:cNvSpPr txBox="1"/>
          <p:nvPr>
            <p:ph idx="2" type="subTitle"/>
          </p:nvPr>
        </p:nvSpPr>
        <p:spPr>
          <a:xfrm>
            <a:off x="5954100" y="2268225"/>
            <a:ext cx="1778700" cy="32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Internal</a:t>
            </a:r>
            <a:r>
              <a:rPr b="1" lang="en"/>
              <a:t> model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97"/>
          <p:cNvSpPr txBox="1"/>
          <p:nvPr>
            <p:ph type="title"/>
          </p:nvPr>
        </p:nvSpPr>
        <p:spPr>
          <a:xfrm>
            <a:off x="413300" y="413975"/>
            <a:ext cx="62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Model Mappers</a:t>
            </a:r>
            <a:endParaRPr/>
          </a:p>
        </p:txBody>
      </p:sp>
      <p:sp>
        <p:nvSpPr>
          <p:cNvPr id="990" name="Google Shape;990;p97"/>
          <p:cNvSpPr txBox="1"/>
          <p:nvPr>
            <p:ph idx="1" type="body"/>
          </p:nvPr>
        </p:nvSpPr>
        <p:spPr>
          <a:xfrm>
            <a:off x="413250" y="638500"/>
            <a:ext cx="8317500" cy="12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Fields mapped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automatically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name and structure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the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exceptions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 be specified in a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descriptor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○"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991" name="Google Shape;991;p97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2" name="Google Shape;992;p97"/>
          <p:cNvSpPr txBox="1"/>
          <p:nvPr/>
        </p:nvSpPr>
        <p:spPr>
          <a:xfrm>
            <a:off x="413300" y="2289864"/>
            <a:ext cx="8125200" cy="2451000"/>
          </a:xfrm>
          <a:prstGeom prst="rect">
            <a:avLst/>
          </a:prstGeom>
          <a:solidFill>
            <a:srgbClr val="2F384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7AD5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ActivityCode </a:t>
            </a:r>
            <a:r>
              <a:rPr lang="en" sz="10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ActivityCode</a:t>
            </a:r>
            <a:endParaRPr sz="10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CountryCode </a:t>
            </a:r>
            <a:r>
              <a:rPr lang="en" sz="10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CountryCode</a:t>
            </a:r>
            <a:endParaRPr sz="10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TotalNetAmount </a:t>
            </a:r>
            <a:r>
              <a:rPr lang="en" sz="10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mapping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ToInternalMoneyFromJsonNumberRef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TotalNetAmount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CurrencyCode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CurrencyCode </a:t>
            </a:r>
            <a:r>
              <a:rPr lang="en" sz="10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helpers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ToUpper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CurrencyCode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Direction </a:t>
            </a:r>
            <a:r>
              <a:rPr lang="en" sz="10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ToInternalTransactionDirection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Direction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InvoiceIssueDate </a:t>
            </a:r>
            <a:r>
              <a:rPr lang="en" sz="10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utils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StringRefToPbTimestampFlexible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IssueDate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Issuer </a:t>
            </a:r>
            <a:r>
              <a:rPr lang="en" sz="10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ToInternalTransactionNonOnboardedEntity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Issuer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Items </a:t>
            </a:r>
            <a:r>
              <a:rPr lang="en" sz="10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ToInternalTransactionLineItems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ctx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LanguageCode </a:t>
            </a:r>
            <a:r>
              <a:rPr lang="en" sz="10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LanguageCode</a:t>
            </a:r>
            <a:endParaRPr sz="10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Note </a:t>
            </a:r>
            <a:r>
              <a:rPr lang="en" sz="10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Note</a:t>
            </a:r>
            <a:endParaRPr sz="10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3" name="Google Shape;993;p97"/>
          <p:cNvSpPr/>
          <p:nvPr/>
        </p:nvSpPr>
        <p:spPr>
          <a:xfrm>
            <a:off x="7276900" y="4201802"/>
            <a:ext cx="1453800" cy="591600"/>
          </a:xfrm>
          <a:prstGeom prst="roundRect">
            <a:avLst>
              <a:gd fmla="val 16667" name="adj"/>
            </a:avLst>
          </a:prstGeom>
          <a:solidFill>
            <a:srgbClr val="F77A5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182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Output:</a:t>
            </a:r>
            <a:b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</a:br>
            <a:r>
              <a:rPr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go validator</a:t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994" name="Google Shape;994;p97"/>
          <p:cNvSpPr txBox="1"/>
          <p:nvPr/>
        </p:nvSpPr>
        <p:spPr>
          <a:xfrm>
            <a:off x="413300" y="1623325"/>
            <a:ext cx="8125200" cy="701100"/>
          </a:xfrm>
          <a:prstGeom prst="rect">
            <a:avLst/>
          </a:prstGeom>
          <a:solidFill>
            <a:srgbClr val="30384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10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internal</a:t>
            </a:r>
            <a:r>
              <a:rPr lang="en" sz="10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total_net_amount</a:t>
            </a:r>
            <a:endParaRPr sz="10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expression</a:t>
            </a:r>
            <a:r>
              <a:rPr lang="en" sz="10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ToInternalMoneyFromJsonNumberRef(ctx, in.TotalNetAmount, in.CurrencyCode)</a:t>
            </a:r>
            <a:endParaRPr sz="10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995" name="Google Shape;995;p97"/>
          <p:cNvSpPr/>
          <p:nvPr/>
        </p:nvSpPr>
        <p:spPr>
          <a:xfrm>
            <a:off x="7276900" y="2155730"/>
            <a:ext cx="1453800" cy="591600"/>
          </a:xfrm>
          <a:prstGeom prst="roundRect">
            <a:avLst>
              <a:gd fmla="val 16667" name="adj"/>
            </a:avLst>
          </a:prstGeom>
          <a:solidFill>
            <a:srgbClr val="98E3B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182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SSOT:</a:t>
            </a:r>
            <a:b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</a:br>
            <a:r>
              <a:rPr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Custom YAML</a:t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98"/>
          <p:cNvSpPr txBox="1"/>
          <p:nvPr>
            <p:ph type="title"/>
          </p:nvPr>
        </p:nvSpPr>
        <p:spPr>
          <a:xfrm>
            <a:off x="413300" y="413975"/>
            <a:ext cx="6222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Lifecycle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01" name="Google Shape;1001;p98"/>
          <p:cNvSpPr txBox="1"/>
          <p:nvPr>
            <p:ph idx="1" type="body"/>
          </p:nvPr>
        </p:nvSpPr>
        <p:spPr>
          <a:xfrm>
            <a:off x="413250" y="1346050"/>
            <a:ext cx="8317500" cy="27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the CI, on each git push: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generate everything: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models, validators,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mappers  (FAST!)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run all the tests: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merge without passing tests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Breaking changes are flagged by: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Incompatible types in assignments (!)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Failing contract tests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difficult to find: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missing mappings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Default mapping by field name mitigates this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98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3" name="Google Shape;1003;p98"/>
          <p:cNvSpPr txBox="1"/>
          <p:nvPr>
            <p:ph idx="2" type="subTitle"/>
          </p:nvPr>
        </p:nvSpPr>
        <p:spPr>
          <a:xfrm>
            <a:off x="413300" y="866950"/>
            <a:ext cx="7189800" cy="29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Go helps us to keep control!</a:t>
            </a:r>
            <a:endParaRPr b="1" sz="1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99"/>
          <p:cNvSpPr/>
          <p:nvPr/>
        </p:nvSpPr>
        <p:spPr>
          <a:xfrm>
            <a:off x="413300" y="1625775"/>
            <a:ext cx="2630400" cy="2987700"/>
          </a:xfrm>
          <a:prstGeom prst="roundRect">
            <a:avLst>
              <a:gd fmla="val 6274" name="adj"/>
            </a:avLst>
          </a:prstGeom>
          <a:solidFill>
            <a:schemeClr val="lt1"/>
          </a:solidFill>
          <a:ln>
            <a:noFill/>
          </a:ln>
          <a:effectLst>
            <a:outerShdw blurRad="328613" rotWithShape="0" algn="ctr" dir="2400000" dist="190500">
              <a:schemeClr val="dk1">
                <a:alpha val="98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99"/>
          <p:cNvSpPr txBox="1"/>
          <p:nvPr>
            <p:ph idx="4294967295" type="ctrTitle"/>
          </p:nvPr>
        </p:nvSpPr>
        <p:spPr>
          <a:xfrm>
            <a:off x="611775" y="2073425"/>
            <a:ext cx="2129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</a:pPr>
            <a:r>
              <a:rPr lang="en" sz="1400"/>
              <a:t>Easy debugging</a:t>
            </a:r>
            <a:endParaRPr b="1" i="0" sz="1400" u="none" cap="none" strike="noStrike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1010" name="Google Shape;1010;p99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1" name="Google Shape;1011;p99"/>
          <p:cNvSpPr txBox="1"/>
          <p:nvPr>
            <p:ph idx="4294967295" type="ctrTitle"/>
          </p:nvPr>
        </p:nvSpPr>
        <p:spPr>
          <a:xfrm>
            <a:off x="2088024" y="1347550"/>
            <a:ext cx="95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</a:pPr>
            <a:r>
              <a:rPr b="1" i="0" lang="en" sz="5000" u="none" cap="none" strike="noStrik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rPr>
              <a:t>01</a:t>
            </a:r>
            <a:endParaRPr b="1" i="0" sz="5000" u="none" cap="none" strike="noStrike">
              <a:solidFill>
                <a:schemeClr val="lt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1012" name="Google Shape;1012;p99"/>
          <p:cNvSpPr/>
          <p:nvPr/>
        </p:nvSpPr>
        <p:spPr>
          <a:xfrm>
            <a:off x="3207150" y="1625775"/>
            <a:ext cx="2630400" cy="2987700"/>
          </a:xfrm>
          <a:prstGeom prst="roundRect">
            <a:avLst>
              <a:gd fmla="val 6274" name="adj"/>
            </a:avLst>
          </a:prstGeom>
          <a:solidFill>
            <a:schemeClr val="lt1"/>
          </a:solidFill>
          <a:ln>
            <a:noFill/>
          </a:ln>
          <a:effectLst>
            <a:outerShdw blurRad="328613" rotWithShape="0" algn="ctr" dir="2400000" dist="190500">
              <a:schemeClr val="dk1">
                <a:alpha val="98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99"/>
          <p:cNvSpPr txBox="1"/>
          <p:nvPr>
            <p:ph idx="4294967295" type="ctrTitle"/>
          </p:nvPr>
        </p:nvSpPr>
        <p:spPr>
          <a:xfrm>
            <a:off x="4924624" y="1347550"/>
            <a:ext cx="95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</a:pPr>
            <a:r>
              <a:rPr b="1" i="0" lang="en" sz="5000" u="none" cap="none" strike="noStrik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rPr>
              <a:t>02</a:t>
            </a:r>
            <a:endParaRPr b="1" i="0" sz="5000" u="none" cap="none" strike="noStrike">
              <a:solidFill>
                <a:schemeClr val="lt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1014" name="Google Shape;1014;p99"/>
          <p:cNvSpPr/>
          <p:nvPr/>
        </p:nvSpPr>
        <p:spPr>
          <a:xfrm>
            <a:off x="6001000" y="1625775"/>
            <a:ext cx="2630400" cy="2987700"/>
          </a:xfrm>
          <a:prstGeom prst="roundRect">
            <a:avLst>
              <a:gd fmla="val 6274" name="adj"/>
            </a:avLst>
          </a:prstGeom>
          <a:solidFill>
            <a:schemeClr val="lt1"/>
          </a:solidFill>
          <a:ln>
            <a:noFill/>
          </a:ln>
          <a:effectLst>
            <a:outerShdw blurRad="328613" rotWithShape="0" algn="ctr" dir="2400000" dist="190500">
              <a:schemeClr val="dk1">
                <a:alpha val="98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99"/>
          <p:cNvSpPr txBox="1"/>
          <p:nvPr>
            <p:ph idx="4294967295" type="ctrTitle"/>
          </p:nvPr>
        </p:nvSpPr>
        <p:spPr>
          <a:xfrm>
            <a:off x="7675724" y="1347550"/>
            <a:ext cx="95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</a:pPr>
            <a:r>
              <a:rPr b="1" i="0" lang="en" sz="5000" u="none" cap="none" strike="noStrik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rPr>
              <a:t>03</a:t>
            </a:r>
            <a:endParaRPr b="1" i="0" sz="5000" u="none" cap="none" strike="noStrike">
              <a:solidFill>
                <a:schemeClr val="lt2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1016" name="Google Shape;1016;p99"/>
          <p:cNvSpPr txBox="1"/>
          <p:nvPr>
            <p:ph type="title"/>
          </p:nvPr>
        </p:nvSpPr>
        <p:spPr>
          <a:xfrm>
            <a:off x="413300" y="413975"/>
            <a:ext cx="83130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Why not interpreting?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017" name="Google Shape;1017;p99"/>
          <p:cNvSpPr txBox="1"/>
          <p:nvPr/>
        </p:nvSpPr>
        <p:spPr>
          <a:xfrm>
            <a:off x="611775" y="2442300"/>
            <a:ext cx="18780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</a:pPr>
            <a:r>
              <a:rPr lang="en"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Compiled Go code is much easier to debug than interpreted code.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99"/>
          <p:cNvSpPr txBox="1"/>
          <p:nvPr>
            <p:ph idx="4294967295" type="ctrTitle"/>
          </p:nvPr>
        </p:nvSpPr>
        <p:spPr>
          <a:xfrm>
            <a:off x="3421400" y="2073425"/>
            <a:ext cx="2129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</a:pPr>
            <a:r>
              <a:rPr lang="en" sz="1400"/>
              <a:t>Type Safety</a:t>
            </a:r>
            <a:endParaRPr b="1" i="0" sz="1400" u="none" cap="none" strike="noStrike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1019" name="Google Shape;1019;p99"/>
          <p:cNvSpPr txBox="1"/>
          <p:nvPr/>
        </p:nvSpPr>
        <p:spPr>
          <a:xfrm>
            <a:off x="3421400" y="2442300"/>
            <a:ext cx="18780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</a:pPr>
            <a:r>
              <a:rPr lang="en"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Compiled Go code catches errors that a YAML parser won't.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99"/>
          <p:cNvSpPr txBox="1"/>
          <p:nvPr>
            <p:ph idx="4294967295" type="ctrTitle"/>
          </p:nvPr>
        </p:nvSpPr>
        <p:spPr>
          <a:xfrm>
            <a:off x="6231025" y="2073425"/>
            <a:ext cx="2129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</a:pPr>
            <a:r>
              <a:rPr lang="en" sz="1400"/>
              <a:t>Performance</a:t>
            </a:r>
            <a:endParaRPr b="1" i="0" sz="1400" u="none" cap="none" strike="noStrike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1021" name="Google Shape;1021;p99"/>
          <p:cNvSpPr txBox="1"/>
          <p:nvPr/>
        </p:nvSpPr>
        <p:spPr>
          <a:xfrm>
            <a:off x="6231025" y="2442300"/>
            <a:ext cx="22638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2534"/>
              </a:buClr>
              <a:buSzPts val="2400"/>
              <a:buFont typeface="Anybody"/>
              <a:buNone/>
            </a:pPr>
            <a:r>
              <a:rPr lang="en" sz="1200">
                <a:solidFill>
                  <a:srgbClr val="0C2534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Evaluating expressions at runtime can be slow.</a:t>
            </a:r>
            <a:endParaRPr sz="1200">
              <a:solidFill>
                <a:srgbClr val="0C2534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2534"/>
              </a:buClr>
              <a:buSzPts val="2400"/>
              <a:buFont typeface="Anybody"/>
              <a:buNone/>
            </a:pPr>
            <a:r>
              <a:t/>
            </a:r>
            <a:endParaRPr sz="1200">
              <a:solidFill>
                <a:srgbClr val="0C2534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2534"/>
              </a:buClr>
              <a:buSzPts val="2400"/>
              <a:buFont typeface="Anybody"/>
              <a:buNone/>
            </a:pPr>
            <a:r>
              <a:rPr lang="en" sz="1200">
                <a:solidFill>
                  <a:srgbClr val="0C2534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Although, this is a micro optimization!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100"/>
          <p:cNvSpPr txBox="1"/>
          <p:nvPr>
            <p:ph type="title"/>
          </p:nvPr>
        </p:nvSpPr>
        <p:spPr>
          <a:xfrm>
            <a:off x="413300" y="954425"/>
            <a:ext cx="48504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/>
              <a:t>A more complex use case</a:t>
            </a:r>
            <a:endParaRPr sz="2100"/>
          </a:p>
        </p:txBody>
      </p:sp>
      <p:sp>
        <p:nvSpPr>
          <p:cNvPr id="1027" name="Google Shape;1027;p100"/>
          <p:cNvSpPr txBox="1"/>
          <p:nvPr>
            <p:ph type="title"/>
          </p:nvPr>
        </p:nvSpPr>
        <p:spPr>
          <a:xfrm>
            <a:off x="5078035" y="2482411"/>
            <a:ext cx="11631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188038"/>
                </a:solidFill>
              </a:rPr>
              <a:t>Lisa</a:t>
            </a:r>
            <a:endParaRPr sz="3300">
              <a:solidFill>
                <a:srgbClr val="188038"/>
              </a:solidFill>
            </a:endParaRPr>
          </a:p>
        </p:txBody>
      </p:sp>
      <p:pic>
        <p:nvPicPr>
          <p:cNvPr id="1028" name="Google Shape;102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4550" y="1355825"/>
            <a:ext cx="2145312" cy="348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01"/>
          <p:cNvSpPr txBox="1"/>
          <p:nvPr>
            <p:ph type="title"/>
          </p:nvPr>
        </p:nvSpPr>
        <p:spPr>
          <a:xfrm>
            <a:off x="413300" y="413975"/>
            <a:ext cx="62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Tax logic rules</a:t>
            </a:r>
            <a:endParaRPr/>
          </a:p>
        </p:txBody>
      </p:sp>
      <p:sp>
        <p:nvSpPr>
          <p:cNvPr id="1034" name="Google Shape;1034;p101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5" name="Google Shape;1035;p101"/>
          <p:cNvSpPr txBox="1"/>
          <p:nvPr/>
        </p:nvSpPr>
        <p:spPr>
          <a:xfrm>
            <a:off x="5073050" y="623325"/>
            <a:ext cx="1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1036" name="Google Shape;1036;p101"/>
          <p:cNvSpPr txBox="1"/>
          <p:nvPr>
            <p:ph idx="2" type="subTitle"/>
          </p:nvPr>
        </p:nvSpPr>
        <p:spPr>
          <a:xfrm>
            <a:off x="413300" y="866950"/>
            <a:ext cx="718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300">
                <a:solidFill>
                  <a:srgbClr val="0C2534"/>
                </a:solidFill>
              </a:rPr>
              <a:t>Slightly more than a rules engine</a:t>
            </a:r>
            <a:endParaRPr sz="1700"/>
          </a:p>
        </p:txBody>
      </p:sp>
      <p:pic>
        <p:nvPicPr>
          <p:cNvPr id="1037" name="Google Shape;1037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3775" y="1259425"/>
            <a:ext cx="3899702" cy="2431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8" name="Google Shape;1038;p101"/>
          <p:cNvSpPr txBox="1"/>
          <p:nvPr>
            <p:ph idx="1" type="body"/>
          </p:nvPr>
        </p:nvSpPr>
        <p:spPr>
          <a:xfrm>
            <a:off x="412750" y="1444500"/>
            <a:ext cx="3958500" cy="20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the tax determination engine:</a:t>
            </a:r>
            <a:endParaRPr/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We let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non-technical users</a:t>
            </a:r>
            <a:r>
              <a:rPr lang="en" sz="1500"/>
              <a:t> to edit tax logic with a no-code approach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</a:t>
            </a:r>
            <a:r>
              <a:rPr lang="en" sz="1500"/>
              <a:t>backend</a:t>
            </a:r>
            <a:r>
              <a:rPr lang="en" sz="1500"/>
              <a:t> of the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editor</a:t>
            </a:r>
            <a:r>
              <a:rPr lang="en" sz="1500"/>
              <a:t> uses an in-memory hierarchical model (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JSON)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9" name="Google Shape;1039;p101"/>
          <p:cNvSpPr txBox="1"/>
          <p:nvPr/>
        </p:nvSpPr>
        <p:spPr>
          <a:xfrm>
            <a:off x="1233525" y="4001825"/>
            <a:ext cx="6505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Main Challenge: what should we store?</a:t>
            </a:r>
            <a:endParaRPr b="1" sz="15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rPr>
              <a:t>JSON is not great for reading and change management</a:t>
            </a:r>
            <a:endParaRPr b="1" sz="15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02"/>
          <p:cNvSpPr txBox="1"/>
          <p:nvPr>
            <p:ph type="title"/>
          </p:nvPr>
        </p:nvSpPr>
        <p:spPr>
          <a:xfrm>
            <a:off x="413300" y="413975"/>
            <a:ext cx="62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We store “Lisa”</a:t>
            </a:r>
            <a:endParaRPr/>
          </a:p>
        </p:txBody>
      </p:sp>
      <p:sp>
        <p:nvSpPr>
          <p:cNvPr id="1045" name="Google Shape;1045;p102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6" name="Google Shape;1046;p102"/>
          <p:cNvSpPr txBox="1"/>
          <p:nvPr>
            <p:ph idx="2" type="subTitle"/>
          </p:nvPr>
        </p:nvSpPr>
        <p:spPr>
          <a:xfrm>
            <a:off x="413300" y="866950"/>
            <a:ext cx="718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/>
              <a:t>A go-derived DSL</a:t>
            </a:r>
            <a:endParaRPr b="1" sz="1700"/>
          </a:p>
        </p:txBody>
      </p:sp>
      <p:sp>
        <p:nvSpPr>
          <p:cNvPr id="1047" name="Google Shape;1047;p102"/>
          <p:cNvSpPr txBox="1"/>
          <p:nvPr>
            <p:ph idx="1" type="body"/>
          </p:nvPr>
        </p:nvSpPr>
        <p:spPr>
          <a:xfrm>
            <a:off x="412750" y="1444500"/>
            <a:ext cx="8318400" cy="27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decided to define a 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subset of go</a:t>
            </a:r>
            <a:r>
              <a:rPr lang="en"/>
              <a:t> for the logic definition, that we call “Lisa”.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Lisa supports: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Assignments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Expressions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Conditionals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Loops (v</a:t>
            </a:r>
            <a:r>
              <a:rPr lang="en"/>
              <a:t>ery limited)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Global variables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8" name="Google Shape;1048;p102"/>
          <p:cNvSpPr/>
          <p:nvPr/>
        </p:nvSpPr>
        <p:spPr>
          <a:xfrm>
            <a:off x="5334825" y="2099975"/>
            <a:ext cx="1500000" cy="362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725" lIns="71725" spcFirstLastPara="1" rIns="71725" wrap="square" tIns="7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98">
                <a:latin typeface="Comfortaa"/>
                <a:ea typeface="Comfortaa"/>
                <a:cs typeface="Comfortaa"/>
                <a:sym typeface="Comfortaa"/>
              </a:rPr>
              <a:t>Frontend JSON</a:t>
            </a:r>
            <a:endParaRPr b="1" sz="1098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49" name="Google Shape;1049;p102"/>
          <p:cNvSpPr/>
          <p:nvPr/>
        </p:nvSpPr>
        <p:spPr>
          <a:xfrm>
            <a:off x="5334825" y="2853432"/>
            <a:ext cx="1500000" cy="47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725" lIns="71725" spcFirstLastPara="1" rIns="71725" wrap="square" tIns="7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8">
                <a:latin typeface="Comfortaa"/>
                <a:ea typeface="Comfortaa"/>
                <a:cs typeface="Comfortaa"/>
                <a:sym typeface="Comfortaa"/>
              </a:rPr>
              <a:t>Backend</a:t>
            </a:r>
            <a:endParaRPr sz="1098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98">
                <a:latin typeface="Comfortaa"/>
                <a:ea typeface="Comfortaa"/>
                <a:cs typeface="Comfortaa"/>
                <a:sym typeface="Comfortaa"/>
              </a:rPr>
              <a:t>“Transpiler”</a:t>
            </a:r>
            <a:endParaRPr b="1" sz="1098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0" name="Google Shape;1050;p102"/>
          <p:cNvSpPr/>
          <p:nvPr/>
        </p:nvSpPr>
        <p:spPr>
          <a:xfrm>
            <a:off x="5334825" y="3722377"/>
            <a:ext cx="1500000" cy="47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725" lIns="71725" spcFirstLastPara="1" rIns="71725" wrap="square" tIns="7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6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Lisa code</a:t>
            </a:r>
            <a:endParaRPr sz="1098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1" name="Google Shape;1051;p102"/>
          <p:cNvSpPr/>
          <p:nvPr/>
        </p:nvSpPr>
        <p:spPr>
          <a:xfrm>
            <a:off x="6007875" y="3369642"/>
            <a:ext cx="153900" cy="3141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09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275" lIns="105275" spcFirstLastPara="1" rIns="105275" wrap="square" tIns="10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1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052" name="Google Shape;1052;p102"/>
          <p:cNvSpPr/>
          <p:nvPr/>
        </p:nvSpPr>
        <p:spPr>
          <a:xfrm>
            <a:off x="6007875" y="2500692"/>
            <a:ext cx="153900" cy="3141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09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275" lIns="105275" spcFirstLastPara="1" rIns="105275" wrap="square" tIns="10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1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053" name="Google Shape;1053;p102"/>
          <p:cNvSpPr txBox="1"/>
          <p:nvPr/>
        </p:nvSpPr>
        <p:spPr>
          <a:xfrm>
            <a:off x="7180550" y="3815075"/>
            <a:ext cx="652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SSOT</a:t>
            </a:r>
            <a:endParaRPr/>
          </a:p>
        </p:txBody>
      </p:sp>
      <p:sp>
        <p:nvSpPr>
          <p:cNvPr id="1054" name="Google Shape;1054;p102"/>
          <p:cNvSpPr txBox="1"/>
          <p:nvPr/>
        </p:nvSpPr>
        <p:spPr>
          <a:xfrm>
            <a:off x="7264250" y="2088575"/>
            <a:ext cx="1167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Volatile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03"/>
          <p:cNvSpPr txBox="1"/>
          <p:nvPr>
            <p:ph type="title"/>
          </p:nvPr>
        </p:nvSpPr>
        <p:spPr>
          <a:xfrm>
            <a:off x="413300" y="413975"/>
            <a:ext cx="62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Lisa example</a:t>
            </a:r>
            <a:endParaRPr/>
          </a:p>
        </p:txBody>
      </p:sp>
      <p:sp>
        <p:nvSpPr>
          <p:cNvPr id="1060" name="Google Shape;1060;p103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1" name="Google Shape;1061;p103"/>
          <p:cNvSpPr txBox="1"/>
          <p:nvPr/>
        </p:nvSpPr>
        <p:spPr>
          <a:xfrm>
            <a:off x="472650" y="1298775"/>
            <a:ext cx="8198700" cy="3321300"/>
          </a:xfrm>
          <a:prstGeom prst="rect">
            <a:avLst/>
          </a:prstGeom>
          <a:solidFill>
            <a:srgbClr val="30384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package 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logic</a:t>
            </a:r>
            <a:endParaRPr sz="10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// Apply Car Rental Tax</a:t>
            </a:r>
            <a:endParaRPr sz="10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func 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applyCarRentalTax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// Is there an airport code for the pickup?</a:t>
            </a:r>
            <a:endParaRPr sz="10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10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transit_origin_airport_code </a:t>
            </a:r>
            <a:r>
              <a:rPr lang="en" sz="10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!= </a:t>
            </a:r>
            <a:r>
              <a:rPr lang="en" sz="10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"" 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// add airport fee to breakdown</a:t>
            </a:r>
            <a:endParaRPr sz="10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addToBreakdown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transit_origin_country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transit_origin_airport_code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"carRental"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"std"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} </a:t>
            </a:r>
            <a:r>
              <a:rPr i="1" lang="en" sz="10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// Is there an airport code for the drop off?</a:t>
            </a:r>
            <a:endParaRPr sz="10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i="1" lang="en" sz="10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transit_destination_airport_code </a:t>
            </a:r>
            <a:r>
              <a:rPr lang="en" sz="10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!= </a:t>
            </a:r>
            <a:r>
              <a:rPr lang="en" sz="10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"" 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// add airport fee to breakdown</a:t>
            </a:r>
            <a:endParaRPr sz="10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addToBreakdown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transit_destination_country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transit_destination_airport_code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"carRental"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"std"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sz="10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// lookup all the regions mapped to a zip code</a:t>
            </a:r>
            <a:endParaRPr sz="10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transaction_country_regions </a:t>
            </a:r>
            <a:r>
              <a:rPr lang="en" sz="10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1"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lookup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"zip_to_regions"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country_regions</a:t>
            </a:r>
            <a:r>
              <a:rPr lang="en" sz="10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" sz="10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"zip"</a:t>
            </a:r>
            <a:r>
              <a:rPr lang="en" sz="10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zip_code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0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62" name="Google Shape;1062;p103"/>
          <p:cNvSpPr txBox="1"/>
          <p:nvPr/>
        </p:nvSpPr>
        <p:spPr>
          <a:xfrm>
            <a:off x="5073050" y="623325"/>
            <a:ext cx="1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1063" name="Google Shape;1063;p103"/>
          <p:cNvSpPr txBox="1"/>
          <p:nvPr>
            <p:ph idx="2" type="subTitle"/>
          </p:nvPr>
        </p:nvSpPr>
        <p:spPr>
          <a:xfrm>
            <a:off x="413300" y="866950"/>
            <a:ext cx="7189800" cy="29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Lisa is a simple go subset</a:t>
            </a:r>
            <a:endParaRPr sz="1300"/>
          </a:p>
        </p:txBody>
      </p:sp>
      <p:sp>
        <p:nvSpPr>
          <p:cNvPr id="1064" name="Google Shape;1064;p103"/>
          <p:cNvSpPr/>
          <p:nvPr/>
        </p:nvSpPr>
        <p:spPr>
          <a:xfrm>
            <a:off x="7276900" y="783680"/>
            <a:ext cx="1453800" cy="591600"/>
          </a:xfrm>
          <a:prstGeom prst="roundRect">
            <a:avLst>
              <a:gd fmla="val 16667" name="adj"/>
            </a:avLst>
          </a:prstGeom>
          <a:solidFill>
            <a:srgbClr val="98E3B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182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SSOT:</a:t>
            </a:r>
            <a:b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</a:br>
            <a:r>
              <a:rPr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lisa</a:t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04"/>
          <p:cNvSpPr txBox="1"/>
          <p:nvPr>
            <p:ph type="title"/>
          </p:nvPr>
        </p:nvSpPr>
        <p:spPr>
          <a:xfrm>
            <a:off x="413300" y="413975"/>
            <a:ext cx="62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Frontend json</a:t>
            </a:r>
            <a:endParaRPr/>
          </a:p>
        </p:txBody>
      </p:sp>
      <p:sp>
        <p:nvSpPr>
          <p:cNvPr id="1070" name="Google Shape;1070;p104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1" name="Google Shape;1071;p104"/>
          <p:cNvSpPr txBox="1"/>
          <p:nvPr/>
        </p:nvSpPr>
        <p:spPr>
          <a:xfrm>
            <a:off x="472650" y="1298775"/>
            <a:ext cx="8198700" cy="3649200"/>
          </a:xfrm>
          <a:prstGeom prst="rect">
            <a:avLst/>
          </a:prstGeom>
          <a:solidFill>
            <a:srgbClr val="30384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"flows"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"id"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"applyCarRentalTax"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"Apply Car Rental Tax"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"block"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"id"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"applyCarRentalTax"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"endsWith"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"return"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"statements"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{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"id"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"4"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"label"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"Is there an airport code for the pickup?"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"type"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"decision"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"decideWith"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"condition"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"condition"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"predicate"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"left"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"kind"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"parameter"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"value"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"transit_origin_airport_code"</a:t>
            </a:r>
            <a:endParaRPr sz="85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"operator"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"!="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"right"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"kind"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"literal"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</a:t>
            </a:r>
            <a:r>
              <a:rPr lang="en" sz="8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"value"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""</a:t>
            </a:r>
            <a:endParaRPr sz="850">
              <a:solidFill>
                <a:srgbClr val="98C593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}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50">
              <a:solidFill>
                <a:srgbClr val="C494C4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72" name="Google Shape;1072;p104"/>
          <p:cNvSpPr txBox="1"/>
          <p:nvPr/>
        </p:nvSpPr>
        <p:spPr>
          <a:xfrm>
            <a:off x="5073050" y="623325"/>
            <a:ext cx="1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1073" name="Google Shape;1073;p104"/>
          <p:cNvSpPr txBox="1"/>
          <p:nvPr>
            <p:ph idx="2" type="subTitle"/>
          </p:nvPr>
        </p:nvSpPr>
        <p:spPr>
          <a:xfrm>
            <a:off x="413300" y="866950"/>
            <a:ext cx="7189800" cy="29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 target for rendering</a:t>
            </a:r>
            <a:endParaRPr sz="1300"/>
          </a:p>
        </p:txBody>
      </p:sp>
      <p:sp>
        <p:nvSpPr>
          <p:cNvPr id="1074" name="Google Shape;1074;p104"/>
          <p:cNvSpPr/>
          <p:nvPr/>
        </p:nvSpPr>
        <p:spPr>
          <a:xfrm>
            <a:off x="7283477" y="783680"/>
            <a:ext cx="1453800" cy="591600"/>
          </a:xfrm>
          <a:prstGeom prst="roundRect">
            <a:avLst>
              <a:gd fmla="val 16667" name="adj"/>
            </a:avLst>
          </a:prstGeom>
          <a:solidFill>
            <a:srgbClr val="F77A5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182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Output:</a:t>
            </a:r>
            <a:b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</a:br>
            <a:r>
              <a:rPr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Lisa UI json</a:t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05"/>
          <p:cNvSpPr txBox="1"/>
          <p:nvPr>
            <p:ph type="title"/>
          </p:nvPr>
        </p:nvSpPr>
        <p:spPr>
          <a:xfrm>
            <a:off x="413300" y="413975"/>
            <a:ext cx="62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Lisa to </a:t>
            </a:r>
            <a:r>
              <a:rPr lang="en"/>
              <a:t>Frontend </a:t>
            </a:r>
            <a:r>
              <a:rPr lang="en"/>
              <a:t>json</a:t>
            </a:r>
            <a:endParaRPr/>
          </a:p>
        </p:txBody>
      </p:sp>
      <p:sp>
        <p:nvSpPr>
          <p:cNvPr id="1080" name="Google Shape;1080;p105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1" name="Google Shape;1081;p105"/>
          <p:cNvSpPr txBox="1"/>
          <p:nvPr/>
        </p:nvSpPr>
        <p:spPr>
          <a:xfrm>
            <a:off x="472650" y="1298775"/>
            <a:ext cx="8198700" cy="3471600"/>
          </a:xfrm>
          <a:prstGeom prst="rect">
            <a:avLst/>
          </a:prstGeom>
          <a:solidFill>
            <a:srgbClr val="30384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func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i="1" lang="en" sz="8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LisaTranspiler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8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toOperand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expr ast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8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Expr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(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8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Operand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" sz="850">
                <a:solidFill>
                  <a:srgbClr val="6598CB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switch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expr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case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ast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8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Ident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str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8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identifier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==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"true"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||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== 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"false"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8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Operand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Kind: 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LITERAL_OP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Value: str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" sz="850">
                <a:solidFill>
                  <a:srgbClr val="EAF16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nil</a:t>
            </a:r>
            <a:endParaRPr i="1" sz="850">
              <a:solidFill>
                <a:srgbClr val="EAF169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50">
                <a:solidFill>
                  <a:srgbClr val="EAF16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8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Operand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Kind: 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PARAMETER_OP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Value: str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" sz="850">
                <a:solidFill>
                  <a:srgbClr val="EAF16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nil</a:t>
            </a:r>
            <a:endParaRPr i="1" sz="850">
              <a:solidFill>
                <a:srgbClr val="EAF169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50">
                <a:solidFill>
                  <a:srgbClr val="EAF16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case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ast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8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BasicLit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str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err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8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literalToString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err </a:t>
            </a:r>
            <a:r>
              <a:rPr lang="en" sz="8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!= </a:t>
            </a:r>
            <a:r>
              <a:rPr i="1" lang="en" sz="850">
                <a:solidFill>
                  <a:srgbClr val="EAF16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nil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8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Operand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fmt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Errorf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"cannot convert literal: </a:t>
            </a:r>
            <a:r>
              <a:rPr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%s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Kind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8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Operand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Kind:  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6DCE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LITERAL_OP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Value: str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A5ABB8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" sz="850">
                <a:solidFill>
                  <a:srgbClr val="EAF16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nil</a:t>
            </a:r>
            <a:endParaRPr i="1" sz="850">
              <a:solidFill>
                <a:srgbClr val="EAF169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850">
              <a:solidFill>
                <a:srgbClr val="EAF169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50">
                <a:solidFill>
                  <a:srgbClr val="EAF16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i="1"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8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Operand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fmt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Errorf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"could not convert operand with type </a:t>
            </a:r>
            <a:r>
              <a:rPr lang="en" sz="8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%T</a:t>
            </a:r>
            <a:r>
              <a:rPr lang="en" sz="8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8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expr</a:t>
            </a: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2" name="Google Shape;1082;p105"/>
          <p:cNvSpPr txBox="1"/>
          <p:nvPr/>
        </p:nvSpPr>
        <p:spPr>
          <a:xfrm>
            <a:off x="5073050" y="623325"/>
            <a:ext cx="1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1083" name="Google Shape;1083;p105"/>
          <p:cNvSpPr txBox="1"/>
          <p:nvPr>
            <p:ph idx="2" type="subTitle"/>
          </p:nvPr>
        </p:nvSpPr>
        <p:spPr>
          <a:xfrm>
            <a:off x="413300" y="866950"/>
            <a:ext cx="7189800" cy="492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We</a:t>
            </a:r>
            <a:r>
              <a:rPr lang="en" sz="1300"/>
              <a:t> parse lisa into our json UI format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084" name="Google Shape;1084;p105"/>
          <p:cNvSpPr/>
          <p:nvPr/>
        </p:nvSpPr>
        <p:spPr>
          <a:xfrm>
            <a:off x="7276900" y="783680"/>
            <a:ext cx="1453800" cy="591600"/>
          </a:xfrm>
          <a:prstGeom prst="roundRect">
            <a:avLst>
              <a:gd fmla="val 16667" name="adj"/>
            </a:avLst>
          </a:prstGeom>
          <a:solidFill>
            <a:srgbClr val="BAD3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182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Tool:</a:t>
            </a:r>
            <a:b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</a:br>
            <a: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ast</a:t>
            </a:r>
            <a:r>
              <a:rPr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 package</a:t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06"/>
          <p:cNvSpPr txBox="1"/>
          <p:nvPr>
            <p:ph type="title"/>
          </p:nvPr>
        </p:nvSpPr>
        <p:spPr>
          <a:xfrm>
            <a:off x="413300" y="413975"/>
            <a:ext cx="62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Frontend j</a:t>
            </a:r>
            <a:r>
              <a:rPr lang="en"/>
              <a:t>son to Lisa</a:t>
            </a:r>
            <a:endParaRPr/>
          </a:p>
        </p:txBody>
      </p:sp>
      <p:sp>
        <p:nvSpPr>
          <p:cNvPr id="1090" name="Google Shape;1090;p106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1" name="Google Shape;1091;p106"/>
          <p:cNvSpPr txBox="1"/>
          <p:nvPr/>
        </p:nvSpPr>
        <p:spPr>
          <a:xfrm>
            <a:off x="472650" y="1298775"/>
            <a:ext cx="8198700" cy="3584700"/>
          </a:xfrm>
          <a:prstGeom prst="rect">
            <a:avLst/>
          </a:prstGeom>
          <a:solidFill>
            <a:srgbClr val="30384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func 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 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i="1" lang="en" sz="7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LisaTranspiler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750">
                <a:solidFill>
                  <a:srgbClr val="5FB3B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toLisaFunctions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flow model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7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Flow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allFlows 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7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FlowDescription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params </a:t>
            </a:r>
            <a:r>
              <a:rPr i="1" lang="en" sz="750">
                <a:solidFill>
                  <a:srgbClr val="C393C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paramsMap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(</a:t>
            </a:r>
            <a:r>
              <a:rPr i="1" lang="en" sz="750">
                <a:solidFill>
                  <a:srgbClr val="6598CB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" sz="750">
                <a:solidFill>
                  <a:srgbClr val="6598CB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code 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strings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750">
                <a:solidFill>
                  <a:srgbClr val="C494C5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Builder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{}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_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 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i="1"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range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allFlows 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flowsById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= &amp;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endParaRPr sz="7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blockCode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err 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blockToLisa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flow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Block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params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WithLocal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flow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Parameters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err 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!= </a:t>
            </a:r>
            <a:r>
              <a:rPr i="1" lang="en" sz="750">
                <a:solidFill>
                  <a:srgbClr val="EAF16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nil 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i="1"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7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fmt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Errorf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"failed to transpile flows: </a:t>
            </a:r>
            <a:r>
              <a:rPr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%w</a:t>
            </a:r>
            <a:r>
              <a:rPr lang="en" sz="7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err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funcName 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flow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sz="750">
              <a:solidFill>
                <a:srgbClr val="D6DCE7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i="1" lang="en" sz="7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flow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750">
                <a:solidFill>
                  <a:srgbClr val="F7AD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0 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WriteString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"// "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WriteString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flow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WriteRune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'\n'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WriteString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"func "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WriteString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funcName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WriteString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"("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param 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:= </a:t>
            </a:r>
            <a:r>
              <a:rPr i="1"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range 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flow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Parameters 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WriteString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param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Name 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en" sz="7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 " 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ToLisaType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param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i="1"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&lt; 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en" sz="750">
                <a:solidFill>
                  <a:srgbClr val="6598CA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F7AD5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flow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Parameters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750">
                <a:solidFill>
                  <a:srgbClr val="F77A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750">
                <a:solidFill>
                  <a:srgbClr val="F7AD56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WriteString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", "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WriteString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") {</a:t>
            </a:r>
            <a:r>
              <a:rPr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" sz="7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WriteString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blockCode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WriteString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7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"}</a:t>
            </a:r>
            <a:r>
              <a:rPr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" sz="750">
                <a:solidFill>
                  <a:srgbClr val="98C593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750">
                <a:solidFill>
                  <a:srgbClr val="C494C4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750">
                <a:solidFill>
                  <a:srgbClr val="D6DCE7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750">
                <a:solidFill>
                  <a:srgbClr val="B09D7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750">
                <a:solidFill>
                  <a:srgbClr val="A5ABB8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" sz="750">
                <a:solidFill>
                  <a:srgbClr val="EAF169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nil</a:t>
            </a:r>
            <a:endParaRPr i="1" sz="750">
              <a:solidFill>
                <a:srgbClr val="EAF169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FDFDFD"/>
                </a:solidFill>
                <a:highlight>
                  <a:srgbClr val="30384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50">
              <a:solidFill>
                <a:srgbClr val="FDFDFD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550">
              <a:solidFill>
                <a:srgbClr val="C494C4"/>
              </a:solidFill>
              <a:highlight>
                <a:srgbClr val="30384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92" name="Google Shape;1092;p106"/>
          <p:cNvSpPr txBox="1"/>
          <p:nvPr/>
        </p:nvSpPr>
        <p:spPr>
          <a:xfrm>
            <a:off x="5073050" y="623325"/>
            <a:ext cx="1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sp>
        <p:nvSpPr>
          <p:cNvPr id="1093" name="Google Shape;1093;p106"/>
          <p:cNvSpPr txBox="1"/>
          <p:nvPr>
            <p:ph idx="2" type="subTitle"/>
          </p:nvPr>
        </p:nvSpPr>
        <p:spPr>
          <a:xfrm>
            <a:off x="413300" y="866950"/>
            <a:ext cx="7189800" cy="29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Simple and basic string Builder </a:t>
            </a:r>
            <a:endParaRPr sz="1300"/>
          </a:p>
        </p:txBody>
      </p:sp>
      <p:sp>
        <p:nvSpPr>
          <p:cNvPr id="1094" name="Google Shape;1094;p106"/>
          <p:cNvSpPr/>
          <p:nvPr/>
        </p:nvSpPr>
        <p:spPr>
          <a:xfrm>
            <a:off x="7276900" y="783680"/>
            <a:ext cx="1453800" cy="591600"/>
          </a:xfrm>
          <a:prstGeom prst="roundRect">
            <a:avLst>
              <a:gd fmla="val 16667" name="adj"/>
            </a:avLst>
          </a:prstGeom>
          <a:solidFill>
            <a:srgbClr val="BAD3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182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Tool:</a:t>
            </a:r>
            <a:br>
              <a:rPr b="1"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</a:br>
            <a:r>
              <a:rPr lang="en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String Builder</a:t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pic>
        <p:nvPicPr>
          <p:cNvPr id="1095" name="Google Shape;1095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2075" y="866950"/>
            <a:ext cx="934826" cy="22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07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1" name="Google Shape;1101;p107"/>
          <p:cNvSpPr txBox="1"/>
          <p:nvPr>
            <p:ph type="title"/>
          </p:nvPr>
        </p:nvSpPr>
        <p:spPr>
          <a:xfrm>
            <a:off x="413300" y="413975"/>
            <a:ext cx="83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3243D"/>
                </a:solidFill>
                <a:latin typeface="Rubik"/>
                <a:ea typeface="Rubik"/>
                <a:cs typeface="Rubik"/>
                <a:sym typeface="Rubik"/>
              </a:rPr>
              <a:t>We love go!</a:t>
            </a:r>
            <a:endParaRPr sz="2400"/>
          </a:p>
        </p:txBody>
      </p:sp>
      <p:sp>
        <p:nvSpPr>
          <p:cNvPr id="1102" name="Google Shape;1102;p107"/>
          <p:cNvSpPr/>
          <p:nvPr/>
        </p:nvSpPr>
        <p:spPr>
          <a:xfrm>
            <a:off x="412748" y="1333501"/>
            <a:ext cx="4069800" cy="3206400"/>
          </a:xfrm>
          <a:prstGeom prst="roundRect">
            <a:avLst>
              <a:gd fmla="val 5740" name="adj"/>
            </a:avLst>
          </a:prstGeom>
          <a:gradFill>
            <a:gsLst>
              <a:gs pos="0">
                <a:srgbClr val="E0F3DC"/>
              </a:gs>
              <a:gs pos="100000">
                <a:srgbClr val="FEFEF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 Medium"/>
              <a:buChar char="●"/>
            </a:pPr>
            <a:r>
              <a:rPr lang="en" sz="1200">
                <a:solidFill>
                  <a:srgbClr val="133C55"/>
                </a:solidFill>
                <a:latin typeface="Open Sans"/>
                <a:ea typeface="Open Sans"/>
                <a:cs typeface="Open Sans"/>
                <a:sym typeface="Open Sans"/>
              </a:rPr>
              <a:t>No duplication: standard practices</a:t>
            </a:r>
            <a:endParaRPr sz="1200">
              <a:solidFill>
                <a:srgbClr val="133C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3" name="Google Shape;1103;p107"/>
          <p:cNvSpPr/>
          <p:nvPr/>
        </p:nvSpPr>
        <p:spPr>
          <a:xfrm>
            <a:off x="4660671" y="1333501"/>
            <a:ext cx="4069800" cy="3206400"/>
          </a:xfrm>
          <a:prstGeom prst="roundRect">
            <a:avLst>
              <a:gd fmla="val 5740" name="adj"/>
            </a:avLst>
          </a:prstGeom>
          <a:gradFill>
            <a:gsLst>
              <a:gs pos="0">
                <a:srgbClr val="DCE9FB"/>
              </a:gs>
              <a:gs pos="100000">
                <a:srgbClr val="FEFEF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4" name="Google Shape;1104;p107"/>
          <p:cNvSpPr txBox="1"/>
          <p:nvPr/>
        </p:nvSpPr>
        <p:spPr>
          <a:xfrm>
            <a:off x="6424575" y="2434004"/>
            <a:ext cx="20319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C2534"/>
                </a:solidFill>
                <a:latin typeface="Open Sans"/>
                <a:ea typeface="Open Sans"/>
                <a:cs typeface="Open Sans"/>
                <a:sym typeface="Open Sans"/>
              </a:rPr>
              <a:t>Generation </a:t>
            </a:r>
            <a:r>
              <a:rPr b="1" lang="en" sz="1200">
                <a:solidFill>
                  <a:srgbClr val="0C2534"/>
                </a:solidFill>
                <a:latin typeface="Open Sans"/>
                <a:ea typeface="Open Sans"/>
                <a:cs typeface="Open Sans"/>
                <a:sym typeface="Open Sans"/>
              </a:rPr>
              <a:t>to go</a:t>
            </a:r>
            <a:r>
              <a:rPr lang="en" sz="1200">
                <a:solidFill>
                  <a:srgbClr val="0C2534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sz="1200">
              <a:solidFill>
                <a:srgbClr val="0C253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51435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API validators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514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2534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0C2534"/>
                </a:solidFill>
                <a:latin typeface="Open Sans"/>
                <a:ea typeface="Open Sans"/>
                <a:cs typeface="Open Sans"/>
                <a:sym typeface="Open Sans"/>
              </a:rPr>
              <a:t>XSD validators</a:t>
            </a:r>
            <a:endParaRPr sz="1200">
              <a:solidFill>
                <a:srgbClr val="0C253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514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2534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0C2534"/>
                </a:solidFill>
                <a:latin typeface="Open Sans"/>
                <a:ea typeface="Open Sans"/>
                <a:cs typeface="Open Sans"/>
                <a:sym typeface="Open Sans"/>
              </a:rPr>
              <a:t>Lisa generation</a:t>
            </a:r>
            <a:endParaRPr sz="1200">
              <a:solidFill>
                <a:srgbClr val="0C25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5" name="Google Shape;1105;p107"/>
          <p:cNvSpPr txBox="1"/>
          <p:nvPr/>
        </p:nvSpPr>
        <p:spPr>
          <a:xfrm>
            <a:off x="660475" y="1566125"/>
            <a:ext cx="3019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534"/>
              </a:buClr>
              <a:buSzPts val="1300"/>
              <a:buFont typeface="Open Sans Medium"/>
              <a:buNone/>
            </a:pPr>
            <a:r>
              <a:rPr b="1" lang="en" sz="1600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Business logic and tooling</a:t>
            </a:r>
            <a:endParaRPr>
              <a:solidFill>
                <a:srgbClr val="0C2534"/>
              </a:solidFill>
            </a:endParaRPr>
          </a:p>
        </p:txBody>
      </p:sp>
      <p:sp>
        <p:nvSpPr>
          <p:cNvPr id="1106" name="Google Shape;1106;p107"/>
          <p:cNvSpPr txBox="1"/>
          <p:nvPr/>
        </p:nvSpPr>
        <p:spPr>
          <a:xfrm>
            <a:off x="660475" y="2459626"/>
            <a:ext cx="340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C2534"/>
              </a:buClr>
              <a:buSzPts val="900"/>
              <a:buFont typeface="Open Sans Medium"/>
              <a:buNone/>
            </a:pPr>
            <a:r>
              <a:rPr lang="en" sz="1200">
                <a:solidFill>
                  <a:srgbClr val="133C55"/>
                </a:solidFill>
                <a:latin typeface="Open Sans"/>
                <a:ea typeface="Open Sans"/>
                <a:cs typeface="Open Sans"/>
                <a:sym typeface="Open Sans"/>
              </a:rPr>
              <a:t>Normal, plain, handwritten go code</a:t>
            </a:r>
            <a:endParaRPr/>
          </a:p>
        </p:txBody>
      </p:sp>
      <p:sp>
        <p:nvSpPr>
          <p:cNvPr id="1107" name="Google Shape;1107;p107"/>
          <p:cNvSpPr txBox="1"/>
          <p:nvPr/>
        </p:nvSpPr>
        <p:spPr>
          <a:xfrm>
            <a:off x="6801685" y="1566125"/>
            <a:ext cx="1654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 fontScale="925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534"/>
              </a:buClr>
              <a:buSzPct val="81250"/>
              <a:buFont typeface="Open Sans Medium"/>
              <a:buNone/>
            </a:pPr>
            <a:r>
              <a:rPr b="1" lang="en" sz="1600">
                <a:solidFill>
                  <a:srgbClr val="0C2534"/>
                </a:solidFill>
                <a:latin typeface="Anybody"/>
                <a:ea typeface="Anybody"/>
                <a:cs typeface="Anybody"/>
                <a:sym typeface="Anybody"/>
              </a:rPr>
              <a:t>Source / Target</a:t>
            </a:r>
            <a:endParaRPr>
              <a:solidFill>
                <a:srgbClr val="0C2534"/>
              </a:solidFill>
            </a:endParaRPr>
          </a:p>
        </p:txBody>
      </p:sp>
      <p:sp>
        <p:nvSpPr>
          <p:cNvPr id="1108" name="Google Shape;1108;p107"/>
          <p:cNvSpPr/>
          <p:nvPr/>
        </p:nvSpPr>
        <p:spPr>
          <a:xfrm>
            <a:off x="336299" y="2106550"/>
            <a:ext cx="1393200" cy="22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 code</a:t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9" name="Google Shape;1109;p107"/>
          <p:cNvSpPr/>
          <p:nvPr/>
        </p:nvSpPr>
        <p:spPr>
          <a:xfrm>
            <a:off x="7537186" y="2106559"/>
            <a:ext cx="1283400" cy="2292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 as target</a:t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0" name="Google Shape;1110;p107"/>
          <p:cNvSpPr txBox="1"/>
          <p:nvPr/>
        </p:nvSpPr>
        <p:spPr>
          <a:xfrm>
            <a:off x="660475" y="3526626"/>
            <a:ext cx="340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 Medium"/>
              <a:buChar char="●"/>
            </a:pPr>
            <a:r>
              <a:rPr lang="en" sz="1200">
                <a:solidFill>
                  <a:srgbClr val="133C55"/>
                </a:solidFill>
                <a:latin typeface="Open Sans"/>
                <a:ea typeface="Open Sans"/>
                <a:cs typeface="Open Sans"/>
                <a:sym typeface="Open Sans"/>
              </a:rPr>
              <a:t>go templates</a:t>
            </a:r>
            <a:endParaRPr sz="1200">
              <a:solidFill>
                <a:srgbClr val="133C5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3C55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133C55"/>
                </a:solidFill>
                <a:latin typeface="Open Sans"/>
                <a:ea typeface="Open Sans"/>
                <a:cs typeface="Open Sans"/>
                <a:sym typeface="Open Sans"/>
              </a:rPr>
              <a:t>go parser</a:t>
            </a:r>
            <a:endParaRPr sz="1200">
              <a:solidFill>
                <a:srgbClr val="133C5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 Medium"/>
              <a:buChar char="●"/>
            </a:pPr>
            <a:r>
              <a:rPr lang="en" sz="1200">
                <a:solidFill>
                  <a:srgbClr val="133C55"/>
                </a:solidFill>
                <a:latin typeface="Open Sans"/>
                <a:ea typeface="Open Sans"/>
                <a:cs typeface="Open Sans"/>
                <a:sym typeface="Open Sans"/>
              </a:rPr>
              <a:t>AST manipulation</a:t>
            </a:r>
            <a:endParaRPr sz="1200">
              <a:solidFill>
                <a:srgbClr val="133C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1" name="Google Shape;1111;p107"/>
          <p:cNvSpPr/>
          <p:nvPr/>
        </p:nvSpPr>
        <p:spPr>
          <a:xfrm>
            <a:off x="336299" y="3173550"/>
            <a:ext cx="1393200" cy="22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 tools</a:t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2" name="Google Shape;1112;p107"/>
          <p:cNvSpPr/>
          <p:nvPr/>
        </p:nvSpPr>
        <p:spPr>
          <a:xfrm>
            <a:off x="7537186" y="3617689"/>
            <a:ext cx="1283400" cy="2292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 as SSOT</a:t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3" name="Google Shape;1113;p107"/>
          <p:cNvSpPr txBox="1"/>
          <p:nvPr/>
        </p:nvSpPr>
        <p:spPr>
          <a:xfrm>
            <a:off x="6424575" y="3928400"/>
            <a:ext cx="22482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C2534"/>
                </a:solidFill>
                <a:latin typeface="Open Sans"/>
                <a:ea typeface="Open Sans"/>
                <a:cs typeface="Open Sans"/>
                <a:sym typeface="Open Sans"/>
              </a:rPr>
              <a:t>Generation </a:t>
            </a:r>
            <a:r>
              <a:rPr b="1" lang="en" sz="1200">
                <a:solidFill>
                  <a:srgbClr val="0C2534"/>
                </a:solidFill>
                <a:latin typeface="Open Sans"/>
                <a:ea typeface="Open Sans"/>
                <a:cs typeface="Open Sans"/>
                <a:sym typeface="Open Sans"/>
              </a:rPr>
              <a:t>from go:</a:t>
            </a:r>
            <a:endParaRPr b="1" sz="1200">
              <a:solidFill>
                <a:srgbClr val="0C253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51435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Lisa UI generation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514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2534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0C2534"/>
                </a:solidFill>
                <a:latin typeface="Open Sans"/>
                <a:ea typeface="Open Sans"/>
                <a:cs typeface="Open Sans"/>
                <a:sym typeface="Open Sans"/>
              </a:rPr>
              <a:t>HTML generation</a:t>
            </a:r>
            <a:endParaRPr sz="1200">
              <a:solidFill>
                <a:srgbClr val="0C25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108"/>
          <p:cNvSpPr txBox="1"/>
          <p:nvPr>
            <p:ph type="title"/>
          </p:nvPr>
        </p:nvSpPr>
        <p:spPr>
          <a:xfrm>
            <a:off x="413300" y="413975"/>
            <a:ext cx="6222000" cy="461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graphicFrame>
        <p:nvGraphicFramePr>
          <p:cNvPr id="1119" name="Google Shape;1119;p108"/>
          <p:cNvGraphicFramePr/>
          <p:nvPr/>
        </p:nvGraphicFramePr>
        <p:xfrm>
          <a:off x="388700" y="131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{4DE40E71-FC8C-44BB-AB10-640B23D4AB3A}</a:tableStyleId>
              </a:tblPr>
              <a:tblGrid>
                <a:gridCol w="2689875"/>
                <a:gridCol w="2689875"/>
                <a:gridCol w="2689875"/>
              </a:tblGrid>
              <a:tr h="54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Source (SSOT)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E3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Tool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E3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Target (Artifact)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E3B6"/>
                    </a:solidFill>
                  </a:tcPr>
                </a:tc>
              </a:tr>
              <a:tr h="54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Database / Go Structs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Go Templates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Web pages</a:t>
                      </a:r>
                      <a:r>
                        <a:rPr lang="en" sz="1100"/>
                        <a:t> (HTMX)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API</a:t>
                      </a:r>
                      <a:r>
                        <a:rPr b="1" lang="en" sz="1100"/>
                        <a:t> Descriptors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Go Templates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Astutils package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OpenAPI library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Go Models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Go Validators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OpenAPI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Lisa Editor -&gt; Lisa Code</a:t>
                      </a:r>
                      <a:endParaRPr b="1"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String Builder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Go Tax Engine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Lisa Code -&gt; Lisa Editor</a:t>
                      </a:r>
                      <a:endParaRPr b="1"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Go AST Parser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Visual Editor JSON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XSD Files</a:t>
                      </a:r>
                      <a:endParaRPr b="1"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Go Templates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Go Models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Go Validators</a:t>
                      </a:r>
                      <a:endParaRPr sz="1100"/>
                    </a:p>
                  </a:txBody>
                  <a:tcPr marT="63500" marB="635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09"/>
          <p:cNvSpPr txBox="1"/>
          <p:nvPr>
            <p:ph idx="4294967295" type="body"/>
          </p:nvPr>
        </p:nvSpPr>
        <p:spPr>
          <a:xfrm>
            <a:off x="461075" y="1559350"/>
            <a:ext cx="8318400" cy="2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Drift</a:t>
            </a:r>
            <a:r>
              <a:rPr lang="en" sz="1500"/>
              <a:t> is inevitable when you expect humans to synchronize artifacts.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Humans time is too precious!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Code generation</a:t>
            </a:r>
            <a:r>
              <a:rPr lang="en" sz="1500"/>
              <a:t> is not about removing repetition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It’s about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embracing repetition</a:t>
            </a:r>
            <a:r>
              <a:rPr lang="en" sz="1500"/>
              <a:t> and </a:t>
            </a:r>
            <a:r>
              <a:rPr b="1" lang="en" sz="1500">
                <a:latin typeface="Open Sans"/>
                <a:ea typeface="Open Sans"/>
                <a:cs typeface="Open Sans"/>
                <a:sym typeface="Open Sans"/>
              </a:rPr>
              <a:t>automating</a:t>
            </a:r>
            <a:r>
              <a:rPr lang="en" sz="1500"/>
              <a:t> synchronization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Stable and deterministic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Go fits naturally in this role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Strong types catch drift early: errors move to compile time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Generated code stays plain, debuggable Go</a:t>
            </a:r>
            <a:endParaRPr sz="1500"/>
          </a:p>
        </p:txBody>
      </p:sp>
      <p:sp>
        <p:nvSpPr>
          <p:cNvPr id="1125" name="Google Shape;1125;p109"/>
          <p:cNvSpPr txBox="1"/>
          <p:nvPr>
            <p:ph type="title"/>
          </p:nvPr>
        </p:nvSpPr>
        <p:spPr>
          <a:xfrm>
            <a:off x="413300" y="413975"/>
            <a:ext cx="62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26" name="Google Shape;1126;p109"/>
          <p:cNvSpPr txBox="1"/>
          <p:nvPr>
            <p:ph idx="4294967295" type="subTitle"/>
          </p:nvPr>
        </p:nvSpPr>
        <p:spPr>
          <a:xfrm>
            <a:off x="413300" y="866950"/>
            <a:ext cx="718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300">
                <a:solidFill>
                  <a:srgbClr val="0C2534"/>
                </a:solidFill>
              </a:rPr>
              <a:t>Preventing Drift by design</a:t>
            </a:r>
            <a:endParaRPr sz="17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10"/>
          <p:cNvSpPr txBox="1"/>
          <p:nvPr>
            <p:ph type="title"/>
          </p:nvPr>
        </p:nvSpPr>
        <p:spPr>
          <a:xfrm>
            <a:off x="413300" y="413975"/>
            <a:ext cx="622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Thank you!</a:t>
            </a:r>
            <a:endParaRPr sz="3200"/>
          </a:p>
        </p:txBody>
      </p:sp>
      <p:sp>
        <p:nvSpPr>
          <p:cNvPr id="1132" name="Google Shape;1132;p110"/>
          <p:cNvSpPr txBox="1"/>
          <p:nvPr>
            <p:ph idx="12" type="sldNum"/>
          </p:nvPr>
        </p:nvSpPr>
        <p:spPr>
          <a:xfrm>
            <a:off x="413308" y="4729517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3" name="Google Shape;1133;p110"/>
          <p:cNvSpPr txBox="1"/>
          <p:nvPr/>
        </p:nvSpPr>
        <p:spPr>
          <a:xfrm>
            <a:off x="5073050" y="623325"/>
            <a:ext cx="1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C2534"/>
              </a:solidFill>
              <a:latin typeface="Anybody"/>
              <a:ea typeface="Anybody"/>
              <a:cs typeface="Anybody"/>
              <a:sym typeface="Anybody"/>
            </a:endParaRPr>
          </a:p>
        </p:txBody>
      </p:sp>
      <p:grpSp>
        <p:nvGrpSpPr>
          <p:cNvPr id="1134" name="Google Shape;1134;p110"/>
          <p:cNvGrpSpPr/>
          <p:nvPr/>
        </p:nvGrpSpPr>
        <p:grpSpPr>
          <a:xfrm>
            <a:off x="3937929" y="26176"/>
            <a:ext cx="6420801" cy="6420801"/>
            <a:chOff x="1342503" y="1568066"/>
            <a:chExt cx="6352825" cy="6352826"/>
          </a:xfrm>
        </p:grpSpPr>
        <p:grpSp>
          <p:nvGrpSpPr>
            <p:cNvPr id="1135" name="Google Shape;1135;p110"/>
            <p:cNvGrpSpPr/>
            <p:nvPr/>
          </p:nvGrpSpPr>
          <p:grpSpPr>
            <a:xfrm>
              <a:off x="1342503" y="1568066"/>
              <a:ext cx="6352825" cy="6352826"/>
              <a:chOff x="317123" y="1019125"/>
              <a:chExt cx="3454500" cy="3454500"/>
            </a:xfrm>
          </p:grpSpPr>
          <p:sp>
            <p:nvSpPr>
              <p:cNvPr id="1136" name="Google Shape;1136;p110"/>
              <p:cNvSpPr/>
              <p:nvPr/>
            </p:nvSpPr>
            <p:spPr>
              <a:xfrm>
                <a:off x="317123" y="1019125"/>
                <a:ext cx="3454500" cy="3454500"/>
              </a:xfrm>
              <a:prstGeom prst="ellipse">
                <a:avLst/>
              </a:prstGeom>
              <a:solidFill>
                <a:srgbClr val="55E691">
                  <a:alpha val="9800"/>
                </a:srgb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110"/>
              <p:cNvSpPr/>
              <p:nvPr/>
            </p:nvSpPr>
            <p:spPr>
              <a:xfrm>
                <a:off x="738015" y="1428987"/>
                <a:ext cx="2634600" cy="2634600"/>
              </a:xfrm>
              <a:prstGeom prst="ellipse">
                <a:avLst/>
              </a:prstGeom>
              <a:solidFill>
                <a:srgbClr val="55E691">
                  <a:alpha val="9800"/>
                </a:srgb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110"/>
              <p:cNvSpPr/>
              <p:nvPr/>
            </p:nvSpPr>
            <p:spPr>
              <a:xfrm>
                <a:off x="1057105" y="1759157"/>
                <a:ext cx="1974300" cy="1974300"/>
              </a:xfrm>
              <a:prstGeom prst="ellipse">
                <a:avLst/>
              </a:prstGeom>
              <a:solidFill>
                <a:srgbClr val="55E691">
                  <a:alpha val="9800"/>
                </a:srgb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/>
              </a:p>
            </p:txBody>
          </p:sp>
        </p:grpSp>
        <p:sp>
          <p:nvSpPr>
            <p:cNvPr id="1139" name="Google Shape;1139;p110"/>
            <p:cNvSpPr/>
            <p:nvPr/>
          </p:nvSpPr>
          <p:spPr>
            <a:xfrm>
              <a:off x="3280500" y="3506075"/>
              <a:ext cx="2476800" cy="2477100"/>
            </a:xfrm>
            <a:prstGeom prst="ellipse">
              <a:avLst/>
            </a:prstGeom>
            <a:solidFill>
              <a:srgbClr val="55E691">
                <a:alpha val="9800"/>
              </a:srgb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/>
            </a:p>
          </p:txBody>
        </p:sp>
      </p:grpSp>
      <p:sp>
        <p:nvSpPr>
          <p:cNvPr id="1140" name="Google Shape;1140;p110"/>
          <p:cNvSpPr/>
          <p:nvPr/>
        </p:nvSpPr>
        <p:spPr>
          <a:xfrm>
            <a:off x="5025375" y="271392"/>
            <a:ext cx="635100" cy="635100"/>
          </a:xfrm>
          <a:prstGeom prst="ellipse">
            <a:avLst/>
          </a:prstGeom>
          <a:solidFill>
            <a:srgbClr val="55D287"/>
          </a:solidFill>
          <a:ln>
            <a:noFill/>
          </a:ln>
          <a:effectLst>
            <a:outerShdw blurRad="2000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41" name="Google Shape;1141;p110"/>
          <p:cNvSpPr/>
          <p:nvPr/>
        </p:nvSpPr>
        <p:spPr>
          <a:xfrm>
            <a:off x="7506125" y="613600"/>
            <a:ext cx="635100" cy="635100"/>
          </a:xfrm>
          <a:prstGeom prst="ellipse">
            <a:avLst/>
          </a:prstGeom>
          <a:solidFill>
            <a:srgbClr val="55D287"/>
          </a:solidFill>
          <a:ln>
            <a:noFill/>
          </a:ln>
          <a:effectLst>
            <a:outerShdw blurRad="2000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42" name="Google Shape;1142;p110"/>
          <p:cNvSpPr/>
          <p:nvPr/>
        </p:nvSpPr>
        <p:spPr>
          <a:xfrm>
            <a:off x="8529275" y="2180225"/>
            <a:ext cx="425700" cy="425700"/>
          </a:xfrm>
          <a:prstGeom prst="ellipse">
            <a:avLst/>
          </a:prstGeom>
          <a:solidFill>
            <a:srgbClr val="55D287"/>
          </a:solidFill>
          <a:ln>
            <a:noFill/>
          </a:ln>
          <a:effectLst>
            <a:outerShdw blurRad="2000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?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143" name="Google Shape;1143;p110"/>
          <p:cNvSpPr/>
          <p:nvPr/>
        </p:nvSpPr>
        <p:spPr>
          <a:xfrm>
            <a:off x="5252414" y="2332625"/>
            <a:ext cx="425700" cy="425700"/>
          </a:xfrm>
          <a:prstGeom prst="ellipse">
            <a:avLst/>
          </a:prstGeom>
          <a:solidFill>
            <a:srgbClr val="55D287"/>
          </a:solidFill>
          <a:ln>
            <a:noFill/>
          </a:ln>
          <a:effectLst>
            <a:outerShdw blurRad="2000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?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144" name="Google Shape;1144;p110"/>
          <p:cNvSpPr txBox="1"/>
          <p:nvPr/>
        </p:nvSpPr>
        <p:spPr>
          <a:xfrm>
            <a:off x="6179925" y="2828725"/>
            <a:ext cx="1936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Q&amp;A</a:t>
            </a:r>
            <a:endParaRPr b="1" sz="31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noa 2025 Master">
  <a:themeElements>
    <a:clrScheme name="Simple Light">
      <a:dk1>
        <a:srgbClr val="0C2534"/>
      </a:dk1>
      <a:lt1>
        <a:srgbClr val="FFFFFF"/>
      </a:lt1>
      <a:dk2>
        <a:srgbClr val="A3B4C1"/>
      </a:dk2>
      <a:lt2>
        <a:srgbClr val="EDF2FA"/>
      </a:lt2>
      <a:accent1>
        <a:srgbClr val="4D9169"/>
      </a:accent1>
      <a:accent2>
        <a:srgbClr val="ADF99C"/>
      </a:accent2>
      <a:accent3>
        <a:srgbClr val="BFE8FE"/>
      </a:accent3>
      <a:accent4>
        <a:srgbClr val="5A95ED"/>
      </a:accent4>
      <a:accent5>
        <a:srgbClr val="8A4FFF"/>
      </a:accent5>
      <a:accent6>
        <a:srgbClr val="D14643"/>
      </a:accent6>
      <a:hlink>
        <a:srgbClr val="4983A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